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85" r:id="rId1"/>
  </p:sldMasterIdLst>
  <p:notesMasterIdLst>
    <p:notesMasterId r:id="rId28"/>
  </p:notesMasterIdLst>
  <p:handoutMasterIdLst>
    <p:handoutMasterId r:id="rId29"/>
  </p:handoutMasterIdLst>
  <p:sldIdLst>
    <p:sldId id="388" r:id="rId2"/>
    <p:sldId id="11758" r:id="rId3"/>
    <p:sldId id="11759" r:id="rId4"/>
    <p:sldId id="11370" r:id="rId5"/>
    <p:sldId id="11797" r:id="rId6"/>
    <p:sldId id="11778" r:id="rId7"/>
    <p:sldId id="11779" r:id="rId8"/>
    <p:sldId id="11780" r:id="rId9"/>
    <p:sldId id="11781" r:id="rId10"/>
    <p:sldId id="11782" r:id="rId11"/>
    <p:sldId id="11783" r:id="rId12"/>
    <p:sldId id="11784" r:id="rId13"/>
    <p:sldId id="11785" r:id="rId14"/>
    <p:sldId id="11786" r:id="rId15"/>
    <p:sldId id="11787" r:id="rId16"/>
    <p:sldId id="11788" r:id="rId17"/>
    <p:sldId id="11798" r:id="rId18"/>
    <p:sldId id="11789" r:id="rId19"/>
    <p:sldId id="11790" r:id="rId20"/>
    <p:sldId id="11791" r:id="rId21"/>
    <p:sldId id="11792" r:id="rId22"/>
    <p:sldId id="11793" r:id="rId23"/>
    <p:sldId id="11794" r:id="rId24"/>
    <p:sldId id="11795" r:id="rId25"/>
    <p:sldId id="11796" r:id="rId26"/>
    <p:sldId id="11724" r:id="rId27"/>
  </p:sldIdLst>
  <p:sldSz cx="12192000" cy="6858000"/>
  <p:notesSz cx="7102475" cy="102330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3" userDrawn="1">
          <p15:clr>
            <a:srgbClr val="A4A3A4"/>
          </p15:clr>
        </p15:guide>
        <p15:guide id="2" pos="223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FF"/>
    <a:srgbClr val="FF0066"/>
    <a:srgbClr val="FFFFCC"/>
    <a:srgbClr val="FFFF99"/>
    <a:srgbClr val="CC99FF"/>
    <a:srgbClr val="CCE8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40" autoAdjust="0"/>
    <p:restoredTop sz="91709" autoAdjust="0"/>
  </p:normalViewPr>
  <p:slideViewPr>
    <p:cSldViewPr>
      <p:cViewPr varScale="1">
        <p:scale>
          <a:sx n="114" d="100"/>
          <a:sy n="114" d="100"/>
        </p:scale>
        <p:origin x="354" y="114"/>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8184"/>
    </p:cViewPr>
  </p:sorterViewPr>
  <p:notesViewPr>
    <p:cSldViewPr>
      <p:cViewPr varScale="1">
        <p:scale>
          <a:sx n="62" d="100"/>
          <a:sy n="62" d="100"/>
        </p:scale>
        <p:origin x="-3366" y="-90"/>
      </p:cViewPr>
      <p:guideLst>
        <p:guide orient="horz" pos="3223"/>
        <p:guide pos="2237"/>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7739" cy="511651"/>
          </a:xfrm>
          <a:prstGeom prst="rect">
            <a:avLst/>
          </a:prstGeom>
        </p:spPr>
        <p:txBody>
          <a:bodyPr vert="horz" lIns="99057" tIns="49528" rIns="99057" bIns="49528" rtlCol="0"/>
          <a:lstStyle>
            <a:lvl1pPr algn="l">
              <a:defRPr sz="1300"/>
            </a:lvl1pPr>
          </a:lstStyle>
          <a:p>
            <a:endParaRPr lang="zh-CN" altLang="en-US"/>
          </a:p>
        </p:txBody>
      </p:sp>
      <p:sp>
        <p:nvSpPr>
          <p:cNvPr id="3" name="日期占位符 2"/>
          <p:cNvSpPr>
            <a:spLocks noGrp="1"/>
          </p:cNvSpPr>
          <p:nvPr>
            <p:ph type="dt" sz="quarter" idx="1"/>
          </p:nvPr>
        </p:nvSpPr>
        <p:spPr>
          <a:xfrm>
            <a:off x="4023092" y="0"/>
            <a:ext cx="3077739" cy="511651"/>
          </a:xfrm>
          <a:prstGeom prst="rect">
            <a:avLst/>
          </a:prstGeom>
        </p:spPr>
        <p:txBody>
          <a:bodyPr vert="horz" lIns="99057" tIns="49528" rIns="99057" bIns="49528" rtlCol="0"/>
          <a:lstStyle>
            <a:lvl1pPr algn="r">
              <a:defRPr sz="1300"/>
            </a:lvl1pPr>
          </a:lstStyle>
          <a:p>
            <a:fld id="{3789A2B4-BEEA-4110-9DFB-A4011FBAC7AF}" type="datetimeFigureOut">
              <a:rPr lang="zh-CN" altLang="en-US" smtClean="0"/>
              <a:pPr/>
              <a:t>2026/5/8</a:t>
            </a:fld>
            <a:endParaRPr lang="zh-CN" altLang="en-US"/>
          </a:p>
        </p:txBody>
      </p:sp>
      <p:sp>
        <p:nvSpPr>
          <p:cNvPr id="4" name="页脚占位符 3"/>
          <p:cNvSpPr>
            <a:spLocks noGrp="1"/>
          </p:cNvSpPr>
          <p:nvPr>
            <p:ph type="ftr" sz="quarter" idx="2"/>
          </p:nvPr>
        </p:nvSpPr>
        <p:spPr>
          <a:xfrm>
            <a:off x="0" y="9719598"/>
            <a:ext cx="3077739" cy="511651"/>
          </a:xfrm>
          <a:prstGeom prst="rect">
            <a:avLst/>
          </a:prstGeom>
        </p:spPr>
        <p:txBody>
          <a:bodyPr vert="horz" lIns="99057" tIns="49528" rIns="99057" bIns="49528"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3092" y="9719598"/>
            <a:ext cx="3077739" cy="511651"/>
          </a:xfrm>
          <a:prstGeom prst="rect">
            <a:avLst/>
          </a:prstGeom>
        </p:spPr>
        <p:txBody>
          <a:bodyPr vert="horz" lIns="99057" tIns="49528" rIns="99057" bIns="49528" rtlCol="0" anchor="b"/>
          <a:lstStyle>
            <a:lvl1pPr algn="r">
              <a:defRPr sz="1300"/>
            </a:lvl1pPr>
          </a:lstStyle>
          <a:p>
            <a:fld id="{F7B97601-86F4-450B-A3E4-0013FCB14E4B}" type="slidenum">
              <a:rPr lang="zh-CN" altLang="en-US" smtClean="0"/>
              <a:pPr/>
              <a:t>‹#›</a:t>
            </a:fld>
            <a:endParaRPr lang="zh-CN" altLang="en-US"/>
          </a:p>
        </p:txBody>
      </p:sp>
    </p:spTree>
    <p:extLst>
      <p:ext uri="{BB962C8B-B14F-4D97-AF65-F5344CB8AC3E}">
        <p14:creationId xmlns:p14="http://schemas.microsoft.com/office/powerpoint/2010/main" val="11531793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7739" cy="511651"/>
          </a:xfrm>
          <a:prstGeom prst="rect">
            <a:avLst/>
          </a:prstGeom>
        </p:spPr>
        <p:txBody>
          <a:bodyPr vert="horz" lIns="99057" tIns="49528" rIns="99057" bIns="49528" rtlCol="0"/>
          <a:lstStyle>
            <a:lvl1pPr algn="l">
              <a:defRPr sz="1300"/>
            </a:lvl1pPr>
          </a:lstStyle>
          <a:p>
            <a:endParaRPr lang="zh-CN" altLang="en-US"/>
          </a:p>
        </p:txBody>
      </p:sp>
      <p:sp>
        <p:nvSpPr>
          <p:cNvPr id="3" name="日期占位符 2"/>
          <p:cNvSpPr>
            <a:spLocks noGrp="1"/>
          </p:cNvSpPr>
          <p:nvPr>
            <p:ph type="dt" idx="1"/>
          </p:nvPr>
        </p:nvSpPr>
        <p:spPr>
          <a:xfrm>
            <a:off x="4023092" y="0"/>
            <a:ext cx="3077739" cy="511651"/>
          </a:xfrm>
          <a:prstGeom prst="rect">
            <a:avLst/>
          </a:prstGeom>
        </p:spPr>
        <p:txBody>
          <a:bodyPr vert="horz" lIns="99057" tIns="49528" rIns="99057" bIns="49528" rtlCol="0"/>
          <a:lstStyle>
            <a:lvl1pPr algn="r">
              <a:defRPr sz="1300"/>
            </a:lvl1pPr>
          </a:lstStyle>
          <a:p>
            <a:fld id="{176CB825-2864-4D97-AD1F-966C1CBE1DBD}" type="datetimeFigureOut">
              <a:rPr lang="zh-CN" altLang="en-US" smtClean="0"/>
              <a:pPr/>
              <a:t>2026/5/8</a:t>
            </a:fld>
            <a:endParaRPr lang="zh-CN" altLang="en-US"/>
          </a:p>
        </p:txBody>
      </p:sp>
      <p:sp>
        <p:nvSpPr>
          <p:cNvPr id="4" name="幻灯片图像占位符 3"/>
          <p:cNvSpPr>
            <a:spLocks noGrp="1" noRot="1" noChangeAspect="1"/>
          </p:cNvSpPr>
          <p:nvPr>
            <p:ph type="sldImg" idx="2"/>
          </p:nvPr>
        </p:nvSpPr>
        <p:spPr>
          <a:xfrm>
            <a:off x="139700" y="766763"/>
            <a:ext cx="6823075" cy="3838575"/>
          </a:xfrm>
          <a:prstGeom prst="rect">
            <a:avLst/>
          </a:prstGeom>
          <a:noFill/>
          <a:ln w="12700">
            <a:solidFill>
              <a:prstClr val="black"/>
            </a:solidFill>
          </a:ln>
        </p:spPr>
        <p:txBody>
          <a:bodyPr vert="horz" lIns="99057" tIns="49528" rIns="99057" bIns="49528" rtlCol="0" anchor="ctr"/>
          <a:lstStyle/>
          <a:p>
            <a:endParaRPr lang="zh-CN" altLang="en-US"/>
          </a:p>
        </p:txBody>
      </p:sp>
      <p:sp>
        <p:nvSpPr>
          <p:cNvPr id="5" name="备注占位符 4"/>
          <p:cNvSpPr>
            <a:spLocks noGrp="1"/>
          </p:cNvSpPr>
          <p:nvPr>
            <p:ph type="body" sz="quarter" idx="3"/>
          </p:nvPr>
        </p:nvSpPr>
        <p:spPr>
          <a:xfrm>
            <a:off x="710248" y="4860687"/>
            <a:ext cx="5681980" cy="4604861"/>
          </a:xfrm>
          <a:prstGeom prst="rect">
            <a:avLst/>
          </a:prstGeom>
        </p:spPr>
        <p:txBody>
          <a:bodyPr vert="horz" lIns="99057" tIns="49528" rIns="99057" bIns="4952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19598"/>
            <a:ext cx="3077739" cy="511651"/>
          </a:xfrm>
          <a:prstGeom prst="rect">
            <a:avLst/>
          </a:prstGeom>
        </p:spPr>
        <p:txBody>
          <a:bodyPr vert="horz" lIns="99057" tIns="49528" rIns="99057" bIns="49528"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3092" y="9719598"/>
            <a:ext cx="3077739" cy="511651"/>
          </a:xfrm>
          <a:prstGeom prst="rect">
            <a:avLst/>
          </a:prstGeom>
        </p:spPr>
        <p:txBody>
          <a:bodyPr vert="horz" lIns="99057" tIns="49528" rIns="99057" bIns="49528" rtlCol="0" anchor="b"/>
          <a:lstStyle>
            <a:lvl1pPr algn="r">
              <a:defRPr sz="1300"/>
            </a:lvl1pPr>
          </a:lstStyle>
          <a:p>
            <a:fld id="{BACCC7A7-8263-4974-BD72-E9CBE288D8D1}" type="slidenum">
              <a:rPr lang="zh-CN" altLang="en-US" smtClean="0"/>
              <a:pPr/>
              <a:t>‹#›</a:t>
            </a:fld>
            <a:endParaRPr lang="zh-CN" altLang="en-US"/>
          </a:p>
        </p:txBody>
      </p:sp>
    </p:spTree>
    <p:extLst>
      <p:ext uri="{BB962C8B-B14F-4D97-AF65-F5344CB8AC3E}">
        <p14:creationId xmlns:p14="http://schemas.microsoft.com/office/powerpoint/2010/main" val="1385388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6763"/>
            <a:ext cx="6823075" cy="3838575"/>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55F6F5AF-3ABF-48A0-9C84-1CC6A0C4EF42}"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57365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lnSpc>
                <a:spcPct val="115000"/>
              </a:lnSpc>
              <a:spcBef>
                <a:spcPts val="600"/>
              </a:spcBef>
              <a:spcAft>
                <a:spcPts val="0"/>
              </a:spcAft>
            </a:pP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C485046-7D87-4E7F-A325-275C8EC8B08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05396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E7F3DE0-A084-4C70-AFF5-D6668E32BB05}" type="datetimeFigureOut">
              <a:rPr lang="zh-CN" altLang="en-US" smtClean="0"/>
              <a:pPr/>
              <a:t>2026/5/8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A998C4A-4E66-44D5-82D4-A59560566C02}"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31" name="图片 30" descr="水印.jpg"/>
          <p:cNvPicPr>
            <a:picLocks noChangeAspect="1"/>
          </p:cNvPicPr>
          <p:nvPr userDrawn="1"/>
        </p:nvPicPr>
        <p:blipFill>
          <a:blip r:embed="rId2" cstate="print"/>
          <a:stretch>
            <a:fillRect/>
          </a:stretch>
        </p:blipFill>
        <p:spPr>
          <a:xfrm>
            <a:off x="0" y="4786322"/>
            <a:ext cx="12192000" cy="2087176"/>
          </a:xfrm>
          <a:prstGeom prst="rect">
            <a:avLst/>
          </a:prstGeom>
        </p:spPr>
      </p:pic>
      <p:sp>
        <p:nvSpPr>
          <p:cNvPr id="6" name="灯片编号占位符 5"/>
          <p:cNvSpPr>
            <a:spLocks noGrp="1"/>
          </p:cNvSpPr>
          <p:nvPr>
            <p:ph type="sldNum" sz="quarter" idx="12"/>
          </p:nvPr>
        </p:nvSpPr>
        <p:spPr>
          <a:xfrm>
            <a:off x="9239315" y="6303971"/>
            <a:ext cx="2844800" cy="365125"/>
          </a:xfrm>
        </p:spPr>
        <p:txBody>
          <a:bodyPr/>
          <a:lstStyle>
            <a:lvl1pPr algn="r">
              <a:defRPr/>
            </a:lvl1pPr>
          </a:lstStyle>
          <a:p>
            <a:fld id="{CA998C4A-4E66-44D5-82D4-A59560566C02}" type="slidenum">
              <a:rPr lang="zh-CN" altLang="en-US" smtClean="0"/>
              <a:pPr/>
              <a:t>‹#›</a:t>
            </a:fld>
            <a:endParaRPr lang="zh-CN" altLang="en-US" dirty="0"/>
          </a:p>
        </p:txBody>
      </p:sp>
      <p:sp>
        <p:nvSpPr>
          <p:cNvPr id="41986" name="AutoShape 2" descr="http://img4.imgtn.bdimg.com/it/u=3550827752,935928192&amp;fm=21&amp;gp=0.jpg"/>
          <p:cNvSpPr>
            <a:spLocks noChangeAspect="1" noChangeArrowheads="1"/>
          </p:cNvSpPr>
          <p:nvPr userDrawn="1"/>
        </p:nvSpPr>
        <p:spPr bwMode="auto">
          <a:xfrm>
            <a:off x="207433"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sz="18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E7F3DE0-A084-4C70-AFF5-D6668E32BB05}" type="datetimeFigureOut">
              <a:rPr lang="zh-CN" altLang="en-US" smtClean="0"/>
              <a:pPr/>
              <a:t>2026/5/8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A998C4A-4E66-44D5-82D4-A59560566C02}"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E7F3DE0-A084-4C70-AFF5-D6668E32BB05}" type="datetimeFigureOut">
              <a:rPr lang="zh-CN" altLang="en-US" smtClean="0"/>
              <a:pPr/>
              <a:t>2026/5/8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A998C4A-4E66-44D5-82D4-A59560566C02}"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E7F3DE0-A084-4C70-AFF5-D6668E32BB05}" type="datetimeFigureOut">
              <a:rPr lang="zh-CN" altLang="en-US" smtClean="0"/>
              <a:pPr/>
              <a:t>2026/5/8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A998C4A-4E66-44D5-82D4-A59560566C02}"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E7F3DE0-A084-4C70-AFF5-D6668E32BB05}" type="datetimeFigureOut">
              <a:rPr lang="zh-CN" altLang="en-US" smtClean="0"/>
              <a:pPr/>
              <a:t>2026/5/8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A998C4A-4E66-44D5-82D4-A59560566C02}"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E7F3DE0-A084-4C70-AFF5-D6668E32BB05}" type="datetimeFigureOut">
              <a:rPr lang="zh-CN" altLang="en-US" smtClean="0"/>
              <a:pPr/>
              <a:t>2026/5/8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A998C4A-4E66-44D5-82D4-A59560566C02}"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E7F3DE0-A084-4C70-AFF5-D6668E32BB05}" type="datetimeFigureOut">
              <a:rPr lang="zh-CN" altLang="en-US" smtClean="0"/>
              <a:pPr/>
              <a:t>2026/5/8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A998C4A-4E66-44D5-82D4-A59560566C02}"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E7F3DE0-A084-4C70-AFF5-D6668E32BB05}" type="datetimeFigureOut">
              <a:rPr lang="zh-CN" altLang="en-US" smtClean="0"/>
              <a:pPr/>
              <a:t>2026/5/8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A998C4A-4E66-44D5-82D4-A59560566C02}"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E7F3DE0-A084-4C70-AFF5-D6668E32BB05}" type="datetimeFigureOut">
              <a:rPr lang="zh-CN" altLang="en-US" smtClean="0"/>
              <a:pPr/>
              <a:t>2026/5/8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A998C4A-4E66-44D5-82D4-A59560566C02}"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E7F3DE0-A084-4C70-AFF5-D6668E32BB05}" type="datetimeFigureOut">
              <a:rPr lang="zh-CN" altLang="en-US" smtClean="0"/>
              <a:pPr/>
              <a:t>2026/5/8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A998C4A-4E66-44D5-82D4-A59560566C02}"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pic>
        <p:nvPicPr>
          <p:cNvPr id="31" name="图片 30" descr="水印.jpg"/>
          <p:cNvPicPr>
            <a:picLocks noChangeAspect="1"/>
          </p:cNvPicPr>
          <p:nvPr userDrawn="1"/>
        </p:nvPicPr>
        <p:blipFill>
          <a:blip r:embed="rId2"/>
          <a:stretch>
            <a:fillRect/>
          </a:stretch>
        </p:blipFill>
        <p:spPr>
          <a:xfrm>
            <a:off x="0" y="4786322"/>
            <a:ext cx="12192000" cy="2087176"/>
          </a:xfrm>
          <a:prstGeom prst="rect">
            <a:avLst/>
          </a:prstGeom>
        </p:spPr>
      </p:pic>
      <p:sp>
        <p:nvSpPr>
          <p:cNvPr id="6" name="灯片编号占位符 5"/>
          <p:cNvSpPr>
            <a:spLocks noGrp="1"/>
          </p:cNvSpPr>
          <p:nvPr>
            <p:ph type="sldNum" sz="quarter" idx="12"/>
          </p:nvPr>
        </p:nvSpPr>
        <p:spPr>
          <a:xfrm>
            <a:off x="8435776" y="6021289"/>
            <a:ext cx="2844800" cy="365125"/>
          </a:xfrm>
        </p:spPr>
        <p:txBody>
          <a:bodyPr/>
          <a:lstStyle>
            <a:lvl1pPr algn="r">
              <a:defRPr sz="1600">
                <a:solidFill>
                  <a:schemeClr val="tx1">
                    <a:lumMod val="50000"/>
                    <a:lumOff val="50000"/>
                  </a:schemeClr>
                </a:solidFill>
              </a:defRPr>
            </a:lvl1pPr>
          </a:lstStyle>
          <a:p>
            <a:fld id="{CA998C4A-4E66-44D5-82D4-A59560566C02}" type="slidenum">
              <a:rPr lang="zh-CN" altLang="en-US" smtClean="0"/>
              <a:pPr/>
              <a:t>‹#›</a:t>
            </a:fld>
            <a:endParaRPr lang="zh-CN" altLang="en-US" dirty="0"/>
          </a:p>
        </p:txBody>
      </p:sp>
      <p:sp>
        <p:nvSpPr>
          <p:cNvPr id="41986" name="AutoShape 2" descr="http://img4.imgtn.bdimg.com/it/u=3550827752,935928192&amp;fm=21&amp;gp=0.jpg"/>
          <p:cNvSpPr>
            <a:spLocks noChangeAspect="1" noChangeArrowheads="1"/>
          </p:cNvSpPr>
          <p:nvPr userDrawn="1"/>
        </p:nvSpPr>
        <p:spPr bwMode="auto">
          <a:xfrm>
            <a:off x="207433"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sz="1800">
              <a:solidFill>
                <a:prstClr val="black"/>
              </a:solidFill>
            </a:endParaRPr>
          </a:p>
        </p:txBody>
      </p:sp>
      <p:grpSp>
        <p:nvGrpSpPr>
          <p:cNvPr id="2" name="组合 25"/>
          <p:cNvGrpSpPr/>
          <p:nvPr userDrawn="1"/>
        </p:nvGrpSpPr>
        <p:grpSpPr>
          <a:xfrm>
            <a:off x="-32569" y="-93810"/>
            <a:ext cx="10891102" cy="1458139"/>
            <a:chOff x="47012" y="124730"/>
            <a:chExt cx="8168326" cy="1458139"/>
          </a:xfrm>
        </p:grpSpPr>
        <p:cxnSp>
          <p:nvCxnSpPr>
            <p:cNvPr id="16" name="直接连接符 15"/>
            <p:cNvCxnSpPr>
              <a:cxnSpLocks/>
            </p:cNvCxnSpPr>
            <p:nvPr userDrawn="1"/>
          </p:nvCxnSpPr>
          <p:spPr>
            <a:xfrm>
              <a:off x="1142976" y="1214422"/>
              <a:ext cx="7072362" cy="1588"/>
            </a:xfrm>
            <a:prstGeom prst="line">
              <a:avLst/>
            </a:prstGeom>
            <a:ln w="38100">
              <a:gradFill flip="none" rotWithShape="1">
                <a:gsLst>
                  <a:gs pos="0">
                    <a:srgbClr val="002060"/>
                  </a:gs>
                  <a:gs pos="39999">
                    <a:srgbClr val="85C2FF"/>
                  </a:gs>
                  <a:gs pos="70000">
                    <a:srgbClr val="C4D6EB"/>
                  </a:gs>
                  <a:gs pos="100000">
                    <a:srgbClr val="FFEBFA"/>
                  </a:gs>
                </a:gsLst>
                <a:path path="circle">
                  <a:fillToRect t="100000" r="100000"/>
                </a:path>
                <a:tileRect l="-100000" b="-100000"/>
              </a:gradFill>
            </a:ln>
          </p:spPr>
          <p:style>
            <a:lnRef idx="1">
              <a:schemeClr val="accent5"/>
            </a:lnRef>
            <a:fillRef idx="0">
              <a:schemeClr val="accent5"/>
            </a:fillRef>
            <a:effectRef idx="0">
              <a:schemeClr val="accent5"/>
            </a:effectRef>
            <a:fontRef idx="minor">
              <a:schemeClr val="tx1"/>
            </a:fontRef>
          </p:style>
        </p:cxnSp>
        <p:pic>
          <p:nvPicPr>
            <p:cNvPr id="9" name="图片 8" descr="校徽.jpg"/>
            <p:cNvPicPr>
              <a:picLocks noChangeAspect="1"/>
            </p:cNvPicPr>
            <p:nvPr userDrawn="1"/>
          </p:nvPicPr>
          <p:blipFill>
            <a:blip r:embed="rId3" cstate="print">
              <a:clrChange>
                <a:clrFrom>
                  <a:srgbClr val="FFFFFF"/>
                </a:clrFrom>
                <a:clrTo>
                  <a:srgbClr val="FFFFFF">
                    <a:alpha val="0"/>
                  </a:srgbClr>
                </a:clrTo>
              </a:clrChange>
            </a:blip>
            <a:stretch>
              <a:fillRect/>
            </a:stretch>
          </p:blipFill>
          <p:spPr>
            <a:xfrm>
              <a:off x="47012" y="124730"/>
              <a:ext cx="1142976" cy="1458139"/>
            </a:xfrm>
            <a:prstGeom prst="rect">
              <a:avLst/>
            </a:prstGeom>
          </p:spPr>
        </p:pic>
      </p:grpSp>
      <p:sp>
        <p:nvSpPr>
          <p:cNvPr id="12" name="标题占位符 1"/>
          <p:cNvSpPr>
            <a:spLocks noGrp="1"/>
          </p:cNvSpPr>
          <p:nvPr>
            <p:ph type="title"/>
          </p:nvPr>
        </p:nvSpPr>
        <p:spPr bwMode="auto">
          <a:xfrm>
            <a:off x="1428717" y="274638"/>
            <a:ext cx="10331912" cy="721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marL="0" algn="l" defTabSz="914400" rtl="0" eaLnBrk="1" latinLnBrk="0" hangingPunct="1">
              <a:defRPr lang="zh-CN" altLang="en-US" sz="3200" b="1" kern="1200" dirty="0" smtClean="0">
                <a:solidFill>
                  <a:schemeClr val="accent1">
                    <a:lumMod val="75000"/>
                  </a:schemeClr>
                </a:solidFill>
                <a:latin typeface="Times New Roman" pitchFamily="18" charset="0"/>
                <a:ea typeface="微软雅黑" pitchFamily="34" charset="-122"/>
                <a:cs typeface="Times New Roman" pitchFamily="18" charset="0"/>
              </a:defRPr>
            </a:lvl1pPr>
          </a:lstStyle>
          <a:p>
            <a:pPr lvl="0"/>
            <a:r>
              <a:rPr lang="zh-CN" altLang="en-US" dirty="0"/>
              <a:t>单击此处编辑母版标题样式</a:t>
            </a:r>
          </a:p>
        </p:txBody>
      </p:sp>
    </p:spTree>
    <p:extLst>
      <p:ext uri="{BB962C8B-B14F-4D97-AF65-F5344CB8AC3E}">
        <p14:creationId xmlns:p14="http://schemas.microsoft.com/office/powerpoint/2010/main" val="1914012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7F3DE0-A084-4C70-AFF5-D6668E32BB05}" type="datetimeFigureOut">
              <a:rPr lang="zh-CN" altLang="en-US" smtClean="0"/>
              <a:pPr/>
              <a:t>2026/5/8</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98C4A-4E66-44D5-82D4-A59560566C02}"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737"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13854139297@139.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hyperlink" Target="https://tugraph-db.readthedocs.io/zh-cn/v3.5.0/5.developer-manual/6.interface/1.cypher.html" TargetMode="Externa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oceanbase.com/docs/enterprise-tugraph-doc-cn-10000000001211094" TargetMode="Externa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hyperlink" Target="https://www.oceanbase.com/docs/enterprise-tugraph-doc-cn-10000000001211105" TargetMode="External"/><Relationship Id="rId2" Type="http://schemas.openxmlformats.org/officeDocument/2006/relationships/hyperlink" Target="https://blog.csdn.net/m0_73633088/article/details/134010100" TargetMode="Externa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neo4j.ac.cn/docs/graph-data-science/current/algorithms/page-rank/" TargetMode="Externa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neo4j.ac.cn/docs/graph-data-science/current/algorithms/label-propagation/" TargetMode="Externa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hyperlink" Target="https://neo4j.ac.cn/docs/graph-data-science/current/algorithms/similarity/" TargetMode="Externa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TuGraph-family/tugraph-db/commit/76fe09541a125f982b11c839889dd9ec29e12207" TargetMode="External"/><Relationship Id="rId2" Type="http://schemas.openxmlformats.org/officeDocument/2006/relationships/hyperlink" Target="https://neo4j.ac.cn/docs/graph-data-science/current/machine-learning/node-embeddings/" TargetMode="Externa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hyperlink" Target="https://neo4j.ac.cn/docs/graph-data-science/current/alpha-algorithms/common-neighbors/" TargetMode="Externa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077200" y="6243638"/>
            <a:ext cx="2133600" cy="457200"/>
          </a:xfrm>
        </p:spPr>
        <p:txBody>
          <a:bodyPr/>
          <a:lstStyle/>
          <a:p>
            <a:pPr>
              <a:defRPr/>
            </a:pPr>
            <a:fld id="{587E24E5-A3D4-4C7B-8685-6CBA6721A630}" type="slidenum">
              <a:rPr lang="en-US" altLang="zh-CN">
                <a:solidFill>
                  <a:prstClr val="black">
                    <a:tint val="75000"/>
                  </a:prstClr>
                </a:solidFill>
              </a:rPr>
              <a:pPr>
                <a:defRPr/>
              </a:pPr>
              <a:t>1</a:t>
            </a:fld>
            <a:endParaRPr lang="en-US" altLang="zh-CN" dirty="0">
              <a:solidFill>
                <a:prstClr val="black">
                  <a:tint val="75000"/>
                </a:prstClr>
              </a:solidFill>
            </a:endParaRPr>
          </a:p>
        </p:txBody>
      </p:sp>
      <p:sp>
        <p:nvSpPr>
          <p:cNvPr id="5" name="Rectangle 5"/>
          <p:cNvSpPr>
            <a:spLocks noChangeArrowheads="1"/>
          </p:cNvSpPr>
          <p:nvPr/>
        </p:nvSpPr>
        <p:spPr bwMode="auto">
          <a:xfrm>
            <a:off x="2135560" y="2924944"/>
            <a:ext cx="7992888" cy="235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50000"/>
              </a:lnSpc>
            </a:pPr>
            <a:r>
              <a:rPr lang="zh-CN" altLang="en-US" sz="2400" b="1" kern="0" spc="50" dirty="0">
                <a:ln w="11430"/>
                <a:latin typeface="+mn-ea"/>
                <a:cs typeface="Arial Unicode MS" pitchFamily="34" charset="-122"/>
              </a:rPr>
              <a:t>中央财经大学 信息学院</a:t>
            </a:r>
            <a:endParaRPr lang="en-US" altLang="zh-CN" sz="2400" b="1" kern="0" spc="50" dirty="0">
              <a:ln w="11430"/>
              <a:latin typeface="+mn-ea"/>
              <a:cs typeface="Arial Unicode MS" pitchFamily="34" charset="-122"/>
            </a:endParaRPr>
          </a:p>
          <a:p>
            <a:pPr algn="ctr">
              <a:lnSpc>
                <a:spcPct val="150000"/>
              </a:lnSpc>
            </a:pPr>
            <a:r>
              <a:rPr lang="zh-CN" altLang="en-US" sz="2400" b="1" kern="0" spc="50" dirty="0">
                <a:ln w="11430"/>
                <a:latin typeface="+mn-ea"/>
                <a:cs typeface="Arial Unicode MS" pitchFamily="34" charset="-122"/>
              </a:rPr>
              <a:t>王卯宁 </a:t>
            </a:r>
            <a:r>
              <a:rPr lang="en-US" altLang="zh-CN" sz="2400" b="1" kern="0" spc="50" dirty="0">
                <a:ln w="11430"/>
                <a:latin typeface="+mn-ea"/>
                <a:cs typeface="Arial Unicode MS" pitchFamily="34" charset="-122"/>
                <a:hlinkClick r:id="rId3"/>
              </a:rPr>
              <a:t>13854139297@139.com</a:t>
            </a:r>
            <a:endParaRPr lang="en-US" altLang="zh-CN" sz="2400" b="1" kern="0" spc="50" dirty="0">
              <a:ln w="11430"/>
              <a:latin typeface="+mn-ea"/>
              <a:cs typeface="Arial Unicode MS" pitchFamily="34" charset="-122"/>
            </a:endParaRPr>
          </a:p>
          <a:p>
            <a:pPr algn="ctr">
              <a:lnSpc>
                <a:spcPct val="150000"/>
              </a:lnSpc>
            </a:pPr>
            <a:endParaRPr lang="en-US" altLang="zh-CN" sz="2400" b="1" kern="0" spc="50" dirty="0">
              <a:ln w="11430"/>
              <a:latin typeface="+mn-ea"/>
              <a:cs typeface="Arial Unicode MS" pitchFamily="34" charset="-122"/>
            </a:endParaRPr>
          </a:p>
          <a:p>
            <a:pPr algn="ctr">
              <a:lnSpc>
                <a:spcPct val="150000"/>
              </a:lnSpc>
            </a:pPr>
            <a:r>
              <a:rPr lang="en-US" altLang="zh-CN" sz="2400" kern="0" spc="50" dirty="0">
                <a:ln w="11430"/>
                <a:latin typeface="+mn-ea"/>
                <a:cs typeface="Arial Unicode MS" pitchFamily="34" charset="-122"/>
              </a:rPr>
              <a:t>2026</a:t>
            </a:r>
            <a:r>
              <a:rPr lang="zh-CN" altLang="en-US" sz="2400" kern="0" spc="50" dirty="0">
                <a:ln w="11430"/>
                <a:latin typeface="+mn-ea"/>
                <a:cs typeface="Arial Unicode MS" pitchFamily="34" charset="-122"/>
              </a:rPr>
              <a:t>年春</a:t>
            </a:r>
            <a:endParaRPr lang="en-US" altLang="zh-CN" sz="2400" kern="0" spc="50" dirty="0">
              <a:ln w="11430"/>
              <a:latin typeface="+mn-ea"/>
              <a:cs typeface="Arial Unicode MS" pitchFamily="34" charset="-122"/>
            </a:endParaRPr>
          </a:p>
        </p:txBody>
      </p:sp>
      <p:sp>
        <p:nvSpPr>
          <p:cNvPr id="2" name="TextBox 1"/>
          <p:cNvSpPr txBox="1"/>
          <p:nvPr/>
        </p:nvSpPr>
        <p:spPr>
          <a:xfrm>
            <a:off x="2315580" y="1326617"/>
            <a:ext cx="7560840" cy="949299"/>
          </a:xfrm>
          <a:prstGeom prst="rect">
            <a:avLst/>
          </a:prstGeom>
          <a:noFill/>
        </p:spPr>
        <p:txBody>
          <a:bodyPr wrap="square" rtlCol="0">
            <a:spAutoFit/>
          </a:bodyPr>
          <a:lstStyle/>
          <a:p>
            <a:pPr lvl="0" algn="ctr">
              <a:lnSpc>
                <a:spcPct val="150000"/>
              </a:lnSpc>
            </a:pPr>
            <a:r>
              <a:rPr lang="zh-CN" altLang="en-US" sz="4400" b="1" kern="0" spc="50" dirty="0">
                <a:ln w="11430"/>
                <a:solidFill>
                  <a:schemeClr val="tx2"/>
                </a:solidFill>
                <a:effectLst>
                  <a:outerShdw blurRad="76200" dist="50800" dir="5400000" algn="tl" rotWithShape="0">
                    <a:srgbClr val="000000">
                      <a:alpha val="65000"/>
                    </a:srgbClr>
                  </a:outerShdw>
                </a:effectLst>
                <a:latin typeface="SimHei" panose="02010609060101010101" pitchFamily="49" charset="-122"/>
                <a:ea typeface="SimHei" panose="02010609060101010101" pitchFamily="49" charset="-122"/>
              </a:rPr>
              <a:t>安全通论</a:t>
            </a:r>
            <a:endParaRPr lang="zh-CN" altLang="en-US" sz="4000" b="1" spc="300" dirty="0">
              <a:solidFill>
                <a:schemeClr val="tx2"/>
              </a:solidFill>
              <a:latin typeface="SimHei" panose="02010609060101010101" pitchFamily="49" charset="-122"/>
              <a:ea typeface="SimHei" panose="02010609060101010101" pitchFamily="49" charset="-122"/>
            </a:endParaRPr>
          </a:p>
        </p:txBody>
      </p:sp>
      <p:sp>
        <p:nvSpPr>
          <p:cNvPr id="43018" name="AutoShape 10"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43020" name="AutoShape 12"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43022" name="AutoShape 14"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15362" name="AutoShape 2" descr="http://read.html5.qq.com/image?src=forum&amp;q=5&amp;r=0&amp;imgflag=7&amp;imageUrl=http://mmbiz.qpic.cn/mmbiz/EQB7yFED1iaTzk42f5AQAZdTRVDG8hXiaGy1QvN0ibxoviajJF5xBvEWDp62OPicbfUAeaaWVulNuDm8Owbficb90cicg/0?wx_fmt=jpeg"/>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620392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实验及作业安排</a:t>
            </a:r>
          </a:p>
        </p:txBody>
      </p:sp>
      <p:sp>
        <p:nvSpPr>
          <p:cNvPr id="3" name="内容占位符 2">
            <a:extLst>
              <a:ext uri="{FF2B5EF4-FFF2-40B4-BE49-F238E27FC236}">
                <a16:creationId xmlns:a16="http://schemas.microsoft.com/office/drawing/2014/main" id="{99B6D816-F906-EBB7-362A-3CB507BDDE33}"/>
              </a:ext>
            </a:extLst>
          </p:cNvPr>
          <p:cNvSpPr txBox="1">
            <a:spLocks/>
          </p:cNvSpPr>
          <p:nvPr/>
        </p:nvSpPr>
        <p:spPr bwMode="auto">
          <a:xfrm>
            <a:off x="1428717" y="1412776"/>
            <a:ext cx="8904312" cy="464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en-US" altLang="zh-CN" dirty="0"/>
              <a:t>1.</a:t>
            </a:r>
            <a:r>
              <a:rPr lang="zh-CN" altLang="en-US" dirty="0"/>
              <a:t> 图数据库</a:t>
            </a:r>
            <a:r>
              <a:rPr lang="en-US" altLang="zh-CN" dirty="0" err="1"/>
              <a:t>TuGraph</a:t>
            </a:r>
            <a:r>
              <a:rPr lang="zh-CN" altLang="en-US" dirty="0"/>
              <a:t>简介</a:t>
            </a:r>
            <a:endParaRPr lang="en-US" altLang="zh-CN" dirty="0"/>
          </a:p>
          <a:p>
            <a:pPr eaLnBrk="1" hangingPunct="1">
              <a:lnSpc>
                <a:spcPct val="150000"/>
              </a:lnSpc>
              <a:spcBef>
                <a:spcPts val="0"/>
              </a:spcBef>
              <a:spcAft>
                <a:spcPts val="0"/>
              </a:spcAft>
            </a:pPr>
            <a:r>
              <a:rPr lang="en-US" altLang="zh-CN" dirty="0"/>
              <a:t>2. </a:t>
            </a:r>
            <a:r>
              <a:rPr lang="zh-CN" altLang="en-US" dirty="0"/>
              <a:t>图查询与图算法</a:t>
            </a:r>
            <a:endParaRPr lang="en-US" altLang="zh-CN" dirty="0"/>
          </a:p>
          <a:p>
            <a:pPr eaLnBrk="1" hangingPunct="1">
              <a:lnSpc>
                <a:spcPct val="150000"/>
              </a:lnSpc>
              <a:spcBef>
                <a:spcPts val="0"/>
              </a:spcBef>
              <a:spcAft>
                <a:spcPts val="0"/>
              </a:spcAft>
            </a:pPr>
            <a:r>
              <a:rPr lang="en-US" altLang="zh-CN" dirty="0"/>
              <a:t>3.</a:t>
            </a:r>
            <a:r>
              <a:rPr lang="zh-CN" altLang="en-US" dirty="0"/>
              <a:t> 任务实例：网络流量分类 </a:t>
            </a:r>
            <a:endParaRPr lang="en-US" altLang="zh-CN" dirty="0"/>
          </a:p>
          <a:p>
            <a:pPr eaLnBrk="1" hangingPunct="1">
              <a:lnSpc>
                <a:spcPct val="150000"/>
              </a:lnSpc>
              <a:spcBef>
                <a:spcPts val="0"/>
              </a:spcBef>
              <a:spcAft>
                <a:spcPts val="0"/>
              </a:spcAft>
            </a:pPr>
            <a:r>
              <a:rPr lang="en-US" altLang="zh-CN" dirty="0"/>
              <a:t>4.</a:t>
            </a:r>
            <a:r>
              <a:rPr lang="zh-CN" altLang="en-US" dirty="0"/>
              <a:t> 任务实例：微服务</a:t>
            </a:r>
            <a:r>
              <a:rPr lang="en-US" altLang="zh-CN" dirty="0"/>
              <a:t>API</a:t>
            </a:r>
            <a:r>
              <a:rPr lang="zh-CN" altLang="en-US" dirty="0"/>
              <a:t>调用行为检测</a:t>
            </a:r>
            <a:endParaRPr lang="en-US" altLang="zh-CN" dirty="0"/>
          </a:p>
          <a:p>
            <a:pPr eaLnBrk="1" hangingPunct="1">
              <a:lnSpc>
                <a:spcPct val="150000"/>
              </a:lnSpc>
              <a:spcBef>
                <a:spcPts val="0"/>
              </a:spcBef>
              <a:spcAft>
                <a:spcPts val="0"/>
              </a:spcAft>
            </a:pPr>
            <a:r>
              <a:rPr lang="en-US" altLang="zh-CN" dirty="0"/>
              <a:t>5. </a:t>
            </a:r>
            <a:r>
              <a:rPr lang="zh-CN" altLang="en-US" dirty="0"/>
              <a:t>全国大学生信息安全竞赛</a:t>
            </a:r>
            <a:r>
              <a:rPr lang="en-US" altLang="zh-CN" dirty="0"/>
              <a:t>-</a:t>
            </a:r>
            <a:r>
              <a:rPr lang="zh-CN" altLang="en-US" dirty="0"/>
              <a:t>作品赛</a:t>
            </a:r>
            <a:endParaRPr lang="en-US" altLang="zh-CN" dirty="0"/>
          </a:p>
          <a:p>
            <a:pPr marL="0" indent="0" eaLnBrk="1" hangingPunct="1">
              <a:lnSpc>
                <a:spcPct val="150000"/>
              </a:lnSpc>
              <a:spcBef>
                <a:spcPts val="0"/>
              </a:spcBef>
              <a:spcAft>
                <a:spcPts val="0"/>
              </a:spcAft>
              <a:buNone/>
            </a:pPr>
            <a:endParaRPr lang="en-US" altLang="zh-CN" sz="2000" dirty="0"/>
          </a:p>
          <a:p>
            <a:pPr marL="0" indent="0" eaLnBrk="1" hangingPunct="1">
              <a:lnSpc>
                <a:spcPct val="150000"/>
              </a:lnSpc>
              <a:spcBef>
                <a:spcPts val="0"/>
              </a:spcBef>
              <a:spcAft>
                <a:spcPts val="0"/>
              </a:spcAft>
              <a:buNone/>
            </a:pPr>
            <a:r>
              <a:rPr lang="zh-CN" altLang="en-US" sz="2000" dirty="0"/>
              <a:t>以上条目每项对应一次需要提交的作业，每次作业</a:t>
            </a:r>
            <a:r>
              <a:rPr lang="en-US" altLang="zh-CN" sz="2000" dirty="0"/>
              <a:t>8</a:t>
            </a:r>
            <a:r>
              <a:rPr lang="zh-CN" altLang="en-US" sz="2000" dirty="0"/>
              <a:t>分，共</a:t>
            </a:r>
            <a:r>
              <a:rPr lang="en-US" altLang="zh-CN" sz="2000" dirty="0"/>
              <a:t>40</a:t>
            </a:r>
            <a:r>
              <a:rPr lang="zh-CN" altLang="en-US" sz="2000" dirty="0"/>
              <a:t>分。</a:t>
            </a:r>
            <a:endParaRPr lang="en-US" altLang="zh-CN" sz="2000" dirty="0"/>
          </a:p>
        </p:txBody>
      </p:sp>
    </p:spTree>
    <p:extLst>
      <p:ext uri="{BB962C8B-B14F-4D97-AF65-F5344CB8AC3E}">
        <p14:creationId xmlns:p14="http://schemas.microsoft.com/office/powerpoint/2010/main" val="292557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作业</a:t>
            </a:r>
            <a:r>
              <a:rPr lang="en-US" altLang="zh-CN" dirty="0"/>
              <a:t>2</a:t>
            </a:r>
            <a:endParaRPr lang="zh-CN" altLang="en-US" dirty="0"/>
          </a:p>
        </p:txBody>
      </p:sp>
      <p:sp>
        <p:nvSpPr>
          <p:cNvPr id="3" name="内容占位符 2">
            <a:extLst>
              <a:ext uri="{FF2B5EF4-FFF2-40B4-BE49-F238E27FC236}">
                <a16:creationId xmlns:a16="http://schemas.microsoft.com/office/drawing/2014/main" id="{99B6D816-F906-EBB7-362A-3CB507BDDE33}"/>
              </a:ext>
            </a:extLst>
          </p:cNvPr>
          <p:cNvSpPr txBox="1">
            <a:spLocks/>
          </p:cNvSpPr>
          <p:nvPr/>
        </p:nvSpPr>
        <p:spPr bwMode="auto">
          <a:xfrm>
            <a:off x="839416" y="1340768"/>
            <a:ext cx="10441160" cy="464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en-US" altLang="zh-CN" dirty="0"/>
              <a:t>1.</a:t>
            </a:r>
            <a:r>
              <a:rPr lang="zh-CN" altLang="en-US" dirty="0"/>
              <a:t>执行</a:t>
            </a:r>
            <a:r>
              <a:rPr lang="en-US" altLang="zh-CN" dirty="0"/>
              <a:t>1</a:t>
            </a:r>
            <a:r>
              <a:rPr lang="zh-CN" altLang="en-US" dirty="0"/>
              <a:t>例复杂查询，展示执行结果截图，并解释</a:t>
            </a:r>
            <a:r>
              <a:rPr lang="en-US" altLang="zh-CN" dirty="0"/>
              <a:t>Cypher</a:t>
            </a:r>
            <a:r>
              <a:rPr lang="zh-CN" altLang="en-US" dirty="0"/>
              <a:t>语句含义</a:t>
            </a:r>
            <a:endParaRPr lang="en-US" altLang="zh-CN" dirty="0"/>
          </a:p>
          <a:p>
            <a:pPr eaLnBrk="1" hangingPunct="1">
              <a:lnSpc>
                <a:spcPct val="150000"/>
              </a:lnSpc>
              <a:spcBef>
                <a:spcPts val="0"/>
              </a:spcBef>
              <a:spcAft>
                <a:spcPts val="0"/>
              </a:spcAft>
            </a:pPr>
            <a:r>
              <a:rPr lang="en-US" altLang="zh-CN" dirty="0"/>
              <a:t>2.</a:t>
            </a:r>
            <a:r>
              <a:rPr lang="zh-CN" altLang="en-US" dirty="0"/>
              <a:t>将</a:t>
            </a:r>
            <a:r>
              <a:rPr lang="en-US" altLang="zh-CN" dirty="0"/>
              <a:t>Node2Vec</a:t>
            </a:r>
            <a:r>
              <a:rPr lang="zh-CN" altLang="en-US" dirty="0"/>
              <a:t>示例数据集导入</a:t>
            </a:r>
            <a:r>
              <a:rPr lang="en-US" altLang="zh-CN" dirty="0" err="1"/>
              <a:t>TuGraph</a:t>
            </a:r>
            <a:r>
              <a:rPr lang="zh-CN" altLang="en-US" dirty="0"/>
              <a:t>，运行采样步骤成功，通过文字、代码、截图描述步骤</a:t>
            </a:r>
            <a:endParaRPr lang="en-US" altLang="zh-CN" dirty="0"/>
          </a:p>
          <a:p>
            <a:pPr eaLnBrk="1" hangingPunct="1">
              <a:lnSpc>
                <a:spcPct val="150000"/>
              </a:lnSpc>
              <a:spcBef>
                <a:spcPts val="0"/>
              </a:spcBef>
              <a:spcAft>
                <a:spcPts val="0"/>
              </a:spcAft>
            </a:pPr>
            <a:r>
              <a:rPr lang="en-US" altLang="zh-CN" dirty="0"/>
              <a:t>3.</a:t>
            </a:r>
            <a:r>
              <a:rPr lang="zh-CN" altLang="en-US" dirty="0"/>
              <a:t>完整实现</a:t>
            </a:r>
            <a:r>
              <a:rPr lang="en-US" altLang="zh-CN" dirty="0"/>
              <a:t>Node2Vec</a:t>
            </a:r>
            <a:r>
              <a:rPr lang="zh-CN" altLang="en-US" dirty="0"/>
              <a:t>算法，得到嵌入向量，描述配置过程中解决了哪些问题、用的什么方法（文字、代码、截图）</a:t>
            </a:r>
            <a:endParaRPr lang="en-US" altLang="zh-CN" dirty="0"/>
          </a:p>
          <a:p>
            <a:pPr eaLnBrk="1" hangingPunct="1">
              <a:lnSpc>
                <a:spcPct val="150000"/>
              </a:lnSpc>
              <a:spcBef>
                <a:spcPts val="0"/>
              </a:spcBef>
              <a:spcAft>
                <a:spcPts val="0"/>
              </a:spcAft>
            </a:pPr>
            <a:r>
              <a:rPr lang="en-US" altLang="zh-CN" dirty="0"/>
              <a:t>4.</a:t>
            </a:r>
            <a:r>
              <a:rPr lang="zh-CN" altLang="en-US" dirty="0"/>
              <a:t>通过</a:t>
            </a:r>
            <a:r>
              <a:rPr lang="en-US" altLang="zh-CN" dirty="0" err="1"/>
              <a:t>github</a:t>
            </a:r>
            <a:r>
              <a:rPr lang="zh-CN" altLang="en-US" dirty="0"/>
              <a:t>提交报告，把链接放到学习通回答中</a:t>
            </a:r>
            <a:endParaRPr lang="en-US" altLang="zh-CN" dirty="0"/>
          </a:p>
          <a:p>
            <a:pPr eaLnBrk="1" hangingPunct="1">
              <a:lnSpc>
                <a:spcPct val="150000"/>
              </a:lnSpc>
              <a:spcBef>
                <a:spcPts val="0"/>
              </a:spcBef>
              <a:spcAft>
                <a:spcPts val="0"/>
              </a:spcAft>
            </a:pPr>
            <a:endParaRPr lang="en-US" altLang="zh-CN" sz="2000" dirty="0"/>
          </a:p>
          <a:p>
            <a:pPr marL="0" indent="0" eaLnBrk="1" hangingPunct="1">
              <a:lnSpc>
                <a:spcPct val="150000"/>
              </a:lnSpc>
              <a:spcBef>
                <a:spcPts val="0"/>
              </a:spcBef>
              <a:spcAft>
                <a:spcPts val="0"/>
              </a:spcAft>
              <a:buNone/>
            </a:pPr>
            <a:r>
              <a:rPr lang="zh-CN" altLang="en-US" sz="2000" dirty="0"/>
              <a:t>以上各步，每步</a:t>
            </a:r>
            <a:r>
              <a:rPr lang="en-US" altLang="zh-CN" sz="2000" dirty="0"/>
              <a:t>2</a:t>
            </a:r>
            <a:r>
              <a:rPr lang="zh-CN" altLang="en-US" sz="2000" dirty="0"/>
              <a:t>分。</a:t>
            </a:r>
            <a:endParaRPr lang="en-US" altLang="zh-CN" sz="2000" dirty="0"/>
          </a:p>
        </p:txBody>
      </p:sp>
    </p:spTree>
    <p:extLst>
      <p:ext uri="{BB962C8B-B14F-4D97-AF65-F5344CB8AC3E}">
        <p14:creationId xmlns:p14="http://schemas.microsoft.com/office/powerpoint/2010/main" val="918050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6"/>
          <p:cNvGrpSpPr>
            <a:grpSpLocks/>
          </p:cNvGrpSpPr>
          <p:nvPr/>
        </p:nvGrpSpPr>
        <p:grpSpPr bwMode="auto">
          <a:xfrm>
            <a:off x="2292338" y="1428737"/>
            <a:ext cx="2089151" cy="4537075"/>
            <a:chOff x="-57" y="577"/>
            <a:chExt cx="1929" cy="3311"/>
          </a:xfrm>
        </p:grpSpPr>
        <p:sp>
          <p:nvSpPr>
            <p:cNvPr id="8" name="Arc 37"/>
            <p:cNvSpPr>
              <a:spLocks/>
            </p:cNvSpPr>
            <p:nvPr/>
          </p:nvSpPr>
          <p:spPr bwMode="auto">
            <a:xfrm>
              <a:off x="-56" y="672"/>
              <a:ext cx="1832" cy="3119"/>
            </a:xfrm>
            <a:custGeom>
              <a:avLst/>
              <a:gdLst>
                <a:gd name="T0" fmla="*/ 0 w 21600"/>
                <a:gd name="T1" fmla="*/ 0 h 43174"/>
                <a:gd name="T2" fmla="*/ 0 w 21600"/>
                <a:gd name="T3" fmla="*/ 0 h 43174"/>
                <a:gd name="T4" fmla="*/ 0 w 21600"/>
                <a:gd name="T5" fmla="*/ 0 h 43174"/>
                <a:gd name="T6" fmla="*/ 0 60000 65536"/>
                <a:gd name="T7" fmla="*/ 0 60000 65536"/>
                <a:gd name="T8" fmla="*/ 0 60000 65536"/>
                <a:gd name="T9" fmla="*/ 0 w 21600"/>
                <a:gd name="T10" fmla="*/ 0 h 43174"/>
                <a:gd name="T11" fmla="*/ 21600 w 21600"/>
                <a:gd name="T12" fmla="*/ 43174 h 43174"/>
              </a:gdLst>
              <a:ahLst/>
              <a:cxnLst>
                <a:cxn ang="T6">
                  <a:pos x="T0" y="T1"/>
                </a:cxn>
                <a:cxn ang="T7">
                  <a:pos x="T2" y="T3"/>
                </a:cxn>
                <a:cxn ang="T8">
                  <a:pos x="T4" y="T5"/>
                </a:cxn>
              </a:cxnLst>
              <a:rect l="T9" t="T10" r="T11" b="T12"/>
              <a:pathLst>
                <a:path w="21600" h="43174" fill="none" extrusionOk="0">
                  <a:moveTo>
                    <a:pt x="526" y="0"/>
                  </a:moveTo>
                  <a:cubicBezTo>
                    <a:pt x="12247" y="286"/>
                    <a:pt x="21600" y="9869"/>
                    <a:pt x="21600" y="21594"/>
                  </a:cubicBezTo>
                  <a:cubicBezTo>
                    <a:pt x="21600" y="33162"/>
                    <a:pt x="12485" y="42677"/>
                    <a:pt x="927" y="43174"/>
                  </a:cubicBezTo>
                </a:path>
                <a:path w="21600" h="43174" stroke="0" extrusionOk="0">
                  <a:moveTo>
                    <a:pt x="526" y="0"/>
                  </a:moveTo>
                  <a:cubicBezTo>
                    <a:pt x="12247" y="286"/>
                    <a:pt x="21600" y="9869"/>
                    <a:pt x="21600" y="21594"/>
                  </a:cubicBezTo>
                  <a:cubicBezTo>
                    <a:pt x="21600" y="33162"/>
                    <a:pt x="12485" y="42677"/>
                    <a:pt x="927" y="43174"/>
                  </a:cubicBezTo>
                  <a:lnTo>
                    <a:pt x="0" y="21594"/>
                  </a:lnTo>
                  <a:close/>
                </a:path>
              </a:pathLst>
            </a:custGeom>
            <a:noFill/>
            <a:ln w="76200">
              <a:solidFill>
                <a:srgbClr val="FF6600"/>
              </a:solidFill>
              <a:round/>
              <a:headEnd/>
              <a:tailEnd/>
            </a:ln>
          </p:spPr>
          <p:txBody>
            <a:bodyPr wrap="none" anchor="ctr"/>
            <a:lstStyle/>
            <a:p>
              <a:pPr algn="ctr"/>
              <a:endParaRPr lang="zh-CN" altLang="zh-CN" sz="2400" b="1">
                <a:solidFill>
                  <a:schemeClr val="bg1"/>
                </a:solidFill>
                <a:latin typeface="Times New Roman" pitchFamily="18" charset="0"/>
                <a:ea typeface="楷体_GB2312" pitchFamily="49" charset="-122"/>
              </a:endParaRPr>
            </a:p>
          </p:txBody>
        </p:sp>
        <p:sp>
          <p:nvSpPr>
            <p:cNvPr id="9" name="Arc 38"/>
            <p:cNvSpPr>
              <a:spLocks/>
            </p:cNvSpPr>
            <p:nvPr/>
          </p:nvSpPr>
          <p:spPr bwMode="auto">
            <a:xfrm>
              <a:off x="-57" y="577"/>
              <a:ext cx="1929" cy="3311"/>
            </a:xfrm>
            <a:custGeom>
              <a:avLst/>
              <a:gdLst>
                <a:gd name="T0" fmla="*/ 0 w 21600"/>
                <a:gd name="T1" fmla="*/ 0 h 43180"/>
                <a:gd name="T2" fmla="*/ 0 w 21600"/>
                <a:gd name="T3" fmla="*/ 0 h 43180"/>
                <a:gd name="T4" fmla="*/ 0 w 21600"/>
                <a:gd name="T5" fmla="*/ 0 h 43180"/>
                <a:gd name="T6" fmla="*/ 0 60000 65536"/>
                <a:gd name="T7" fmla="*/ 0 60000 65536"/>
                <a:gd name="T8" fmla="*/ 0 60000 65536"/>
                <a:gd name="T9" fmla="*/ 0 w 21600"/>
                <a:gd name="T10" fmla="*/ 0 h 43180"/>
                <a:gd name="T11" fmla="*/ 21600 w 21600"/>
                <a:gd name="T12" fmla="*/ 43180 h 43180"/>
              </a:gdLst>
              <a:ahLst/>
              <a:cxnLst>
                <a:cxn ang="T6">
                  <a:pos x="T0" y="T1"/>
                </a:cxn>
                <a:cxn ang="T7">
                  <a:pos x="T2" y="T3"/>
                </a:cxn>
                <a:cxn ang="T8">
                  <a:pos x="T4" y="T5"/>
                </a:cxn>
              </a:cxnLst>
              <a:rect l="T9" t="T10" r="T11" b="T12"/>
              <a:pathLst>
                <a:path w="21600" h="43180" fill="none" extrusionOk="0">
                  <a:moveTo>
                    <a:pt x="526" y="0"/>
                  </a:moveTo>
                  <a:cubicBezTo>
                    <a:pt x="12247" y="286"/>
                    <a:pt x="21600" y="9869"/>
                    <a:pt x="21600" y="21594"/>
                  </a:cubicBezTo>
                  <a:cubicBezTo>
                    <a:pt x="21600" y="33223"/>
                    <a:pt x="12392" y="42765"/>
                    <a:pt x="771" y="43180"/>
                  </a:cubicBezTo>
                </a:path>
                <a:path w="21600" h="43180" stroke="0" extrusionOk="0">
                  <a:moveTo>
                    <a:pt x="526" y="0"/>
                  </a:moveTo>
                  <a:cubicBezTo>
                    <a:pt x="12247" y="286"/>
                    <a:pt x="21600" y="9869"/>
                    <a:pt x="21600" y="21594"/>
                  </a:cubicBezTo>
                  <a:cubicBezTo>
                    <a:pt x="21600" y="33223"/>
                    <a:pt x="12392" y="42765"/>
                    <a:pt x="771" y="43180"/>
                  </a:cubicBezTo>
                  <a:lnTo>
                    <a:pt x="0" y="21594"/>
                  </a:lnTo>
                  <a:close/>
                </a:path>
              </a:pathLst>
            </a:custGeom>
            <a:noFill/>
            <a:ln w="25400">
              <a:solidFill>
                <a:srgbClr val="FF9966"/>
              </a:solidFill>
              <a:round/>
              <a:headEnd/>
              <a:tailEnd/>
            </a:ln>
          </p:spPr>
          <p:txBody>
            <a:bodyPr wrap="none" anchor="ctr"/>
            <a:lstStyle/>
            <a:p>
              <a:pPr algn="ctr"/>
              <a:endParaRPr lang="zh-CN" altLang="zh-CN" sz="2400" b="1">
                <a:solidFill>
                  <a:schemeClr val="bg1"/>
                </a:solidFill>
                <a:latin typeface="Times New Roman" pitchFamily="18" charset="0"/>
                <a:ea typeface="楷体_GB2312" pitchFamily="49" charset="-122"/>
              </a:endParaRPr>
            </a:p>
          </p:txBody>
        </p:sp>
      </p:grpSp>
      <p:sp>
        <p:nvSpPr>
          <p:cNvPr id="41986" name="AutoShape 2"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41988" name="AutoShape 4"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42000" name="AutoShape 16"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42002" name="AutoShape 18"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42004" name="AutoShape 20"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42006" name="AutoShape 22" descr="http://read.html5.qq.com/image?src=forum&amp;q=5&amp;r=0&amp;imgflag=7&amp;imageUrl=http://mmbiz.qpic.cn/mmbiz/EQB7yFED1iaTzk42f5AQAZdTRVDG8hXiaGy1QvN0ibxoviajJF5xBvEWDp62OPicbfUAeaaWVulNuDm8Owbficb90cicg/0?wx_fmt=jpeg"/>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pic>
        <p:nvPicPr>
          <p:cNvPr id="52226" name="Picture 2" descr="“the trust machine”的图片搜索结果"/>
          <p:cNvPicPr>
            <a:picLocks noChangeAspect="1" noChangeArrowheads="1"/>
          </p:cNvPicPr>
          <p:nvPr/>
        </p:nvPicPr>
        <p:blipFill>
          <a:blip r:embed="rId2"/>
          <a:srcRect/>
          <a:stretch>
            <a:fillRect/>
          </a:stretch>
        </p:blipFill>
        <p:spPr bwMode="auto">
          <a:xfrm>
            <a:off x="1809721" y="2404918"/>
            <a:ext cx="1928825" cy="1085978"/>
          </a:xfrm>
          <a:prstGeom prst="rect">
            <a:avLst/>
          </a:prstGeom>
          <a:noFill/>
        </p:spPr>
      </p:pic>
      <p:pic>
        <p:nvPicPr>
          <p:cNvPr id="52228" name="Picture 4" descr="“the trust machine”的图片搜索结果"/>
          <p:cNvPicPr>
            <a:picLocks noChangeAspect="1" noChangeArrowheads="1"/>
          </p:cNvPicPr>
          <p:nvPr/>
        </p:nvPicPr>
        <p:blipFill>
          <a:blip r:embed="rId3" cstate="print"/>
          <a:srcRect/>
          <a:stretch>
            <a:fillRect/>
          </a:stretch>
        </p:blipFill>
        <p:spPr bwMode="auto">
          <a:xfrm>
            <a:off x="1809720" y="3857629"/>
            <a:ext cx="1928826" cy="1085978"/>
          </a:xfrm>
          <a:prstGeom prst="rect">
            <a:avLst/>
          </a:prstGeom>
          <a:noFill/>
        </p:spPr>
      </p:pic>
      <p:sp>
        <p:nvSpPr>
          <p:cNvPr id="15" name="标题">
            <a:extLst>
              <a:ext uri="{FF2B5EF4-FFF2-40B4-BE49-F238E27FC236}">
                <a16:creationId xmlns:a16="http://schemas.microsoft.com/office/drawing/2014/main" id="{BC5DCADB-1EC7-4B38-BC8B-02FAB186980D}"/>
              </a:ext>
            </a:extLst>
          </p:cNvPr>
          <p:cNvSpPr/>
          <p:nvPr/>
        </p:nvSpPr>
        <p:spPr>
          <a:xfrm>
            <a:off x="3748296" y="933453"/>
            <a:ext cx="6884208" cy="646327"/>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lvl1pPr>
              <a:defRPr sz="2000">
                <a:solidFill>
                  <a:srgbClr val="FFFFFF"/>
                </a:solidFill>
                <a:latin typeface="Microsoft YaHei"/>
                <a:ea typeface="Microsoft YaHei"/>
                <a:cs typeface="Microsoft YaHei"/>
                <a:sym typeface="Microsoft YaHei"/>
              </a:defRPr>
            </a:lvl1pPr>
          </a:lstStyle>
          <a:p>
            <a:pPr algn="ctr"/>
            <a:r>
              <a:rPr lang="zh-CN" altLang="en-US" sz="3600" dirty="0">
                <a:solidFill>
                  <a:schemeClr val="tx1"/>
                </a:solidFill>
                <a:latin typeface="黑体" panose="02010609060101010101" pitchFamily="49" charset="-122"/>
                <a:ea typeface="黑体" panose="02010609060101010101" pitchFamily="49" charset="-122"/>
              </a:rPr>
              <a:t>实验</a:t>
            </a:r>
            <a:r>
              <a:rPr lang="en-US" altLang="zh-CN" sz="3600" dirty="0">
                <a:solidFill>
                  <a:schemeClr val="tx1"/>
                </a:solidFill>
                <a:latin typeface="黑体" panose="02010609060101010101" pitchFamily="49" charset="-122"/>
                <a:ea typeface="黑体" panose="02010609060101010101" pitchFamily="49" charset="-122"/>
              </a:rPr>
              <a:t>2-</a:t>
            </a:r>
            <a:r>
              <a:rPr lang="zh-CN" altLang="en-US" sz="3600" dirty="0">
                <a:solidFill>
                  <a:schemeClr val="tx1"/>
                </a:solidFill>
                <a:latin typeface="黑体" panose="02010609060101010101" pitchFamily="49" charset="-122"/>
                <a:ea typeface="黑体" panose="02010609060101010101" pitchFamily="49" charset="-122"/>
              </a:rPr>
              <a:t>图查询与图算法</a:t>
            </a:r>
            <a:endParaRPr sz="3600" dirty="0">
              <a:solidFill>
                <a:schemeClr val="tx1"/>
              </a:solidFill>
              <a:latin typeface="黑体" panose="02010609060101010101" pitchFamily="49" charset="-122"/>
              <a:ea typeface="黑体" panose="02010609060101010101" pitchFamily="49" charset="-122"/>
            </a:endParaRPr>
          </a:p>
        </p:txBody>
      </p:sp>
      <p:sp>
        <p:nvSpPr>
          <p:cNvPr id="16" name="标题">
            <a:extLst>
              <a:ext uri="{FF2B5EF4-FFF2-40B4-BE49-F238E27FC236}">
                <a16:creationId xmlns:a16="http://schemas.microsoft.com/office/drawing/2014/main" id="{E13C425C-84F4-457C-842D-EE74EEDEA997}"/>
              </a:ext>
            </a:extLst>
          </p:cNvPr>
          <p:cNvSpPr/>
          <p:nvPr/>
        </p:nvSpPr>
        <p:spPr>
          <a:xfrm>
            <a:off x="4864106" y="1916832"/>
            <a:ext cx="5577154" cy="2917718"/>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numCol="1">
            <a:spAutoFit/>
          </a:bodyPr>
          <a:lstStyle>
            <a:lvl1pPr>
              <a:defRPr sz="1600">
                <a:solidFill>
                  <a:srgbClr val="FFFFFF"/>
                </a:solidFill>
                <a:latin typeface="Microsoft YaHei"/>
                <a:ea typeface="Microsoft YaHei"/>
                <a:cs typeface="Microsoft YaHei"/>
                <a:sym typeface="Microsoft YaHei"/>
              </a:defRPr>
            </a:lvl1pPr>
          </a:lstStyle>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建模与数据导入</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en-US" altLang="zh-CN" sz="2400" b="1" kern="0" dirty="0">
                <a:solidFill>
                  <a:schemeClr val="tx1"/>
                </a:solidFill>
                <a:latin typeface="SimHei" panose="02010609060101010101" pitchFamily="49" charset="-122"/>
                <a:ea typeface="SimHei" panose="02010609060101010101" pitchFamily="49" charset="-122"/>
              </a:rPr>
              <a:t>Cypher</a:t>
            </a:r>
            <a:r>
              <a:rPr lang="zh-CN" altLang="en-US" sz="2400" b="1" kern="0" dirty="0">
                <a:solidFill>
                  <a:schemeClr val="tx1"/>
                </a:solidFill>
                <a:latin typeface="SimHei" panose="02010609060101010101" pitchFamily="49" charset="-122"/>
                <a:ea typeface="SimHei" panose="02010609060101010101" pitchFamily="49" charset="-122"/>
              </a:rPr>
              <a:t>语言</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增删改查</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聚合查询</a:t>
            </a:r>
            <a:endParaRPr lang="en-US" altLang="zh-CN" sz="2400" b="1" kern="0" dirty="0">
              <a:solidFill>
                <a:schemeClr val="tx1"/>
              </a:solidFill>
              <a:latin typeface="SimHei" panose="02010609060101010101" pitchFamily="49" charset="-122"/>
              <a:ea typeface="SimHei" panose="02010609060101010101" pitchFamily="49" charset="-122"/>
            </a:endParaRPr>
          </a:p>
        </p:txBody>
      </p:sp>
      <p:sp>
        <p:nvSpPr>
          <p:cNvPr id="17" name="标题">
            <a:extLst>
              <a:ext uri="{FF2B5EF4-FFF2-40B4-BE49-F238E27FC236}">
                <a16:creationId xmlns:a16="http://schemas.microsoft.com/office/drawing/2014/main" id="{E13C425C-84F4-457C-842D-EE74EEDEA997}"/>
              </a:ext>
            </a:extLst>
          </p:cNvPr>
          <p:cNvSpPr/>
          <p:nvPr/>
        </p:nvSpPr>
        <p:spPr>
          <a:xfrm>
            <a:off x="8135300" y="1579780"/>
            <a:ext cx="2979821" cy="5152176"/>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numCol="1">
            <a:spAutoFit/>
          </a:bodyPr>
          <a:lstStyle>
            <a:lvl1pPr>
              <a:defRPr sz="1600">
                <a:solidFill>
                  <a:srgbClr val="FFFFFF"/>
                </a:solidFill>
                <a:latin typeface="Microsoft YaHei"/>
                <a:ea typeface="Microsoft YaHei"/>
                <a:cs typeface="Microsoft YaHei"/>
                <a:sym typeface="Microsoft YaHei"/>
              </a:defRPr>
            </a:lvl1pPr>
          </a:lstStyle>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路径查找</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图遍历</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图的中心性</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社区检测</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节点相似性</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节点嵌入</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链接预测</a:t>
            </a:r>
            <a:endParaRPr lang="en-US" altLang="zh-CN" sz="2400" b="1" kern="0" dirty="0">
              <a:solidFill>
                <a:schemeClr val="tx1"/>
              </a:solidFill>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3201268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6"/>
          <p:cNvGrpSpPr>
            <a:grpSpLocks/>
          </p:cNvGrpSpPr>
          <p:nvPr/>
        </p:nvGrpSpPr>
        <p:grpSpPr bwMode="auto">
          <a:xfrm>
            <a:off x="2292338" y="1428737"/>
            <a:ext cx="2089151" cy="4537075"/>
            <a:chOff x="-57" y="577"/>
            <a:chExt cx="1929" cy="3311"/>
          </a:xfrm>
        </p:grpSpPr>
        <p:sp>
          <p:nvSpPr>
            <p:cNvPr id="8" name="Arc 37"/>
            <p:cNvSpPr>
              <a:spLocks/>
            </p:cNvSpPr>
            <p:nvPr/>
          </p:nvSpPr>
          <p:spPr bwMode="auto">
            <a:xfrm>
              <a:off x="-56" y="672"/>
              <a:ext cx="1832" cy="3119"/>
            </a:xfrm>
            <a:custGeom>
              <a:avLst/>
              <a:gdLst>
                <a:gd name="T0" fmla="*/ 0 w 21600"/>
                <a:gd name="T1" fmla="*/ 0 h 43174"/>
                <a:gd name="T2" fmla="*/ 0 w 21600"/>
                <a:gd name="T3" fmla="*/ 0 h 43174"/>
                <a:gd name="T4" fmla="*/ 0 w 21600"/>
                <a:gd name="T5" fmla="*/ 0 h 43174"/>
                <a:gd name="T6" fmla="*/ 0 60000 65536"/>
                <a:gd name="T7" fmla="*/ 0 60000 65536"/>
                <a:gd name="T8" fmla="*/ 0 60000 65536"/>
                <a:gd name="T9" fmla="*/ 0 w 21600"/>
                <a:gd name="T10" fmla="*/ 0 h 43174"/>
                <a:gd name="T11" fmla="*/ 21600 w 21600"/>
                <a:gd name="T12" fmla="*/ 43174 h 43174"/>
              </a:gdLst>
              <a:ahLst/>
              <a:cxnLst>
                <a:cxn ang="T6">
                  <a:pos x="T0" y="T1"/>
                </a:cxn>
                <a:cxn ang="T7">
                  <a:pos x="T2" y="T3"/>
                </a:cxn>
                <a:cxn ang="T8">
                  <a:pos x="T4" y="T5"/>
                </a:cxn>
              </a:cxnLst>
              <a:rect l="T9" t="T10" r="T11" b="T12"/>
              <a:pathLst>
                <a:path w="21600" h="43174" fill="none" extrusionOk="0">
                  <a:moveTo>
                    <a:pt x="526" y="0"/>
                  </a:moveTo>
                  <a:cubicBezTo>
                    <a:pt x="12247" y="286"/>
                    <a:pt x="21600" y="9869"/>
                    <a:pt x="21600" y="21594"/>
                  </a:cubicBezTo>
                  <a:cubicBezTo>
                    <a:pt x="21600" y="33162"/>
                    <a:pt x="12485" y="42677"/>
                    <a:pt x="927" y="43174"/>
                  </a:cubicBezTo>
                </a:path>
                <a:path w="21600" h="43174" stroke="0" extrusionOk="0">
                  <a:moveTo>
                    <a:pt x="526" y="0"/>
                  </a:moveTo>
                  <a:cubicBezTo>
                    <a:pt x="12247" y="286"/>
                    <a:pt x="21600" y="9869"/>
                    <a:pt x="21600" y="21594"/>
                  </a:cubicBezTo>
                  <a:cubicBezTo>
                    <a:pt x="21600" y="33162"/>
                    <a:pt x="12485" y="42677"/>
                    <a:pt x="927" y="43174"/>
                  </a:cubicBezTo>
                  <a:lnTo>
                    <a:pt x="0" y="21594"/>
                  </a:lnTo>
                  <a:close/>
                </a:path>
              </a:pathLst>
            </a:custGeom>
            <a:noFill/>
            <a:ln w="76200">
              <a:solidFill>
                <a:srgbClr val="FF6600"/>
              </a:solidFill>
              <a:round/>
              <a:headEnd/>
              <a:tailEnd/>
            </a:ln>
          </p:spPr>
          <p:txBody>
            <a:bodyPr wrap="none" anchor="ctr"/>
            <a:lstStyle/>
            <a:p>
              <a:pPr algn="ctr"/>
              <a:endParaRPr lang="zh-CN" altLang="zh-CN" sz="2400" b="1">
                <a:solidFill>
                  <a:schemeClr val="bg1"/>
                </a:solidFill>
                <a:latin typeface="Times New Roman" pitchFamily="18" charset="0"/>
                <a:ea typeface="楷体_GB2312" pitchFamily="49" charset="-122"/>
              </a:endParaRPr>
            </a:p>
          </p:txBody>
        </p:sp>
        <p:sp>
          <p:nvSpPr>
            <p:cNvPr id="9" name="Arc 38"/>
            <p:cNvSpPr>
              <a:spLocks/>
            </p:cNvSpPr>
            <p:nvPr/>
          </p:nvSpPr>
          <p:spPr bwMode="auto">
            <a:xfrm>
              <a:off x="-57" y="577"/>
              <a:ext cx="1929" cy="3311"/>
            </a:xfrm>
            <a:custGeom>
              <a:avLst/>
              <a:gdLst>
                <a:gd name="T0" fmla="*/ 0 w 21600"/>
                <a:gd name="T1" fmla="*/ 0 h 43180"/>
                <a:gd name="T2" fmla="*/ 0 w 21600"/>
                <a:gd name="T3" fmla="*/ 0 h 43180"/>
                <a:gd name="T4" fmla="*/ 0 w 21600"/>
                <a:gd name="T5" fmla="*/ 0 h 43180"/>
                <a:gd name="T6" fmla="*/ 0 60000 65536"/>
                <a:gd name="T7" fmla="*/ 0 60000 65536"/>
                <a:gd name="T8" fmla="*/ 0 60000 65536"/>
                <a:gd name="T9" fmla="*/ 0 w 21600"/>
                <a:gd name="T10" fmla="*/ 0 h 43180"/>
                <a:gd name="T11" fmla="*/ 21600 w 21600"/>
                <a:gd name="T12" fmla="*/ 43180 h 43180"/>
              </a:gdLst>
              <a:ahLst/>
              <a:cxnLst>
                <a:cxn ang="T6">
                  <a:pos x="T0" y="T1"/>
                </a:cxn>
                <a:cxn ang="T7">
                  <a:pos x="T2" y="T3"/>
                </a:cxn>
                <a:cxn ang="T8">
                  <a:pos x="T4" y="T5"/>
                </a:cxn>
              </a:cxnLst>
              <a:rect l="T9" t="T10" r="T11" b="T12"/>
              <a:pathLst>
                <a:path w="21600" h="43180" fill="none" extrusionOk="0">
                  <a:moveTo>
                    <a:pt x="526" y="0"/>
                  </a:moveTo>
                  <a:cubicBezTo>
                    <a:pt x="12247" y="286"/>
                    <a:pt x="21600" y="9869"/>
                    <a:pt x="21600" y="21594"/>
                  </a:cubicBezTo>
                  <a:cubicBezTo>
                    <a:pt x="21600" y="33223"/>
                    <a:pt x="12392" y="42765"/>
                    <a:pt x="771" y="43180"/>
                  </a:cubicBezTo>
                </a:path>
                <a:path w="21600" h="43180" stroke="0" extrusionOk="0">
                  <a:moveTo>
                    <a:pt x="526" y="0"/>
                  </a:moveTo>
                  <a:cubicBezTo>
                    <a:pt x="12247" y="286"/>
                    <a:pt x="21600" y="9869"/>
                    <a:pt x="21600" y="21594"/>
                  </a:cubicBezTo>
                  <a:cubicBezTo>
                    <a:pt x="21600" y="33223"/>
                    <a:pt x="12392" y="42765"/>
                    <a:pt x="771" y="43180"/>
                  </a:cubicBezTo>
                  <a:lnTo>
                    <a:pt x="0" y="21594"/>
                  </a:lnTo>
                  <a:close/>
                </a:path>
              </a:pathLst>
            </a:custGeom>
            <a:noFill/>
            <a:ln w="25400">
              <a:solidFill>
                <a:srgbClr val="FF9966"/>
              </a:solidFill>
              <a:round/>
              <a:headEnd/>
              <a:tailEnd/>
            </a:ln>
          </p:spPr>
          <p:txBody>
            <a:bodyPr wrap="none" anchor="ctr"/>
            <a:lstStyle/>
            <a:p>
              <a:pPr algn="ctr"/>
              <a:endParaRPr lang="zh-CN" altLang="zh-CN" sz="2400" b="1">
                <a:solidFill>
                  <a:schemeClr val="bg1"/>
                </a:solidFill>
                <a:latin typeface="Times New Roman" pitchFamily="18" charset="0"/>
                <a:ea typeface="楷体_GB2312" pitchFamily="49" charset="-122"/>
              </a:endParaRPr>
            </a:p>
          </p:txBody>
        </p:sp>
      </p:grpSp>
      <p:sp>
        <p:nvSpPr>
          <p:cNvPr id="41986" name="AutoShape 2"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41988" name="AutoShape 4"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42000" name="AutoShape 16"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42002" name="AutoShape 18"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42004" name="AutoShape 20"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42006" name="AutoShape 22" descr="http://read.html5.qq.com/image?src=forum&amp;q=5&amp;r=0&amp;imgflag=7&amp;imageUrl=http://mmbiz.qpic.cn/mmbiz/EQB7yFED1iaTzk42f5AQAZdTRVDG8hXiaGy1QvN0ibxoviajJF5xBvEWDp62OPicbfUAeaaWVulNuDm8Owbficb90cicg/0?wx_fmt=jpeg"/>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pic>
        <p:nvPicPr>
          <p:cNvPr id="52226" name="Picture 2" descr="“the trust machine”的图片搜索结果"/>
          <p:cNvPicPr>
            <a:picLocks noChangeAspect="1" noChangeArrowheads="1"/>
          </p:cNvPicPr>
          <p:nvPr/>
        </p:nvPicPr>
        <p:blipFill>
          <a:blip r:embed="rId2"/>
          <a:srcRect/>
          <a:stretch>
            <a:fillRect/>
          </a:stretch>
        </p:blipFill>
        <p:spPr bwMode="auto">
          <a:xfrm>
            <a:off x="1809721" y="2404918"/>
            <a:ext cx="1928825" cy="1085978"/>
          </a:xfrm>
          <a:prstGeom prst="rect">
            <a:avLst/>
          </a:prstGeom>
          <a:noFill/>
        </p:spPr>
      </p:pic>
      <p:pic>
        <p:nvPicPr>
          <p:cNvPr id="52228" name="Picture 4" descr="“the trust machine”的图片搜索结果"/>
          <p:cNvPicPr>
            <a:picLocks noChangeAspect="1" noChangeArrowheads="1"/>
          </p:cNvPicPr>
          <p:nvPr/>
        </p:nvPicPr>
        <p:blipFill>
          <a:blip r:embed="rId3" cstate="print"/>
          <a:srcRect/>
          <a:stretch>
            <a:fillRect/>
          </a:stretch>
        </p:blipFill>
        <p:spPr bwMode="auto">
          <a:xfrm>
            <a:off x="1809720" y="3857629"/>
            <a:ext cx="1928826" cy="1085978"/>
          </a:xfrm>
          <a:prstGeom prst="rect">
            <a:avLst/>
          </a:prstGeom>
          <a:noFill/>
        </p:spPr>
      </p:pic>
      <p:sp>
        <p:nvSpPr>
          <p:cNvPr id="15" name="标题">
            <a:extLst>
              <a:ext uri="{FF2B5EF4-FFF2-40B4-BE49-F238E27FC236}">
                <a16:creationId xmlns:a16="http://schemas.microsoft.com/office/drawing/2014/main" id="{BC5DCADB-1EC7-4B38-BC8B-02FAB186980D}"/>
              </a:ext>
            </a:extLst>
          </p:cNvPr>
          <p:cNvSpPr/>
          <p:nvPr/>
        </p:nvSpPr>
        <p:spPr>
          <a:xfrm>
            <a:off x="3748296" y="933453"/>
            <a:ext cx="6884208" cy="646327"/>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lvl1pPr>
              <a:defRPr sz="2000">
                <a:solidFill>
                  <a:srgbClr val="FFFFFF"/>
                </a:solidFill>
                <a:latin typeface="Microsoft YaHei"/>
                <a:ea typeface="Microsoft YaHei"/>
                <a:cs typeface="Microsoft YaHei"/>
                <a:sym typeface="Microsoft YaHei"/>
              </a:defRPr>
            </a:lvl1pPr>
          </a:lstStyle>
          <a:p>
            <a:pPr algn="ctr"/>
            <a:r>
              <a:rPr lang="zh-CN" altLang="en-US" sz="3600" dirty="0">
                <a:solidFill>
                  <a:schemeClr val="tx1"/>
                </a:solidFill>
                <a:latin typeface="黑体" panose="02010609060101010101" pitchFamily="49" charset="-122"/>
                <a:ea typeface="黑体" panose="02010609060101010101" pitchFamily="49" charset="-122"/>
              </a:rPr>
              <a:t>实验</a:t>
            </a:r>
            <a:r>
              <a:rPr lang="en-US" altLang="zh-CN" sz="3600" dirty="0">
                <a:solidFill>
                  <a:schemeClr val="tx1"/>
                </a:solidFill>
                <a:latin typeface="黑体" panose="02010609060101010101" pitchFamily="49" charset="-122"/>
                <a:ea typeface="黑体" panose="02010609060101010101" pitchFamily="49" charset="-122"/>
              </a:rPr>
              <a:t>2-</a:t>
            </a:r>
            <a:r>
              <a:rPr lang="zh-CN" altLang="en-US" sz="3600" dirty="0">
                <a:solidFill>
                  <a:schemeClr val="tx1"/>
                </a:solidFill>
                <a:latin typeface="黑体" panose="02010609060101010101" pitchFamily="49" charset="-122"/>
                <a:ea typeface="黑体" panose="02010609060101010101" pitchFamily="49" charset="-122"/>
              </a:rPr>
              <a:t>图查询与图算法</a:t>
            </a:r>
            <a:endParaRPr sz="3600" dirty="0">
              <a:solidFill>
                <a:schemeClr val="tx1"/>
              </a:solidFill>
              <a:latin typeface="黑体" panose="02010609060101010101" pitchFamily="49" charset="-122"/>
              <a:ea typeface="黑体" panose="02010609060101010101" pitchFamily="49" charset="-122"/>
            </a:endParaRPr>
          </a:p>
        </p:txBody>
      </p:sp>
      <p:sp>
        <p:nvSpPr>
          <p:cNvPr id="16" name="标题">
            <a:extLst>
              <a:ext uri="{FF2B5EF4-FFF2-40B4-BE49-F238E27FC236}">
                <a16:creationId xmlns:a16="http://schemas.microsoft.com/office/drawing/2014/main" id="{E13C425C-84F4-457C-842D-EE74EEDEA997}"/>
              </a:ext>
            </a:extLst>
          </p:cNvPr>
          <p:cNvSpPr/>
          <p:nvPr/>
        </p:nvSpPr>
        <p:spPr>
          <a:xfrm>
            <a:off x="4864106" y="1916832"/>
            <a:ext cx="5577154" cy="2917718"/>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numCol="1">
            <a:spAutoFit/>
          </a:bodyPr>
          <a:lstStyle>
            <a:lvl1pPr>
              <a:defRPr sz="1600">
                <a:solidFill>
                  <a:srgbClr val="FFFFFF"/>
                </a:solidFill>
                <a:latin typeface="Microsoft YaHei"/>
                <a:ea typeface="Microsoft YaHei"/>
                <a:cs typeface="Microsoft YaHei"/>
                <a:sym typeface="Microsoft YaHei"/>
              </a:defRPr>
            </a:lvl1pPr>
          </a:lstStyle>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2"/>
                </a:solidFill>
                <a:latin typeface="SimHei" panose="02010609060101010101" pitchFamily="49" charset="-122"/>
                <a:ea typeface="SimHei" panose="02010609060101010101" pitchFamily="49" charset="-122"/>
              </a:rPr>
              <a:t>建模与数据导入</a:t>
            </a:r>
            <a:endParaRPr lang="en-US" altLang="zh-CN" sz="2400" b="1" kern="0" dirty="0">
              <a:solidFill>
                <a:schemeClr val="tx2"/>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en-US" altLang="zh-CN" sz="2400" b="1" kern="0" dirty="0">
                <a:solidFill>
                  <a:schemeClr val="tx2"/>
                </a:solidFill>
                <a:latin typeface="SimHei" panose="02010609060101010101" pitchFamily="49" charset="-122"/>
                <a:ea typeface="SimHei" panose="02010609060101010101" pitchFamily="49" charset="-122"/>
              </a:rPr>
              <a:t>Cypher</a:t>
            </a:r>
            <a:r>
              <a:rPr lang="zh-CN" altLang="en-US" sz="2400" b="1" kern="0" dirty="0">
                <a:solidFill>
                  <a:schemeClr val="tx2"/>
                </a:solidFill>
                <a:latin typeface="SimHei" panose="02010609060101010101" pitchFamily="49" charset="-122"/>
                <a:ea typeface="SimHei" panose="02010609060101010101" pitchFamily="49" charset="-122"/>
              </a:rPr>
              <a:t>语言</a:t>
            </a:r>
            <a:endParaRPr lang="en-US" altLang="zh-CN" sz="2400" b="1" kern="0" dirty="0">
              <a:solidFill>
                <a:schemeClr val="tx2"/>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2"/>
                </a:solidFill>
                <a:latin typeface="SimHei" panose="02010609060101010101" pitchFamily="49" charset="-122"/>
                <a:ea typeface="SimHei" panose="02010609060101010101" pitchFamily="49" charset="-122"/>
              </a:rPr>
              <a:t>增删改查</a:t>
            </a:r>
            <a:endParaRPr lang="en-US" altLang="zh-CN" sz="2400" b="1" kern="0" dirty="0">
              <a:solidFill>
                <a:schemeClr val="tx2"/>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2"/>
                </a:solidFill>
                <a:latin typeface="SimHei" panose="02010609060101010101" pitchFamily="49" charset="-122"/>
                <a:ea typeface="SimHei" panose="02010609060101010101" pitchFamily="49" charset="-122"/>
              </a:rPr>
              <a:t>聚合查询</a:t>
            </a:r>
            <a:endParaRPr lang="en-US" altLang="zh-CN" sz="2400" b="1" kern="0" dirty="0">
              <a:solidFill>
                <a:schemeClr val="tx2"/>
              </a:solidFill>
              <a:latin typeface="SimHei" panose="02010609060101010101" pitchFamily="49" charset="-122"/>
              <a:ea typeface="SimHei" panose="02010609060101010101" pitchFamily="49" charset="-122"/>
            </a:endParaRPr>
          </a:p>
        </p:txBody>
      </p:sp>
      <p:sp>
        <p:nvSpPr>
          <p:cNvPr id="17" name="标题">
            <a:extLst>
              <a:ext uri="{FF2B5EF4-FFF2-40B4-BE49-F238E27FC236}">
                <a16:creationId xmlns:a16="http://schemas.microsoft.com/office/drawing/2014/main" id="{E13C425C-84F4-457C-842D-EE74EEDEA997}"/>
              </a:ext>
            </a:extLst>
          </p:cNvPr>
          <p:cNvSpPr/>
          <p:nvPr/>
        </p:nvSpPr>
        <p:spPr>
          <a:xfrm>
            <a:off x="8135300" y="1579780"/>
            <a:ext cx="2979821" cy="5152176"/>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numCol="1">
            <a:spAutoFit/>
          </a:bodyPr>
          <a:lstStyle>
            <a:lvl1pPr>
              <a:defRPr sz="1600">
                <a:solidFill>
                  <a:srgbClr val="FFFFFF"/>
                </a:solidFill>
                <a:latin typeface="Microsoft YaHei"/>
                <a:ea typeface="Microsoft YaHei"/>
                <a:cs typeface="Microsoft YaHei"/>
                <a:sym typeface="Microsoft YaHei"/>
              </a:defRPr>
            </a:lvl1pPr>
          </a:lstStyle>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路径查找</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图遍历</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图的中心性</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社区检测</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节点相似性</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节点嵌入</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链接预测</a:t>
            </a:r>
            <a:endParaRPr lang="en-US" altLang="zh-CN" sz="2400" b="1" kern="0" dirty="0">
              <a:solidFill>
                <a:schemeClr val="tx1"/>
              </a:solidFill>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750167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图基础</a:t>
            </a:r>
          </a:p>
        </p:txBody>
      </p:sp>
      <p:sp>
        <p:nvSpPr>
          <p:cNvPr id="5" name="内容占位符 2">
            <a:extLst>
              <a:ext uri="{FF2B5EF4-FFF2-40B4-BE49-F238E27FC236}">
                <a16:creationId xmlns:a16="http://schemas.microsoft.com/office/drawing/2014/main" id="{99B6D816-F906-EBB7-362A-3CB507BDDE33}"/>
              </a:ext>
            </a:extLst>
          </p:cNvPr>
          <p:cNvSpPr txBox="1">
            <a:spLocks/>
          </p:cNvSpPr>
          <p:nvPr/>
        </p:nvSpPr>
        <p:spPr bwMode="auto">
          <a:xfrm>
            <a:off x="1043222" y="1253490"/>
            <a:ext cx="10084470" cy="548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en-US" altLang="zh-CN" sz="2000" dirty="0" err="1"/>
              <a:t>TuGraph</a:t>
            </a:r>
            <a:r>
              <a:rPr lang="zh-CN" altLang="en-US" sz="2000" dirty="0"/>
              <a:t>采用属性图模型。图模型是对事物及其关联关系的建模，由</a:t>
            </a:r>
          </a:p>
          <a:p>
            <a:pPr eaLnBrk="1" hangingPunct="1">
              <a:lnSpc>
                <a:spcPct val="150000"/>
              </a:lnSpc>
              <a:spcBef>
                <a:spcPts val="0"/>
              </a:spcBef>
              <a:spcAft>
                <a:spcPts val="0"/>
              </a:spcAft>
            </a:pPr>
            <a:endParaRPr lang="zh-CN" altLang="en-US" sz="2000" dirty="0"/>
          </a:p>
          <a:p>
            <a:pPr eaLnBrk="1" hangingPunct="1">
              <a:lnSpc>
                <a:spcPct val="150000"/>
              </a:lnSpc>
              <a:spcBef>
                <a:spcPts val="0"/>
              </a:spcBef>
              <a:spcAft>
                <a:spcPts val="0"/>
              </a:spcAft>
            </a:pPr>
            <a:r>
              <a:rPr lang="zh-CN" altLang="en-US" sz="2000" dirty="0"/>
              <a:t>顶点（</a:t>
            </a:r>
            <a:r>
              <a:rPr lang="en-US" altLang="zh-CN" sz="2000" dirty="0"/>
              <a:t>vertices/nodes</a:t>
            </a:r>
            <a:r>
              <a:rPr lang="zh-CN" altLang="en-US" sz="2000" dirty="0"/>
              <a:t>）</a:t>
            </a:r>
          </a:p>
          <a:p>
            <a:pPr eaLnBrk="1" hangingPunct="1">
              <a:lnSpc>
                <a:spcPct val="150000"/>
              </a:lnSpc>
              <a:spcBef>
                <a:spcPts val="0"/>
              </a:spcBef>
              <a:spcAft>
                <a:spcPts val="0"/>
              </a:spcAft>
            </a:pPr>
            <a:r>
              <a:rPr lang="zh-CN" altLang="en-US" sz="2000" dirty="0"/>
              <a:t>边（</a:t>
            </a:r>
            <a:r>
              <a:rPr lang="en-US" altLang="zh-CN" sz="2000" dirty="0"/>
              <a:t>edges/relationships</a:t>
            </a:r>
            <a:r>
              <a:rPr lang="zh-CN" altLang="en-US" sz="2000" dirty="0"/>
              <a:t>）</a:t>
            </a:r>
          </a:p>
          <a:p>
            <a:pPr eaLnBrk="1" hangingPunct="1">
              <a:lnSpc>
                <a:spcPct val="150000"/>
              </a:lnSpc>
              <a:spcBef>
                <a:spcPts val="0"/>
              </a:spcBef>
              <a:spcAft>
                <a:spcPts val="0"/>
              </a:spcAft>
            </a:pPr>
            <a:r>
              <a:rPr lang="zh-CN" altLang="en-US" sz="2000" dirty="0"/>
              <a:t>属性（</a:t>
            </a:r>
            <a:r>
              <a:rPr lang="en-US" altLang="zh-CN" sz="2000" dirty="0"/>
              <a:t>property</a:t>
            </a:r>
            <a:r>
              <a:rPr lang="zh-CN" altLang="en-US" sz="2000" dirty="0"/>
              <a:t>）</a:t>
            </a:r>
            <a:endParaRPr lang="en-US" altLang="zh-CN" sz="2000" dirty="0"/>
          </a:p>
          <a:p>
            <a:pPr eaLnBrk="1" hangingPunct="1">
              <a:lnSpc>
                <a:spcPct val="150000"/>
              </a:lnSpc>
              <a:spcBef>
                <a:spcPts val="0"/>
              </a:spcBef>
              <a:spcAft>
                <a:spcPts val="0"/>
              </a:spcAft>
            </a:pPr>
            <a:endParaRPr lang="en-US" altLang="zh-CN" sz="2000" dirty="0"/>
          </a:p>
          <a:p>
            <a:pPr marL="0" indent="0" eaLnBrk="1" hangingPunct="1">
              <a:lnSpc>
                <a:spcPct val="150000"/>
              </a:lnSpc>
              <a:spcBef>
                <a:spcPts val="0"/>
              </a:spcBef>
              <a:spcAft>
                <a:spcPts val="0"/>
              </a:spcAft>
              <a:buNone/>
            </a:pPr>
            <a:r>
              <a:rPr lang="zh-CN" altLang="en-US" sz="2000" dirty="0"/>
              <a:t>组成</a:t>
            </a:r>
            <a:endParaRPr lang="en-US" altLang="zh-CN" sz="2000" dirty="0"/>
          </a:p>
          <a:p>
            <a:pPr marL="0" indent="0" eaLnBrk="1" hangingPunct="1">
              <a:lnSpc>
                <a:spcPct val="150000"/>
              </a:lnSpc>
              <a:spcBef>
                <a:spcPts val="0"/>
              </a:spcBef>
              <a:spcAft>
                <a:spcPts val="0"/>
              </a:spcAft>
              <a:buNone/>
            </a:pPr>
            <a:endParaRPr lang="en-US" altLang="zh-CN" sz="2000" dirty="0"/>
          </a:p>
          <a:p>
            <a:pPr eaLnBrk="1" hangingPunct="1">
              <a:lnSpc>
                <a:spcPct val="150000"/>
              </a:lnSpc>
              <a:spcBef>
                <a:spcPts val="0"/>
              </a:spcBef>
              <a:spcAft>
                <a:spcPts val="0"/>
              </a:spcAft>
            </a:pPr>
            <a:r>
              <a:rPr lang="zh-CN" altLang="en-US" sz="2000" dirty="0"/>
              <a:t>参考资料：</a:t>
            </a:r>
            <a:r>
              <a:rPr lang="en-US" altLang="zh-CN" sz="2000" dirty="0"/>
              <a:t>https://blog.csdn.net/cacique111/article/details/126842771</a:t>
            </a:r>
          </a:p>
          <a:p>
            <a:pPr eaLnBrk="1" hangingPunct="1">
              <a:lnSpc>
                <a:spcPct val="150000"/>
              </a:lnSpc>
              <a:spcBef>
                <a:spcPts val="0"/>
              </a:spcBef>
              <a:spcAft>
                <a:spcPts val="0"/>
              </a:spcAft>
            </a:pPr>
            <a:endParaRPr lang="zh-CN" altLang="en-US" sz="2000" dirty="0"/>
          </a:p>
          <a:p>
            <a:pPr marL="0" indent="0" eaLnBrk="1" hangingPunct="1">
              <a:lnSpc>
                <a:spcPct val="150000"/>
              </a:lnSpc>
              <a:spcBef>
                <a:spcPts val="0"/>
              </a:spcBef>
              <a:spcAft>
                <a:spcPts val="0"/>
              </a:spcAft>
              <a:buNone/>
            </a:pPr>
            <a:endParaRPr lang="en-US" altLang="zh-CN" sz="2000" dirty="0"/>
          </a:p>
        </p:txBody>
      </p:sp>
    </p:spTree>
    <p:extLst>
      <p:ext uri="{BB962C8B-B14F-4D97-AF65-F5344CB8AC3E}">
        <p14:creationId xmlns:p14="http://schemas.microsoft.com/office/powerpoint/2010/main" val="3747595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示例</a:t>
            </a:r>
            <a:r>
              <a:rPr lang="en-US" altLang="zh-CN" dirty="0" err="1"/>
              <a:t>yago</a:t>
            </a:r>
            <a:endParaRPr lang="zh-CN" altLang="en-US" dirty="0"/>
          </a:p>
        </p:txBody>
      </p:sp>
      <p:pic>
        <p:nvPicPr>
          <p:cNvPr id="2051" name="Picture 3" descr="在这里插入图片描述"/>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9496" y="1412776"/>
            <a:ext cx="8001000" cy="495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8475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示例</a:t>
            </a:r>
            <a:r>
              <a:rPr lang="en-US" altLang="zh-CN" dirty="0" err="1"/>
              <a:t>yago</a:t>
            </a:r>
            <a:endParaRPr lang="zh-CN" altLang="en-US" dirty="0"/>
          </a:p>
        </p:txBody>
      </p:sp>
      <p:sp>
        <p:nvSpPr>
          <p:cNvPr id="4" name="内容占位符 2">
            <a:extLst>
              <a:ext uri="{FF2B5EF4-FFF2-40B4-BE49-F238E27FC236}">
                <a16:creationId xmlns:a16="http://schemas.microsoft.com/office/drawing/2014/main" id="{99B6D816-F906-EBB7-362A-3CB507BDDE33}"/>
              </a:ext>
            </a:extLst>
          </p:cNvPr>
          <p:cNvSpPr txBox="1">
            <a:spLocks/>
          </p:cNvSpPr>
          <p:nvPr/>
        </p:nvSpPr>
        <p:spPr bwMode="auto">
          <a:xfrm>
            <a:off x="263351" y="963909"/>
            <a:ext cx="11665296" cy="548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en-US" altLang="zh-CN" sz="2000" dirty="0" err="1">
                <a:latin typeface="SimSun" panose="02010600030101010101" pitchFamily="2" charset="-122"/>
                <a:ea typeface="SimSun" panose="02010600030101010101" pitchFamily="2" charset="-122"/>
                <a:cs typeface="Times New Roman" pitchFamily="18" charset="0"/>
              </a:rPr>
              <a:t>yago</a:t>
            </a:r>
            <a:r>
              <a:rPr lang="zh-CN" altLang="en-US" sz="2000" dirty="0">
                <a:latin typeface="SimSun" panose="02010600030101010101" pitchFamily="2" charset="-122"/>
                <a:ea typeface="SimSun" panose="02010600030101010101" pitchFamily="2" charset="-122"/>
                <a:cs typeface="Times New Roman" pitchFamily="18" charset="0"/>
              </a:rPr>
              <a:t>数据共包含</a:t>
            </a:r>
            <a:r>
              <a:rPr lang="en-US" altLang="zh-CN" sz="2000" dirty="0">
                <a:latin typeface="SimSun" panose="02010600030101010101" pitchFamily="2" charset="-122"/>
                <a:ea typeface="SimSun" panose="02010600030101010101" pitchFamily="2" charset="-122"/>
                <a:cs typeface="Times New Roman" pitchFamily="18" charset="0"/>
              </a:rPr>
              <a:t>5</a:t>
            </a:r>
            <a:r>
              <a:rPr lang="zh-CN" altLang="en-US" sz="2000" dirty="0">
                <a:latin typeface="SimSun" panose="02010600030101010101" pitchFamily="2" charset="-122"/>
                <a:ea typeface="SimSun" panose="02010600030101010101" pitchFamily="2" charset="-122"/>
                <a:cs typeface="Times New Roman" pitchFamily="18" charset="0"/>
              </a:rPr>
              <a:t>种顶点，</a:t>
            </a:r>
            <a:r>
              <a:rPr lang="en-US" altLang="zh-CN" sz="2000" dirty="0">
                <a:latin typeface="SimSun" panose="02010600030101010101" pitchFamily="2" charset="-122"/>
                <a:ea typeface="SimSun" panose="02010600030101010101" pitchFamily="2" charset="-122"/>
                <a:cs typeface="Times New Roman" pitchFamily="18" charset="0"/>
              </a:rPr>
              <a:t>8</a:t>
            </a:r>
            <a:r>
              <a:rPr lang="zh-CN" altLang="en-US" sz="2000" dirty="0">
                <a:latin typeface="SimSun" panose="02010600030101010101" pitchFamily="2" charset="-122"/>
                <a:ea typeface="SimSun" panose="02010600030101010101" pitchFamily="2" charset="-122"/>
                <a:cs typeface="Times New Roman" pitchFamily="18" charset="0"/>
              </a:rPr>
              <a:t>种边，共同描述电影和演员的基本关系，以及用户对电影的评分。</a:t>
            </a:r>
            <a:endParaRPr lang="en-US" altLang="zh-CN" sz="2000" dirty="0">
              <a:latin typeface="SimSun" panose="02010600030101010101" pitchFamily="2" charset="-122"/>
              <a:ea typeface="SimSun" panose="02010600030101010101" pitchFamily="2" charset="-122"/>
              <a:cs typeface="Times New Roman" pitchFamily="18" charset="0"/>
            </a:endParaRPr>
          </a:p>
          <a:p>
            <a:pPr marL="0" indent="0" eaLnBrk="1" hangingPunct="1">
              <a:lnSpc>
                <a:spcPct val="150000"/>
              </a:lnSpc>
              <a:spcBef>
                <a:spcPts val="0"/>
              </a:spcBef>
              <a:spcAft>
                <a:spcPts val="0"/>
              </a:spcAft>
              <a:buNone/>
            </a:pPr>
            <a:endParaRPr lang="en-US" altLang="zh-CN" sz="2000" dirty="0">
              <a:latin typeface="SimSun" panose="02010600030101010101" pitchFamily="2" charset="-122"/>
              <a:ea typeface="SimSun" panose="02010600030101010101" pitchFamily="2" charset="-122"/>
              <a:cs typeface="Times New Roman" pitchFamily="18" charset="0"/>
            </a:endParaRPr>
          </a:p>
        </p:txBody>
      </p:sp>
      <p:graphicFrame>
        <p:nvGraphicFramePr>
          <p:cNvPr id="6" name="表格 5"/>
          <p:cNvGraphicFramePr>
            <a:graphicFrameLocks noGrp="1"/>
          </p:cNvGraphicFramePr>
          <p:nvPr>
            <p:extLst/>
          </p:nvPr>
        </p:nvGraphicFramePr>
        <p:xfrm>
          <a:off x="695398" y="1324155"/>
          <a:ext cx="10801201" cy="5547360"/>
        </p:xfrm>
        <a:graphic>
          <a:graphicData uri="http://schemas.openxmlformats.org/drawingml/2006/table">
            <a:tbl>
              <a:tblPr firstRow="1" bandRow="1">
                <a:tableStyleId>{5C22544A-7EE6-4342-B048-85BDC9FD1C3A}</a:tableStyleId>
              </a:tblPr>
              <a:tblGrid>
                <a:gridCol w="1728192">
                  <a:extLst>
                    <a:ext uri="{9D8B030D-6E8A-4147-A177-3AD203B41FA5}">
                      <a16:colId xmlns:a16="http://schemas.microsoft.com/office/drawing/2014/main" val="2237709163"/>
                    </a:ext>
                  </a:extLst>
                </a:gridCol>
                <a:gridCol w="1296144">
                  <a:extLst>
                    <a:ext uri="{9D8B030D-6E8A-4147-A177-3AD203B41FA5}">
                      <a16:colId xmlns:a16="http://schemas.microsoft.com/office/drawing/2014/main" val="3402675444"/>
                    </a:ext>
                  </a:extLst>
                </a:gridCol>
                <a:gridCol w="7776865">
                  <a:extLst>
                    <a:ext uri="{9D8B030D-6E8A-4147-A177-3AD203B41FA5}">
                      <a16:colId xmlns:a16="http://schemas.microsoft.com/office/drawing/2014/main" val="2380435678"/>
                    </a:ext>
                  </a:extLst>
                </a:gridCol>
              </a:tblGrid>
              <a:tr h="370840">
                <a:tc>
                  <a:txBody>
                    <a:bodyPr/>
                    <a:lstStyle/>
                    <a:p>
                      <a:pPr fontAlgn="ctr" latinLnBrk="0"/>
                      <a:r>
                        <a:rPr lang="zh-CN" altLang="en-US" b="1" dirty="0">
                          <a:solidFill>
                            <a:srgbClr val="4F4F4F"/>
                          </a:solidFill>
                          <a:effectLst/>
                        </a:rPr>
                        <a:t>标签</a:t>
                      </a:r>
                    </a:p>
                  </a:txBody>
                  <a:tcPr marL="76200" marR="76200" marT="76200" marB="76200" anchor="ctr"/>
                </a:tc>
                <a:tc>
                  <a:txBody>
                    <a:bodyPr/>
                    <a:lstStyle/>
                    <a:p>
                      <a:pPr fontAlgn="ctr" latinLnBrk="0"/>
                      <a:r>
                        <a:rPr lang="zh-CN" altLang="en-US" b="1" dirty="0">
                          <a:solidFill>
                            <a:srgbClr val="4F4F4F"/>
                          </a:solidFill>
                          <a:effectLst/>
                        </a:rPr>
                        <a:t>类型</a:t>
                      </a:r>
                    </a:p>
                  </a:txBody>
                  <a:tcPr marL="76200" marR="76200" marT="76200" marB="76200" anchor="ctr"/>
                </a:tc>
                <a:tc>
                  <a:txBody>
                    <a:bodyPr/>
                    <a:lstStyle/>
                    <a:p>
                      <a:pPr fontAlgn="ctr" latinLnBrk="0"/>
                      <a:r>
                        <a:rPr lang="zh-CN" altLang="en-US" b="1" dirty="0">
                          <a:solidFill>
                            <a:srgbClr val="4F4F4F"/>
                          </a:solidFill>
                          <a:effectLst/>
                        </a:rPr>
                        <a:t>说明</a:t>
                      </a:r>
                    </a:p>
                  </a:txBody>
                  <a:tcPr marL="76200" marR="76200" marT="76200" marB="76200" anchor="ctr"/>
                </a:tc>
                <a:extLst>
                  <a:ext uri="{0D108BD9-81ED-4DB2-BD59-A6C34878D82A}">
                    <a16:rowId xmlns:a16="http://schemas.microsoft.com/office/drawing/2014/main" val="3694646697"/>
                  </a:ext>
                </a:extLst>
              </a:tr>
              <a:tr h="370840">
                <a:tc>
                  <a:txBody>
                    <a:bodyPr/>
                    <a:lstStyle/>
                    <a:p>
                      <a:pPr fontAlgn="ctr" latinLnBrk="0"/>
                      <a:r>
                        <a:rPr lang="en-US" b="0">
                          <a:solidFill>
                            <a:srgbClr val="4F4F4F"/>
                          </a:solidFill>
                          <a:effectLst/>
                        </a:rPr>
                        <a:t>movie</a:t>
                      </a:r>
                    </a:p>
                  </a:txBody>
                  <a:tcPr marL="76200" marR="76200" marT="76200" marB="76200" anchor="ctr"/>
                </a:tc>
                <a:tc>
                  <a:txBody>
                    <a:bodyPr/>
                    <a:lstStyle/>
                    <a:p>
                      <a:pPr fontAlgn="ctr" latinLnBrk="0"/>
                      <a:r>
                        <a:rPr lang="zh-CN" altLang="en-US" b="0">
                          <a:solidFill>
                            <a:srgbClr val="4F4F4F"/>
                          </a:solidFill>
                          <a:effectLst/>
                        </a:rPr>
                        <a:t>实体</a:t>
                      </a:r>
                    </a:p>
                  </a:txBody>
                  <a:tcPr marL="76200" marR="76200" marT="76200" marB="76200" anchor="ctr"/>
                </a:tc>
                <a:tc>
                  <a:txBody>
                    <a:bodyPr/>
                    <a:lstStyle/>
                    <a:p>
                      <a:pPr fontAlgn="ctr" latinLnBrk="0"/>
                      <a:r>
                        <a:rPr lang="zh-CN" altLang="en-US" b="0" dirty="0">
                          <a:solidFill>
                            <a:srgbClr val="4F4F4F"/>
                          </a:solidFill>
                          <a:effectLst/>
                        </a:rPr>
                        <a:t>表示某一部具体的影片，比如</a:t>
                      </a:r>
                      <a:r>
                        <a:rPr lang="en-US" altLang="zh-CN" b="0" dirty="0">
                          <a:solidFill>
                            <a:srgbClr val="4F4F4F"/>
                          </a:solidFill>
                          <a:effectLst/>
                        </a:rPr>
                        <a:t>"</a:t>
                      </a:r>
                      <a:r>
                        <a:rPr lang="zh-CN" altLang="en-US" b="0" dirty="0">
                          <a:solidFill>
                            <a:srgbClr val="4F4F4F"/>
                          </a:solidFill>
                          <a:effectLst/>
                        </a:rPr>
                        <a:t>阿甘正传</a:t>
                      </a:r>
                      <a:r>
                        <a:rPr lang="en-US" altLang="zh-CN" b="0" dirty="0">
                          <a:solidFill>
                            <a:srgbClr val="4F4F4F"/>
                          </a:solidFill>
                          <a:effectLst/>
                        </a:rPr>
                        <a:t>"</a:t>
                      </a:r>
                      <a:r>
                        <a:rPr lang="zh-CN" altLang="en-US" b="0" dirty="0">
                          <a:solidFill>
                            <a:srgbClr val="4F4F4F"/>
                          </a:solidFill>
                          <a:effectLst/>
                        </a:rPr>
                        <a:t>。</a:t>
                      </a:r>
                    </a:p>
                  </a:txBody>
                  <a:tcPr marL="76200" marR="76200" marT="76200" marB="76200" anchor="ctr"/>
                </a:tc>
                <a:extLst>
                  <a:ext uri="{0D108BD9-81ED-4DB2-BD59-A6C34878D82A}">
                    <a16:rowId xmlns:a16="http://schemas.microsoft.com/office/drawing/2014/main" val="454998564"/>
                  </a:ext>
                </a:extLst>
              </a:tr>
              <a:tr h="370840">
                <a:tc>
                  <a:txBody>
                    <a:bodyPr/>
                    <a:lstStyle/>
                    <a:p>
                      <a:pPr fontAlgn="ctr" latinLnBrk="0"/>
                      <a:r>
                        <a:rPr lang="en-US" b="0" dirty="0">
                          <a:solidFill>
                            <a:srgbClr val="4F4F4F"/>
                          </a:solidFill>
                          <a:effectLst/>
                        </a:rPr>
                        <a:t>person</a:t>
                      </a:r>
                    </a:p>
                  </a:txBody>
                  <a:tcPr marL="76200" marR="76200" marT="76200" marB="76200" anchor="ctr"/>
                </a:tc>
                <a:tc>
                  <a:txBody>
                    <a:bodyPr/>
                    <a:lstStyle/>
                    <a:p>
                      <a:pPr fontAlgn="ctr" latinLnBrk="0"/>
                      <a:r>
                        <a:rPr lang="zh-CN" altLang="en-US" b="0">
                          <a:solidFill>
                            <a:srgbClr val="4F4F4F"/>
                          </a:solidFill>
                          <a:effectLst/>
                        </a:rPr>
                        <a:t>实体</a:t>
                      </a:r>
                    </a:p>
                  </a:txBody>
                  <a:tcPr marL="76200" marR="76200" marT="76200" marB="76200" anchor="ctr"/>
                </a:tc>
                <a:tc>
                  <a:txBody>
                    <a:bodyPr/>
                    <a:lstStyle/>
                    <a:p>
                      <a:pPr fontAlgn="ctr" latinLnBrk="0"/>
                      <a:r>
                        <a:rPr lang="zh-CN" altLang="en-US" b="0" dirty="0">
                          <a:solidFill>
                            <a:srgbClr val="4F4F4F"/>
                          </a:solidFill>
                          <a:effectLst/>
                        </a:rPr>
                        <a:t>表示个人，对影片来说可能是演员、导演，或编剧。</a:t>
                      </a:r>
                    </a:p>
                  </a:txBody>
                  <a:tcPr marL="76200" marR="76200" marT="76200" marB="76200" anchor="ctr"/>
                </a:tc>
                <a:extLst>
                  <a:ext uri="{0D108BD9-81ED-4DB2-BD59-A6C34878D82A}">
                    <a16:rowId xmlns:a16="http://schemas.microsoft.com/office/drawing/2014/main" val="1585675515"/>
                  </a:ext>
                </a:extLst>
              </a:tr>
              <a:tr h="370840">
                <a:tc>
                  <a:txBody>
                    <a:bodyPr/>
                    <a:lstStyle/>
                    <a:p>
                      <a:pPr fontAlgn="ctr" latinLnBrk="0"/>
                      <a:r>
                        <a:rPr lang="en-US" b="0" dirty="0">
                          <a:solidFill>
                            <a:srgbClr val="4F4F4F"/>
                          </a:solidFill>
                          <a:effectLst/>
                        </a:rPr>
                        <a:t>genre</a:t>
                      </a:r>
                    </a:p>
                  </a:txBody>
                  <a:tcPr marL="76200" marR="76200" marT="76200" marB="76200" anchor="ctr"/>
                </a:tc>
                <a:tc>
                  <a:txBody>
                    <a:bodyPr/>
                    <a:lstStyle/>
                    <a:p>
                      <a:pPr fontAlgn="ctr" latinLnBrk="0"/>
                      <a:r>
                        <a:rPr lang="zh-CN" altLang="en-US" b="0">
                          <a:solidFill>
                            <a:srgbClr val="4F4F4F"/>
                          </a:solidFill>
                          <a:effectLst/>
                        </a:rPr>
                        <a:t>实体</a:t>
                      </a:r>
                    </a:p>
                  </a:txBody>
                  <a:tcPr marL="76200" marR="76200" marT="76200" marB="76200" anchor="ctr"/>
                </a:tc>
                <a:tc>
                  <a:txBody>
                    <a:bodyPr/>
                    <a:lstStyle/>
                    <a:p>
                      <a:pPr fontAlgn="ctr" latinLnBrk="0"/>
                      <a:r>
                        <a:rPr lang="zh-CN" altLang="en-US" b="0" dirty="0">
                          <a:solidFill>
                            <a:srgbClr val="4F4F4F"/>
                          </a:solidFill>
                          <a:effectLst/>
                        </a:rPr>
                        <a:t>表示影片的类型，比如剧情片、恐怖片。</a:t>
                      </a:r>
                    </a:p>
                  </a:txBody>
                  <a:tcPr marL="76200" marR="76200" marT="76200" marB="76200" anchor="ctr"/>
                </a:tc>
                <a:extLst>
                  <a:ext uri="{0D108BD9-81ED-4DB2-BD59-A6C34878D82A}">
                    <a16:rowId xmlns:a16="http://schemas.microsoft.com/office/drawing/2014/main" val="2400770336"/>
                  </a:ext>
                </a:extLst>
              </a:tr>
              <a:tr h="370840">
                <a:tc>
                  <a:txBody>
                    <a:bodyPr/>
                    <a:lstStyle/>
                    <a:p>
                      <a:pPr fontAlgn="ctr" latinLnBrk="0"/>
                      <a:r>
                        <a:rPr lang="en-US" b="0" dirty="0">
                          <a:solidFill>
                            <a:srgbClr val="4F4F4F"/>
                          </a:solidFill>
                          <a:effectLst/>
                        </a:rPr>
                        <a:t>keyword</a:t>
                      </a:r>
                    </a:p>
                  </a:txBody>
                  <a:tcPr marL="76200" marR="76200" marT="76200" marB="76200" anchor="ctr"/>
                </a:tc>
                <a:tc>
                  <a:txBody>
                    <a:bodyPr/>
                    <a:lstStyle/>
                    <a:p>
                      <a:pPr fontAlgn="ctr" latinLnBrk="0"/>
                      <a:r>
                        <a:rPr lang="zh-CN" altLang="en-US" b="0">
                          <a:solidFill>
                            <a:srgbClr val="4F4F4F"/>
                          </a:solidFill>
                          <a:effectLst/>
                        </a:rPr>
                        <a:t>实体</a:t>
                      </a:r>
                    </a:p>
                  </a:txBody>
                  <a:tcPr marL="76200" marR="76200" marT="76200" marB="76200" anchor="ctr"/>
                </a:tc>
                <a:tc>
                  <a:txBody>
                    <a:bodyPr/>
                    <a:lstStyle/>
                    <a:p>
                      <a:pPr fontAlgn="ctr" latinLnBrk="0"/>
                      <a:r>
                        <a:rPr lang="zh-CN" altLang="en-US" b="0" dirty="0">
                          <a:solidFill>
                            <a:srgbClr val="4F4F4F"/>
                          </a:solidFill>
                          <a:effectLst/>
                        </a:rPr>
                        <a:t>表示与影片相关的一些关键字，比如</a:t>
                      </a:r>
                      <a:r>
                        <a:rPr lang="en-US" altLang="zh-CN" b="0" dirty="0">
                          <a:solidFill>
                            <a:srgbClr val="4F4F4F"/>
                          </a:solidFill>
                          <a:effectLst/>
                        </a:rPr>
                        <a:t>"</a:t>
                      </a:r>
                      <a:r>
                        <a:rPr lang="zh-CN" altLang="en-US" b="0" dirty="0">
                          <a:solidFill>
                            <a:srgbClr val="4F4F4F"/>
                          </a:solidFill>
                          <a:effectLst/>
                        </a:rPr>
                        <a:t>拯救世界</a:t>
                      </a:r>
                      <a:r>
                        <a:rPr lang="en-US" altLang="zh-CN" b="0" dirty="0">
                          <a:solidFill>
                            <a:srgbClr val="4F4F4F"/>
                          </a:solidFill>
                          <a:effectLst/>
                        </a:rPr>
                        <a:t>"</a:t>
                      </a:r>
                      <a:r>
                        <a:rPr lang="zh-CN" altLang="en-US" b="0" dirty="0">
                          <a:solidFill>
                            <a:srgbClr val="4F4F4F"/>
                          </a:solidFill>
                          <a:effectLst/>
                        </a:rPr>
                        <a:t>、“虚拟现实”、“地铁”。</a:t>
                      </a:r>
                    </a:p>
                  </a:txBody>
                  <a:tcPr marL="76200" marR="76200" marT="76200" marB="76200" anchor="ctr"/>
                </a:tc>
                <a:extLst>
                  <a:ext uri="{0D108BD9-81ED-4DB2-BD59-A6C34878D82A}">
                    <a16:rowId xmlns:a16="http://schemas.microsoft.com/office/drawing/2014/main" val="1844658971"/>
                  </a:ext>
                </a:extLst>
              </a:tr>
              <a:tr h="370840">
                <a:tc>
                  <a:txBody>
                    <a:bodyPr/>
                    <a:lstStyle/>
                    <a:p>
                      <a:pPr fontAlgn="ctr" latinLnBrk="0"/>
                      <a:r>
                        <a:rPr lang="en-US" b="0" dirty="0">
                          <a:solidFill>
                            <a:srgbClr val="4F4F4F"/>
                          </a:solidFill>
                          <a:effectLst/>
                        </a:rPr>
                        <a:t>user</a:t>
                      </a:r>
                    </a:p>
                  </a:txBody>
                  <a:tcPr marL="76200" marR="76200" marT="76200" marB="76200" anchor="ctr"/>
                </a:tc>
                <a:tc>
                  <a:txBody>
                    <a:bodyPr/>
                    <a:lstStyle/>
                    <a:p>
                      <a:pPr fontAlgn="ctr" latinLnBrk="0"/>
                      <a:r>
                        <a:rPr lang="zh-CN" altLang="en-US" b="0">
                          <a:solidFill>
                            <a:srgbClr val="4F4F4F"/>
                          </a:solidFill>
                          <a:effectLst/>
                        </a:rPr>
                        <a:t>实体</a:t>
                      </a:r>
                    </a:p>
                  </a:txBody>
                  <a:tcPr marL="76200" marR="76200" marT="76200" marB="76200" anchor="ctr"/>
                </a:tc>
                <a:tc>
                  <a:txBody>
                    <a:bodyPr/>
                    <a:lstStyle/>
                    <a:p>
                      <a:pPr fontAlgn="ctr" latinLnBrk="0"/>
                      <a:r>
                        <a:rPr lang="zh-CN" altLang="en-US" b="0" dirty="0">
                          <a:solidFill>
                            <a:srgbClr val="4F4F4F"/>
                          </a:solidFill>
                          <a:effectLst/>
                        </a:rPr>
                        <a:t>表示观影的用户。</a:t>
                      </a:r>
                    </a:p>
                  </a:txBody>
                  <a:tcPr marL="76200" marR="76200" marT="76200" marB="76200" anchor="ctr"/>
                </a:tc>
                <a:extLst>
                  <a:ext uri="{0D108BD9-81ED-4DB2-BD59-A6C34878D82A}">
                    <a16:rowId xmlns:a16="http://schemas.microsoft.com/office/drawing/2014/main" val="1656328680"/>
                  </a:ext>
                </a:extLst>
              </a:tr>
              <a:tr h="370840">
                <a:tc>
                  <a:txBody>
                    <a:bodyPr/>
                    <a:lstStyle/>
                    <a:p>
                      <a:pPr fontAlgn="ctr" latinLnBrk="0"/>
                      <a:r>
                        <a:rPr lang="en-US" b="0" dirty="0">
                          <a:solidFill>
                            <a:srgbClr val="4F4F4F"/>
                          </a:solidFill>
                          <a:effectLst/>
                        </a:rPr>
                        <a:t>produce</a:t>
                      </a:r>
                    </a:p>
                  </a:txBody>
                  <a:tcPr marL="76200" marR="76200" marT="76200" marB="76200" anchor="ctr"/>
                </a:tc>
                <a:tc>
                  <a:txBody>
                    <a:bodyPr/>
                    <a:lstStyle/>
                    <a:p>
                      <a:pPr fontAlgn="ctr" latinLnBrk="0"/>
                      <a:r>
                        <a:rPr lang="zh-CN" altLang="en-US" b="0">
                          <a:solidFill>
                            <a:srgbClr val="4F4F4F"/>
                          </a:solidFill>
                          <a:effectLst/>
                        </a:rPr>
                        <a:t>关系</a:t>
                      </a:r>
                    </a:p>
                  </a:txBody>
                  <a:tcPr marL="76200" marR="76200" marT="76200" marB="76200" anchor="ctr"/>
                </a:tc>
                <a:tc>
                  <a:txBody>
                    <a:bodyPr/>
                    <a:lstStyle/>
                    <a:p>
                      <a:pPr fontAlgn="ctr" latinLnBrk="0"/>
                      <a:r>
                        <a:rPr lang="zh-CN" altLang="en-US" b="0" dirty="0">
                          <a:solidFill>
                            <a:srgbClr val="4F4F4F"/>
                          </a:solidFill>
                          <a:effectLst/>
                        </a:rPr>
                        <a:t>表示影片的出品人关系。</a:t>
                      </a:r>
                    </a:p>
                  </a:txBody>
                  <a:tcPr marL="76200" marR="76200" marT="76200" marB="76200" anchor="ctr"/>
                </a:tc>
                <a:extLst>
                  <a:ext uri="{0D108BD9-81ED-4DB2-BD59-A6C34878D82A}">
                    <a16:rowId xmlns:a16="http://schemas.microsoft.com/office/drawing/2014/main" val="2602633117"/>
                  </a:ext>
                </a:extLst>
              </a:tr>
              <a:tr h="370840">
                <a:tc>
                  <a:txBody>
                    <a:bodyPr/>
                    <a:lstStyle/>
                    <a:p>
                      <a:pPr fontAlgn="ctr" latinLnBrk="0"/>
                      <a:r>
                        <a:rPr lang="en-US" b="0" dirty="0" err="1">
                          <a:solidFill>
                            <a:srgbClr val="4F4F4F"/>
                          </a:solidFill>
                          <a:effectLst/>
                        </a:rPr>
                        <a:t>acted_in</a:t>
                      </a:r>
                      <a:endParaRPr lang="en-US" b="0" dirty="0">
                        <a:solidFill>
                          <a:srgbClr val="4F4F4F"/>
                        </a:solidFill>
                        <a:effectLst/>
                      </a:endParaRPr>
                    </a:p>
                  </a:txBody>
                  <a:tcPr marL="76200" marR="76200" marT="76200" marB="76200" anchor="ctr"/>
                </a:tc>
                <a:tc>
                  <a:txBody>
                    <a:bodyPr/>
                    <a:lstStyle/>
                    <a:p>
                      <a:pPr fontAlgn="ctr" latinLnBrk="0"/>
                      <a:r>
                        <a:rPr lang="zh-CN" altLang="en-US" b="0">
                          <a:solidFill>
                            <a:srgbClr val="4F4F4F"/>
                          </a:solidFill>
                          <a:effectLst/>
                        </a:rPr>
                        <a:t>关系</a:t>
                      </a:r>
                    </a:p>
                  </a:txBody>
                  <a:tcPr marL="76200" marR="76200" marT="76200" marB="76200" anchor="ctr"/>
                </a:tc>
                <a:tc>
                  <a:txBody>
                    <a:bodyPr/>
                    <a:lstStyle/>
                    <a:p>
                      <a:pPr fontAlgn="ctr" latinLnBrk="0"/>
                      <a:r>
                        <a:rPr lang="zh-CN" altLang="en-US" b="0" dirty="0">
                          <a:solidFill>
                            <a:srgbClr val="4F4F4F"/>
                          </a:solidFill>
                          <a:effectLst/>
                        </a:rPr>
                        <a:t>表示演员出演了哪些影片。</a:t>
                      </a:r>
                    </a:p>
                  </a:txBody>
                  <a:tcPr marL="76200" marR="76200" marT="76200" marB="76200" anchor="ctr"/>
                </a:tc>
                <a:extLst>
                  <a:ext uri="{0D108BD9-81ED-4DB2-BD59-A6C34878D82A}">
                    <a16:rowId xmlns:a16="http://schemas.microsoft.com/office/drawing/2014/main" val="3706482102"/>
                  </a:ext>
                </a:extLst>
              </a:tr>
              <a:tr h="370840">
                <a:tc>
                  <a:txBody>
                    <a:bodyPr/>
                    <a:lstStyle/>
                    <a:p>
                      <a:pPr fontAlgn="ctr" latinLnBrk="0"/>
                      <a:r>
                        <a:rPr lang="en-US" b="0" dirty="0">
                          <a:solidFill>
                            <a:srgbClr val="4F4F4F"/>
                          </a:solidFill>
                          <a:effectLst/>
                        </a:rPr>
                        <a:t>direct</a:t>
                      </a:r>
                    </a:p>
                  </a:txBody>
                  <a:tcPr marL="76200" marR="76200" marT="76200" marB="76200" anchor="ctr"/>
                </a:tc>
                <a:tc>
                  <a:txBody>
                    <a:bodyPr/>
                    <a:lstStyle/>
                    <a:p>
                      <a:pPr fontAlgn="ctr" latinLnBrk="0"/>
                      <a:r>
                        <a:rPr lang="zh-CN" altLang="en-US" b="0">
                          <a:solidFill>
                            <a:srgbClr val="4F4F4F"/>
                          </a:solidFill>
                          <a:effectLst/>
                        </a:rPr>
                        <a:t>关系</a:t>
                      </a:r>
                    </a:p>
                  </a:txBody>
                  <a:tcPr marL="76200" marR="76200" marT="76200" marB="76200" anchor="ctr"/>
                </a:tc>
                <a:tc>
                  <a:txBody>
                    <a:bodyPr/>
                    <a:lstStyle/>
                    <a:p>
                      <a:pPr fontAlgn="ctr" latinLnBrk="0"/>
                      <a:r>
                        <a:rPr lang="zh-CN" altLang="en-US" b="0" dirty="0">
                          <a:solidFill>
                            <a:srgbClr val="4F4F4F"/>
                          </a:solidFill>
                          <a:effectLst/>
                        </a:rPr>
                        <a:t>表示影片的导演是谁。</a:t>
                      </a:r>
                    </a:p>
                  </a:txBody>
                  <a:tcPr marL="76200" marR="76200" marT="76200" marB="76200" anchor="ctr"/>
                </a:tc>
                <a:extLst>
                  <a:ext uri="{0D108BD9-81ED-4DB2-BD59-A6C34878D82A}">
                    <a16:rowId xmlns:a16="http://schemas.microsoft.com/office/drawing/2014/main" val="2002565349"/>
                  </a:ext>
                </a:extLst>
              </a:tr>
              <a:tr h="370840">
                <a:tc>
                  <a:txBody>
                    <a:bodyPr/>
                    <a:lstStyle/>
                    <a:p>
                      <a:pPr fontAlgn="ctr" latinLnBrk="0"/>
                      <a:r>
                        <a:rPr lang="en-US" b="0" dirty="0">
                          <a:solidFill>
                            <a:srgbClr val="4F4F4F"/>
                          </a:solidFill>
                          <a:effectLst/>
                        </a:rPr>
                        <a:t>write</a:t>
                      </a:r>
                    </a:p>
                  </a:txBody>
                  <a:tcPr marL="76200" marR="76200" marT="76200" marB="76200" anchor="ctr"/>
                </a:tc>
                <a:tc>
                  <a:txBody>
                    <a:bodyPr/>
                    <a:lstStyle/>
                    <a:p>
                      <a:pPr fontAlgn="ctr" latinLnBrk="0"/>
                      <a:r>
                        <a:rPr lang="zh-CN" altLang="en-US" b="0">
                          <a:solidFill>
                            <a:srgbClr val="4F4F4F"/>
                          </a:solidFill>
                          <a:effectLst/>
                        </a:rPr>
                        <a:t>关系</a:t>
                      </a:r>
                    </a:p>
                  </a:txBody>
                  <a:tcPr marL="76200" marR="76200" marT="76200" marB="76200" anchor="ctr"/>
                </a:tc>
                <a:tc>
                  <a:txBody>
                    <a:bodyPr/>
                    <a:lstStyle/>
                    <a:p>
                      <a:pPr fontAlgn="ctr" latinLnBrk="0"/>
                      <a:r>
                        <a:rPr lang="zh-CN" altLang="en-US" b="0" dirty="0">
                          <a:solidFill>
                            <a:srgbClr val="4F4F4F"/>
                          </a:solidFill>
                          <a:effectLst/>
                        </a:rPr>
                        <a:t>表示影片的编剧关系。</a:t>
                      </a:r>
                    </a:p>
                  </a:txBody>
                  <a:tcPr marL="76200" marR="76200" marT="76200" marB="76200" anchor="ctr"/>
                </a:tc>
                <a:extLst>
                  <a:ext uri="{0D108BD9-81ED-4DB2-BD59-A6C34878D82A}">
                    <a16:rowId xmlns:a16="http://schemas.microsoft.com/office/drawing/2014/main" val="632235859"/>
                  </a:ext>
                </a:extLst>
              </a:tr>
              <a:tr h="370840">
                <a:tc>
                  <a:txBody>
                    <a:bodyPr/>
                    <a:lstStyle/>
                    <a:p>
                      <a:pPr fontAlgn="ctr" latinLnBrk="0"/>
                      <a:r>
                        <a:rPr lang="en-US" b="0" dirty="0" err="1">
                          <a:solidFill>
                            <a:srgbClr val="4F4F4F"/>
                          </a:solidFill>
                          <a:effectLst/>
                        </a:rPr>
                        <a:t>has_genre</a:t>
                      </a:r>
                      <a:endParaRPr lang="en-US" b="0" dirty="0">
                        <a:solidFill>
                          <a:srgbClr val="4F4F4F"/>
                        </a:solidFill>
                        <a:effectLst/>
                      </a:endParaRPr>
                    </a:p>
                  </a:txBody>
                  <a:tcPr marL="76200" marR="76200" marT="76200" marB="76200" anchor="ctr"/>
                </a:tc>
                <a:tc>
                  <a:txBody>
                    <a:bodyPr/>
                    <a:lstStyle/>
                    <a:p>
                      <a:pPr fontAlgn="ctr" latinLnBrk="0"/>
                      <a:r>
                        <a:rPr lang="zh-CN" altLang="en-US" b="0">
                          <a:solidFill>
                            <a:srgbClr val="4F4F4F"/>
                          </a:solidFill>
                          <a:effectLst/>
                        </a:rPr>
                        <a:t>关系</a:t>
                      </a:r>
                    </a:p>
                  </a:txBody>
                  <a:tcPr marL="76200" marR="76200" marT="76200" marB="76200" anchor="ctr"/>
                </a:tc>
                <a:tc>
                  <a:txBody>
                    <a:bodyPr/>
                    <a:lstStyle/>
                    <a:p>
                      <a:pPr fontAlgn="ctr" latinLnBrk="0"/>
                      <a:r>
                        <a:rPr lang="zh-CN" altLang="en-US" b="0" dirty="0">
                          <a:solidFill>
                            <a:srgbClr val="4F4F4F"/>
                          </a:solidFill>
                          <a:effectLst/>
                        </a:rPr>
                        <a:t>表示影片的类型分类。</a:t>
                      </a:r>
                    </a:p>
                  </a:txBody>
                  <a:tcPr marL="76200" marR="76200" marT="76200" marB="76200" anchor="ctr"/>
                </a:tc>
                <a:extLst>
                  <a:ext uri="{0D108BD9-81ED-4DB2-BD59-A6C34878D82A}">
                    <a16:rowId xmlns:a16="http://schemas.microsoft.com/office/drawing/2014/main" val="2832783625"/>
                  </a:ext>
                </a:extLst>
              </a:tr>
              <a:tr h="370840">
                <a:tc>
                  <a:txBody>
                    <a:bodyPr/>
                    <a:lstStyle/>
                    <a:p>
                      <a:pPr fontAlgn="ctr" latinLnBrk="0"/>
                      <a:r>
                        <a:rPr lang="en-US" b="0" dirty="0" err="1">
                          <a:solidFill>
                            <a:srgbClr val="4F4F4F"/>
                          </a:solidFill>
                          <a:effectLst/>
                        </a:rPr>
                        <a:t>has_keyword</a:t>
                      </a:r>
                      <a:endParaRPr lang="en-US" b="0" dirty="0">
                        <a:solidFill>
                          <a:srgbClr val="4F4F4F"/>
                        </a:solidFill>
                        <a:effectLst/>
                      </a:endParaRPr>
                    </a:p>
                  </a:txBody>
                  <a:tcPr marL="76200" marR="76200" marT="76200" marB="76200" anchor="ctr"/>
                </a:tc>
                <a:tc>
                  <a:txBody>
                    <a:bodyPr/>
                    <a:lstStyle/>
                    <a:p>
                      <a:pPr fontAlgn="ctr" latinLnBrk="0"/>
                      <a:r>
                        <a:rPr lang="zh-CN" altLang="en-US" b="0">
                          <a:solidFill>
                            <a:srgbClr val="4F4F4F"/>
                          </a:solidFill>
                          <a:effectLst/>
                        </a:rPr>
                        <a:t>关系</a:t>
                      </a:r>
                    </a:p>
                  </a:txBody>
                  <a:tcPr marL="76200" marR="76200" marT="76200" marB="76200" anchor="ctr"/>
                </a:tc>
                <a:tc>
                  <a:txBody>
                    <a:bodyPr/>
                    <a:lstStyle/>
                    <a:p>
                      <a:pPr fontAlgn="ctr" latinLnBrk="0"/>
                      <a:r>
                        <a:rPr lang="zh-CN" altLang="en-US" b="0" dirty="0">
                          <a:solidFill>
                            <a:srgbClr val="4F4F4F"/>
                          </a:solidFill>
                          <a:effectLst/>
                        </a:rPr>
                        <a:t>表示影片的一些关键字，即更细分类的标签。</a:t>
                      </a:r>
                    </a:p>
                  </a:txBody>
                  <a:tcPr marL="76200" marR="76200" marT="76200" marB="76200" anchor="ctr"/>
                </a:tc>
                <a:extLst>
                  <a:ext uri="{0D108BD9-81ED-4DB2-BD59-A6C34878D82A}">
                    <a16:rowId xmlns:a16="http://schemas.microsoft.com/office/drawing/2014/main" val="1659244376"/>
                  </a:ext>
                </a:extLst>
              </a:tr>
              <a:tr h="370840">
                <a:tc>
                  <a:txBody>
                    <a:bodyPr/>
                    <a:lstStyle/>
                    <a:p>
                      <a:pPr fontAlgn="ctr" latinLnBrk="0"/>
                      <a:r>
                        <a:rPr lang="en-US" b="0" dirty="0">
                          <a:solidFill>
                            <a:srgbClr val="4F4F4F"/>
                          </a:solidFill>
                          <a:effectLst/>
                        </a:rPr>
                        <a:t>rate</a:t>
                      </a:r>
                    </a:p>
                  </a:txBody>
                  <a:tcPr marL="76200" marR="76200" marT="76200" marB="76200" anchor="ctr"/>
                </a:tc>
                <a:tc>
                  <a:txBody>
                    <a:bodyPr/>
                    <a:lstStyle/>
                    <a:p>
                      <a:pPr fontAlgn="ctr" latinLnBrk="0"/>
                      <a:r>
                        <a:rPr lang="zh-CN" altLang="en-US" b="0">
                          <a:solidFill>
                            <a:srgbClr val="4F4F4F"/>
                          </a:solidFill>
                          <a:effectLst/>
                        </a:rPr>
                        <a:t>关系</a:t>
                      </a:r>
                    </a:p>
                  </a:txBody>
                  <a:tcPr marL="76200" marR="76200" marT="76200" marB="76200" anchor="ctr"/>
                </a:tc>
                <a:tc>
                  <a:txBody>
                    <a:bodyPr/>
                    <a:lstStyle/>
                    <a:p>
                      <a:pPr fontAlgn="ctr" latinLnBrk="0"/>
                      <a:r>
                        <a:rPr lang="zh-CN" altLang="en-US" b="0" dirty="0">
                          <a:solidFill>
                            <a:srgbClr val="4F4F4F"/>
                          </a:solidFill>
                          <a:effectLst/>
                        </a:rPr>
                        <a:t>表示用户对影片的打分。</a:t>
                      </a:r>
                    </a:p>
                  </a:txBody>
                  <a:tcPr marL="76200" marR="76200" marT="76200" marB="76200" anchor="ctr"/>
                </a:tc>
                <a:extLst>
                  <a:ext uri="{0D108BD9-81ED-4DB2-BD59-A6C34878D82A}">
                    <a16:rowId xmlns:a16="http://schemas.microsoft.com/office/drawing/2014/main" val="1418951597"/>
                  </a:ext>
                </a:extLst>
              </a:tr>
            </a:tbl>
          </a:graphicData>
        </a:graphic>
      </p:graphicFrame>
    </p:spTree>
    <p:extLst>
      <p:ext uri="{BB962C8B-B14F-4D97-AF65-F5344CB8AC3E}">
        <p14:creationId xmlns:p14="http://schemas.microsoft.com/office/powerpoint/2010/main" val="3387182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建模</a:t>
            </a:r>
          </a:p>
        </p:txBody>
      </p:sp>
      <p:sp>
        <p:nvSpPr>
          <p:cNvPr id="5" name="内容占位符 2">
            <a:extLst>
              <a:ext uri="{FF2B5EF4-FFF2-40B4-BE49-F238E27FC236}">
                <a16:creationId xmlns:a16="http://schemas.microsoft.com/office/drawing/2014/main" id="{99B6D816-F906-EBB7-362A-3CB507BDDE33}"/>
              </a:ext>
            </a:extLst>
          </p:cNvPr>
          <p:cNvSpPr txBox="1">
            <a:spLocks/>
          </p:cNvSpPr>
          <p:nvPr/>
        </p:nvSpPr>
        <p:spPr bwMode="auto">
          <a:xfrm>
            <a:off x="1271464" y="1196752"/>
            <a:ext cx="9649072" cy="548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zh-CN" altLang="en-US" sz="2000" dirty="0">
                <a:latin typeface="SimSun" panose="02010600030101010101" pitchFamily="2" charset="-122"/>
                <a:ea typeface="SimSun" panose="02010600030101010101" pitchFamily="2" charset="-122"/>
                <a:cs typeface="Times New Roman" pitchFamily="18" charset="0"/>
              </a:rPr>
              <a:t>新建子图</a:t>
            </a:r>
            <a:endParaRPr lang="en-US" altLang="zh-CN" sz="2000" dirty="0">
              <a:latin typeface="SimSun" panose="02010600030101010101" pitchFamily="2" charset="-122"/>
              <a:ea typeface="SimSun" panose="02010600030101010101" pitchFamily="2" charset="-122"/>
              <a:cs typeface="Times New Roman" pitchFamily="18" charset="0"/>
            </a:endParaRPr>
          </a:p>
          <a:p>
            <a:pPr eaLnBrk="1" hangingPunct="1">
              <a:lnSpc>
                <a:spcPct val="150000"/>
              </a:lnSpc>
              <a:spcBef>
                <a:spcPts val="0"/>
              </a:spcBef>
              <a:spcAft>
                <a:spcPts val="0"/>
              </a:spcAft>
            </a:pPr>
            <a:r>
              <a:rPr lang="zh-CN" altLang="en-US" sz="2000" dirty="0">
                <a:latin typeface="SimSun" panose="02010600030101010101" pitchFamily="2" charset="-122"/>
                <a:ea typeface="SimSun" panose="02010600030101010101" pitchFamily="2" charset="-122"/>
                <a:cs typeface="Times New Roman" pitchFamily="18" charset="0"/>
              </a:rPr>
              <a:t>顶点标签：</a:t>
            </a:r>
            <a:r>
              <a:rPr lang="en-US" altLang="zh-CN" sz="2000" dirty="0">
                <a:latin typeface="SimSun" panose="02010600030101010101" pitchFamily="2" charset="-122"/>
                <a:ea typeface="SimSun" panose="02010600030101010101" pitchFamily="2" charset="-122"/>
                <a:cs typeface="Times New Roman" pitchFamily="18" charset="0"/>
              </a:rPr>
              <a:t>person</a:t>
            </a:r>
            <a:r>
              <a:rPr lang="zh-CN" altLang="en-US" sz="2000" dirty="0">
                <a:latin typeface="SimSun" panose="02010600030101010101" pitchFamily="2" charset="-122"/>
                <a:ea typeface="SimSun" panose="02010600030101010101" pitchFamily="2" charset="-122"/>
                <a:cs typeface="Times New Roman" pitchFamily="18" charset="0"/>
              </a:rPr>
              <a:t>、</a:t>
            </a:r>
            <a:r>
              <a:rPr lang="en-US" altLang="zh-CN" sz="2000" dirty="0">
                <a:latin typeface="SimSun" panose="02010600030101010101" pitchFamily="2" charset="-122"/>
                <a:ea typeface="SimSun" panose="02010600030101010101" pitchFamily="2" charset="-122"/>
                <a:cs typeface="Times New Roman" pitchFamily="18" charset="0"/>
              </a:rPr>
              <a:t>movie</a:t>
            </a:r>
          </a:p>
          <a:p>
            <a:pPr eaLnBrk="1" hangingPunct="1">
              <a:lnSpc>
                <a:spcPct val="150000"/>
              </a:lnSpc>
              <a:spcBef>
                <a:spcPts val="0"/>
              </a:spcBef>
              <a:spcAft>
                <a:spcPts val="0"/>
              </a:spcAft>
            </a:pPr>
            <a:r>
              <a:rPr lang="zh-CN" altLang="en-US" sz="2000" dirty="0">
                <a:latin typeface="SimSun" panose="02010600030101010101" pitchFamily="2" charset="-122"/>
                <a:ea typeface="SimSun" panose="02010600030101010101" pitchFamily="2" charset="-122"/>
                <a:cs typeface="Times New Roman" pitchFamily="18" charset="0"/>
              </a:rPr>
              <a:t>关系标签：</a:t>
            </a:r>
            <a:r>
              <a:rPr lang="en-US" altLang="zh-CN" sz="2000" dirty="0">
                <a:latin typeface="SimSun" panose="02010600030101010101" pitchFamily="2" charset="-122"/>
                <a:ea typeface="SimSun" panose="02010600030101010101" pitchFamily="2" charset="-122"/>
                <a:cs typeface="Times New Roman" pitchFamily="18" charset="0"/>
              </a:rPr>
              <a:t>produce</a:t>
            </a:r>
          </a:p>
        </p:txBody>
      </p:sp>
    </p:spTree>
    <p:extLst>
      <p:ext uri="{BB962C8B-B14F-4D97-AF65-F5344CB8AC3E}">
        <p14:creationId xmlns:p14="http://schemas.microsoft.com/office/powerpoint/2010/main" val="1317187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数据导入</a:t>
            </a:r>
          </a:p>
        </p:txBody>
      </p:sp>
      <p:sp>
        <p:nvSpPr>
          <p:cNvPr id="3" name="内容占位符 2">
            <a:extLst>
              <a:ext uri="{FF2B5EF4-FFF2-40B4-BE49-F238E27FC236}">
                <a16:creationId xmlns:a16="http://schemas.microsoft.com/office/drawing/2014/main" id="{99B6D816-F906-EBB7-362A-3CB507BDDE33}"/>
              </a:ext>
            </a:extLst>
          </p:cNvPr>
          <p:cNvSpPr txBox="1">
            <a:spLocks/>
          </p:cNvSpPr>
          <p:nvPr/>
        </p:nvSpPr>
        <p:spPr bwMode="auto">
          <a:xfrm>
            <a:off x="1043222" y="1253490"/>
            <a:ext cx="10084470" cy="548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zh-CN" altLang="en-US" sz="2000" dirty="0">
                <a:latin typeface="SimSun" panose="02010600030101010101" pitchFamily="2" charset="-122"/>
                <a:ea typeface="SimSun" panose="02010600030101010101" pitchFamily="2" charset="-122"/>
                <a:cs typeface="Times New Roman" pitchFamily="18" charset="0"/>
              </a:rPr>
              <a:t>新建图项目</a:t>
            </a:r>
            <a:r>
              <a:rPr lang="en-US" altLang="zh-CN" sz="2000" dirty="0">
                <a:latin typeface="SimSun" panose="02010600030101010101" pitchFamily="2" charset="-122"/>
                <a:ea typeface="SimSun" panose="02010600030101010101" pitchFamily="2" charset="-122"/>
                <a:cs typeface="Times New Roman" pitchFamily="18" charset="0"/>
              </a:rPr>
              <a:t>-&gt;</a:t>
            </a:r>
            <a:r>
              <a:rPr lang="zh-CN" altLang="en-US" sz="2000" dirty="0">
                <a:latin typeface="SimSun" panose="02010600030101010101" pitchFamily="2" charset="-122"/>
                <a:ea typeface="SimSun" panose="02010600030101010101" pitchFamily="2" charset="-122"/>
                <a:cs typeface="Times New Roman" pitchFamily="18" charset="0"/>
              </a:rPr>
              <a:t>图构建</a:t>
            </a:r>
            <a:r>
              <a:rPr lang="en-US" altLang="zh-CN" sz="2000" dirty="0">
                <a:latin typeface="SimSun" panose="02010600030101010101" pitchFamily="2" charset="-122"/>
                <a:ea typeface="SimSun" panose="02010600030101010101" pitchFamily="2" charset="-122"/>
                <a:cs typeface="Times New Roman" pitchFamily="18" charset="0"/>
              </a:rPr>
              <a:t>-&gt;</a:t>
            </a:r>
            <a:r>
              <a:rPr lang="zh-CN" altLang="en-US" sz="2000" dirty="0">
                <a:latin typeface="SimSun" panose="02010600030101010101" pitchFamily="2" charset="-122"/>
                <a:ea typeface="SimSun" panose="02010600030101010101" pitchFamily="2" charset="-122"/>
                <a:cs typeface="Times New Roman" pitchFamily="18" charset="0"/>
              </a:rPr>
              <a:t>添加点（点类型名称：</a:t>
            </a:r>
            <a:r>
              <a:rPr lang="en-US" altLang="zh-CN" sz="2000" dirty="0">
                <a:latin typeface="SimSun" panose="02010600030101010101" pitchFamily="2" charset="-122"/>
                <a:ea typeface="SimSun" panose="02010600030101010101" pitchFamily="2" charset="-122"/>
                <a:cs typeface="Times New Roman" pitchFamily="18" charset="0"/>
              </a:rPr>
              <a:t>person</a:t>
            </a:r>
            <a:r>
              <a:rPr lang="zh-CN" altLang="en-US" sz="2000" dirty="0">
                <a:latin typeface="SimSun" panose="02010600030101010101" pitchFamily="2" charset="-122"/>
                <a:ea typeface="SimSun" panose="02010600030101010101" pitchFamily="2" charset="-122"/>
                <a:cs typeface="Times New Roman" pitchFamily="18" charset="0"/>
              </a:rPr>
              <a:t>）</a:t>
            </a:r>
            <a:r>
              <a:rPr lang="en-US" altLang="zh-CN" sz="2000" dirty="0">
                <a:latin typeface="SimSun" panose="02010600030101010101" pitchFamily="2" charset="-122"/>
                <a:ea typeface="SimSun" panose="02010600030101010101" pitchFamily="2" charset="-122"/>
                <a:cs typeface="Times New Roman" pitchFamily="18" charset="0"/>
              </a:rPr>
              <a:t>-&gt;</a:t>
            </a:r>
            <a:r>
              <a:rPr lang="zh-CN" altLang="en-US" sz="2000" dirty="0">
                <a:latin typeface="SimSun" panose="02010600030101010101" pitchFamily="2" charset="-122"/>
                <a:ea typeface="SimSun" panose="02010600030101010101" pitchFamily="2" charset="-122"/>
                <a:cs typeface="Times New Roman" pitchFamily="18" charset="0"/>
              </a:rPr>
              <a:t>添加属性（</a:t>
            </a:r>
            <a:r>
              <a:rPr lang="en-US" altLang="zh-CN" sz="2000" dirty="0">
                <a:latin typeface="SimSun" panose="02010600030101010101" pitchFamily="2" charset="-122"/>
                <a:ea typeface="SimSun" panose="02010600030101010101" pitchFamily="2" charset="-122"/>
                <a:cs typeface="Times New Roman" pitchFamily="18" charset="0"/>
              </a:rPr>
              <a:t>id</a:t>
            </a:r>
            <a:r>
              <a:rPr lang="zh-CN" altLang="en-US" sz="2000" dirty="0">
                <a:latin typeface="SimSun" panose="02010600030101010101" pitchFamily="2" charset="-122"/>
                <a:ea typeface="SimSun" panose="02010600030101010101" pitchFamily="2" charset="-122"/>
                <a:cs typeface="Times New Roman" pitchFamily="18" charset="0"/>
              </a:rPr>
              <a:t>、</a:t>
            </a:r>
            <a:r>
              <a:rPr lang="en-US" altLang="zh-CN" sz="2000" dirty="0">
                <a:latin typeface="SimSun" panose="02010600030101010101" pitchFamily="2" charset="-122"/>
                <a:ea typeface="SimSun" panose="02010600030101010101" pitchFamily="2" charset="-122"/>
                <a:cs typeface="Times New Roman" pitchFamily="18" charset="0"/>
              </a:rPr>
              <a:t>name</a:t>
            </a:r>
            <a:r>
              <a:rPr lang="zh-CN" altLang="en-US" sz="2000" dirty="0">
                <a:latin typeface="SimSun" panose="02010600030101010101" pitchFamily="2" charset="-122"/>
                <a:ea typeface="SimSun" panose="02010600030101010101" pitchFamily="2" charset="-122"/>
                <a:cs typeface="Times New Roman" pitchFamily="18" charset="0"/>
              </a:rPr>
              <a:t>、</a:t>
            </a:r>
            <a:r>
              <a:rPr lang="en-US" altLang="zh-CN" sz="2000" dirty="0">
                <a:latin typeface="SimSun" panose="02010600030101010101" pitchFamily="2" charset="-122"/>
                <a:ea typeface="SimSun" panose="02010600030101010101" pitchFamily="2" charset="-122"/>
                <a:cs typeface="Times New Roman" pitchFamily="18" charset="0"/>
              </a:rPr>
              <a:t>born</a:t>
            </a:r>
            <a:r>
              <a:rPr lang="zh-CN" altLang="en-US" sz="2000" dirty="0">
                <a:latin typeface="SimSun" panose="02010600030101010101" pitchFamily="2" charset="-122"/>
                <a:ea typeface="SimSun" panose="02010600030101010101" pitchFamily="2" charset="-122"/>
                <a:cs typeface="Times New Roman" pitchFamily="18" charset="0"/>
              </a:rPr>
              <a:t>、</a:t>
            </a:r>
            <a:r>
              <a:rPr lang="en-US" altLang="zh-CN" sz="2000" dirty="0" err="1">
                <a:latin typeface="SimSun" panose="02010600030101010101" pitchFamily="2" charset="-122"/>
                <a:ea typeface="SimSun" panose="02010600030101010101" pitchFamily="2" charset="-122"/>
                <a:cs typeface="Times New Roman" pitchFamily="18" charset="0"/>
              </a:rPr>
              <a:t>poster_image</a:t>
            </a:r>
            <a:r>
              <a:rPr lang="zh-CN" altLang="en-US" sz="2000" dirty="0">
                <a:latin typeface="SimSun" panose="02010600030101010101" pitchFamily="2" charset="-122"/>
                <a:ea typeface="SimSun" panose="02010600030101010101" pitchFamily="2" charset="-122"/>
                <a:cs typeface="Times New Roman" pitchFamily="18" charset="0"/>
              </a:rPr>
              <a:t>）并选择数据类型</a:t>
            </a:r>
            <a:r>
              <a:rPr lang="en-US" altLang="zh-CN" sz="2000" dirty="0">
                <a:latin typeface="SimSun" panose="02010600030101010101" pitchFamily="2" charset="-122"/>
                <a:ea typeface="SimSun" panose="02010600030101010101" pitchFamily="2" charset="-122"/>
                <a:cs typeface="Times New Roman" pitchFamily="18" charset="0"/>
              </a:rPr>
              <a:t>-&gt;</a:t>
            </a:r>
            <a:r>
              <a:rPr lang="zh-CN" altLang="en-US" sz="2000" dirty="0">
                <a:latin typeface="SimSun" panose="02010600030101010101" pitchFamily="2" charset="-122"/>
                <a:ea typeface="SimSun" panose="02010600030101010101" pitchFamily="2" charset="-122"/>
                <a:cs typeface="Times New Roman" pitchFamily="18" charset="0"/>
              </a:rPr>
              <a:t>完成</a:t>
            </a:r>
            <a:r>
              <a:rPr lang="en-US" altLang="zh-CN" sz="2000" dirty="0">
                <a:latin typeface="SimSun" panose="02010600030101010101" pitchFamily="2" charset="-122"/>
                <a:ea typeface="SimSun" panose="02010600030101010101" pitchFamily="2" charset="-122"/>
                <a:cs typeface="Times New Roman" pitchFamily="18" charset="0"/>
              </a:rPr>
              <a:t>-&gt;</a:t>
            </a:r>
            <a:r>
              <a:rPr lang="zh-CN" altLang="en-US" sz="2000" dirty="0">
                <a:latin typeface="SimSun" panose="02010600030101010101" pitchFamily="2" charset="-122"/>
                <a:ea typeface="SimSun" panose="02010600030101010101" pitchFamily="2" charset="-122"/>
                <a:cs typeface="Times New Roman" pitchFamily="18" charset="0"/>
              </a:rPr>
              <a:t>添加点（点类型名称：</a:t>
            </a:r>
            <a:r>
              <a:rPr lang="en-US" altLang="zh-CN" sz="2000" dirty="0">
                <a:latin typeface="SimSun" panose="02010600030101010101" pitchFamily="2" charset="-122"/>
                <a:ea typeface="SimSun" panose="02010600030101010101" pitchFamily="2" charset="-122"/>
                <a:cs typeface="Times New Roman" pitchFamily="18" charset="0"/>
              </a:rPr>
              <a:t>movie</a:t>
            </a:r>
            <a:r>
              <a:rPr lang="zh-CN" altLang="en-US" sz="2000" dirty="0">
                <a:latin typeface="SimSun" panose="02010600030101010101" pitchFamily="2" charset="-122"/>
                <a:ea typeface="SimSun" panose="02010600030101010101" pitchFamily="2" charset="-122"/>
                <a:cs typeface="Times New Roman" pitchFamily="18" charset="0"/>
              </a:rPr>
              <a:t>）</a:t>
            </a:r>
            <a:r>
              <a:rPr lang="en-US" altLang="zh-CN" sz="2000" dirty="0">
                <a:latin typeface="SimSun" panose="02010600030101010101" pitchFamily="2" charset="-122"/>
                <a:ea typeface="SimSun" panose="02010600030101010101" pitchFamily="2" charset="-122"/>
                <a:cs typeface="Times New Roman" pitchFamily="18" charset="0"/>
              </a:rPr>
              <a:t>-&gt;</a:t>
            </a:r>
            <a:r>
              <a:rPr lang="zh-CN" altLang="en-US" sz="2000" dirty="0">
                <a:latin typeface="SimSun" panose="02010600030101010101" pitchFamily="2" charset="-122"/>
                <a:ea typeface="SimSun" panose="02010600030101010101" pitchFamily="2" charset="-122"/>
                <a:cs typeface="Times New Roman" pitchFamily="18" charset="0"/>
              </a:rPr>
              <a:t>添加属性（</a:t>
            </a:r>
            <a:r>
              <a:rPr lang="en-US" altLang="zh-CN" sz="2000" dirty="0">
                <a:latin typeface="SimSun" panose="02010600030101010101" pitchFamily="2" charset="-122"/>
                <a:ea typeface="SimSun" panose="02010600030101010101" pitchFamily="2" charset="-122"/>
                <a:cs typeface="Times New Roman" pitchFamily="18" charset="0"/>
              </a:rPr>
              <a:t>id</a:t>
            </a:r>
            <a:r>
              <a:rPr lang="zh-CN" altLang="en-US" sz="2000" dirty="0">
                <a:latin typeface="SimSun" panose="02010600030101010101" pitchFamily="2" charset="-122"/>
                <a:ea typeface="SimSun" panose="02010600030101010101" pitchFamily="2" charset="-122"/>
                <a:cs typeface="Times New Roman" pitchFamily="18" charset="0"/>
              </a:rPr>
              <a:t>、</a:t>
            </a:r>
            <a:r>
              <a:rPr lang="en-US" altLang="zh-CN" sz="2000" dirty="0">
                <a:latin typeface="SimSun" panose="02010600030101010101" pitchFamily="2" charset="-122"/>
                <a:ea typeface="SimSun" panose="02010600030101010101" pitchFamily="2" charset="-122"/>
                <a:cs typeface="Times New Roman" pitchFamily="18" charset="0"/>
              </a:rPr>
              <a:t>title</a:t>
            </a:r>
            <a:r>
              <a:rPr lang="zh-CN" altLang="en-US" sz="2000" dirty="0">
                <a:latin typeface="SimSun" panose="02010600030101010101" pitchFamily="2" charset="-122"/>
                <a:ea typeface="SimSun" panose="02010600030101010101" pitchFamily="2" charset="-122"/>
                <a:cs typeface="Times New Roman" pitchFamily="18" charset="0"/>
              </a:rPr>
              <a:t>、</a:t>
            </a:r>
            <a:r>
              <a:rPr lang="en-US" altLang="zh-CN" sz="2000" dirty="0">
                <a:latin typeface="SimSun" panose="02010600030101010101" pitchFamily="2" charset="-122"/>
                <a:ea typeface="SimSun" panose="02010600030101010101" pitchFamily="2" charset="-122"/>
                <a:cs typeface="Times New Roman" pitchFamily="18" charset="0"/>
              </a:rPr>
              <a:t>tagline</a:t>
            </a:r>
            <a:r>
              <a:rPr lang="zh-CN" altLang="en-US" sz="2000" dirty="0">
                <a:latin typeface="SimSun" panose="02010600030101010101" pitchFamily="2" charset="-122"/>
                <a:ea typeface="SimSun" panose="02010600030101010101" pitchFamily="2" charset="-122"/>
                <a:cs typeface="Times New Roman" pitchFamily="18" charset="0"/>
              </a:rPr>
              <a:t>等）并选择数据类型</a:t>
            </a:r>
            <a:r>
              <a:rPr lang="en-US" altLang="zh-CN" sz="2000" dirty="0">
                <a:latin typeface="SimSun" panose="02010600030101010101" pitchFamily="2" charset="-122"/>
                <a:ea typeface="SimSun" panose="02010600030101010101" pitchFamily="2" charset="-122"/>
                <a:cs typeface="Times New Roman" pitchFamily="18" charset="0"/>
              </a:rPr>
              <a:t>-&gt;</a:t>
            </a:r>
            <a:r>
              <a:rPr lang="zh-CN" altLang="en-US" sz="2000" dirty="0">
                <a:latin typeface="SimSun" panose="02010600030101010101" pitchFamily="2" charset="-122"/>
                <a:ea typeface="SimSun" panose="02010600030101010101" pitchFamily="2" charset="-122"/>
                <a:cs typeface="Times New Roman" pitchFamily="18" charset="0"/>
              </a:rPr>
              <a:t>完成</a:t>
            </a:r>
            <a:r>
              <a:rPr lang="en-US" altLang="zh-CN" sz="2000" dirty="0">
                <a:latin typeface="SimSun" panose="02010600030101010101" pitchFamily="2" charset="-122"/>
                <a:ea typeface="SimSun" panose="02010600030101010101" pitchFamily="2" charset="-122"/>
                <a:cs typeface="Times New Roman" pitchFamily="18" charset="0"/>
              </a:rPr>
              <a:t>-&gt;</a:t>
            </a:r>
            <a:r>
              <a:rPr lang="zh-CN" altLang="en-US" sz="2000" dirty="0">
                <a:latin typeface="SimSun" panose="02010600030101010101" pitchFamily="2" charset="-122"/>
                <a:ea typeface="SimSun" panose="02010600030101010101" pitchFamily="2" charset="-122"/>
                <a:cs typeface="Times New Roman" pitchFamily="18" charset="0"/>
              </a:rPr>
              <a:t>添加边（边类型名称：</a:t>
            </a:r>
            <a:r>
              <a:rPr lang="en-US" altLang="zh-CN" sz="2000" dirty="0">
                <a:latin typeface="SimSun" panose="02010600030101010101" pitchFamily="2" charset="-122"/>
                <a:ea typeface="SimSun" panose="02010600030101010101" pitchFamily="2" charset="-122"/>
                <a:cs typeface="Times New Roman" pitchFamily="18" charset="0"/>
              </a:rPr>
              <a:t>produce</a:t>
            </a:r>
            <a:r>
              <a:rPr lang="zh-CN" altLang="en-US" sz="2000" dirty="0">
                <a:latin typeface="SimSun" panose="02010600030101010101" pitchFamily="2" charset="-122"/>
                <a:ea typeface="SimSun" panose="02010600030101010101" pitchFamily="2" charset="-122"/>
                <a:cs typeface="Times New Roman" pitchFamily="18" charset="0"/>
              </a:rPr>
              <a:t>）</a:t>
            </a:r>
            <a:r>
              <a:rPr lang="en-US" altLang="zh-CN" sz="2000" dirty="0">
                <a:latin typeface="SimSun" panose="02010600030101010101" pitchFamily="2" charset="-122"/>
                <a:ea typeface="SimSun" panose="02010600030101010101" pitchFamily="2" charset="-122"/>
                <a:cs typeface="Times New Roman" pitchFamily="18" charset="0"/>
              </a:rPr>
              <a:t> -&gt;</a:t>
            </a:r>
            <a:r>
              <a:rPr lang="zh-CN" altLang="en-US" sz="2000" dirty="0">
                <a:latin typeface="SimSun" panose="02010600030101010101" pitchFamily="2" charset="-122"/>
                <a:ea typeface="SimSun" panose="02010600030101010101" pitchFamily="2" charset="-122"/>
                <a:cs typeface="Times New Roman" pitchFamily="18" charset="0"/>
              </a:rPr>
              <a:t>添加起点（</a:t>
            </a:r>
            <a:r>
              <a:rPr lang="en-US" altLang="zh-CN" sz="2000" dirty="0">
                <a:latin typeface="SimSun" panose="02010600030101010101" pitchFamily="2" charset="-122"/>
                <a:ea typeface="SimSun" panose="02010600030101010101" pitchFamily="2" charset="-122"/>
                <a:cs typeface="Times New Roman" pitchFamily="18" charset="0"/>
              </a:rPr>
              <a:t>person</a:t>
            </a:r>
            <a:r>
              <a:rPr lang="zh-CN" altLang="en-US" sz="2000" dirty="0">
                <a:latin typeface="SimSun" panose="02010600030101010101" pitchFamily="2" charset="-122"/>
                <a:ea typeface="SimSun" panose="02010600030101010101" pitchFamily="2" charset="-122"/>
                <a:cs typeface="Times New Roman" pitchFamily="18" charset="0"/>
              </a:rPr>
              <a:t>）和终点（</a:t>
            </a:r>
            <a:r>
              <a:rPr lang="en-US" altLang="zh-CN" sz="2000" dirty="0">
                <a:latin typeface="SimSun" panose="02010600030101010101" pitchFamily="2" charset="-122"/>
                <a:ea typeface="SimSun" panose="02010600030101010101" pitchFamily="2" charset="-122"/>
                <a:cs typeface="Times New Roman" pitchFamily="18" charset="0"/>
              </a:rPr>
              <a:t>movie</a:t>
            </a:r>
            <a:r>
              <a:rPr lang="zh-CN" altLang="en-US" sz="2000" dirty="0">
                <a:latin typeface="SimSun" panose="02010600030101010101" pitchFamily="2" charset="-122"/>
                <a:ea typeface="SimSun" panose="02010600030101010101" pitchFamily="2" charset="-122"/>
                <a:cs typeface="Times New Roman" pitchFamily="18" charset="0"/>
              </a:rPr>
              <a:t>）</a:t>
            </a:r>
            <a:r>
              <a:rPr lang="en-US" altLang="zh-CN" sz="2000" dirty="0">
                <a:latin typeface="SimSun" panose="02010600030101010101" pitchFamily="2" charset="-122"/>
                <a:ea typeface="SimSun" panose="02010600030101010101" pitchFamily="2" charset="-122"/>
                <a:cs typeface="Times New Roman" pitchFamily="18" charset="0"/>
              </a:rPr>
              <a:t>-&gt;</a:t>
            </a:r>
            <a:r>
              <a:rPr lang="zh-CN" altLang="en-US" sz="2000" dirty="0">
                <a:latin typeface="SimSun" panose="02010600030101010101" pitchFamily="2" charset="-122"/>
                <a:ea typeface="SimSun" panose="02010600030101010101" pitchFamily="2" charset="-122"/>
                <a:cs typeface="Times New Roman" pitchFamily="18" charset="0"/>
              </a:rPr>
              <a:t>完成</a:t>
            </a:r>
            <a:endParaRPr lang="en-US" altLang="zh-CN" sz="2000" dirty="0">
              <a:latin typeface="SimSun" panose="02010600030101010101" pitchFamily="2" charset="-122"/>
              <a:ea typeface="SimSun" panose="02010600030101010101" pitchFamily="2" charset="-122"/>
              <a:cs typeface="Times New Roman" pitchFamily="18" charset="0"/>
            </a:endParaRPr>
          </a:p>
          <a:p>
            <a:pPr eaLnBrk="1" hangingPunct="1">
              <a:lnSpc>
                <a:spcPct val="150000"/>
              </a:lnSpc>
              <a:spcBef>
                <a:spcPts val="0"/>
              </a:spcBef>
              <a:spcAft>
                <a:spcPts val="0"/>
              </a:spcAft>
            </a:pPr>
            <a:r>
              <a:rPr lang="zh-CN" altLang="en-US" sz="2000" dirty="0">
                <a:latin typeface="SimSun" panose="02010600030101010101" pitchFamily="2" charset="-122"/>
                <a:ea typeface="SimSun" panose="02010600030101010101" pitchFamily="2" charset="-122"/>
                <a:cs typeface="Times New Roman" pitchFamily="18" charset="0"/>
              </a:rPr>
              <a:t>数据导入</a:t>
            </a:r>
            <a:r>
              <a:rPr lang="en-US" altLang="zh-CN" sz="2000" dirty="0">
                <a:latin typeface="SimSun" panose="02010600030101010101" pitchFamily="2" charset="-122"/>
                <a:ea typeface="SimSun" panose="02010600030101010101" pitchFamily="2" charset="-122"/>
                <a:cs typeface="Times New Roman" pitchFamily="18" charset="0"/>
              </a:rPr>
              <a:t>-&gt;</a:t>
            </a:r>
            <a:r>
              <a:rPr lang="zh-CN" altLang="en-US" sz="2000" dirty="0">
                <a:latin typeface="SimSun" panose="02010600030101010101" pitchFamily="2" charset="-122"/>
                <a:ea typeface="SimSun" panose="02010600030101010101" pitchFamily="2" charset="-122"/>
                <a:cs typeface="Times New Roman" pitchFamily="18" charset="0"/>
              </a:rPr>
              <a:t>点击数据对应表区域，选择</a:t>
            </a:r>
            <a:r>
              <a:rPr lang="en-US" altLang="zh-CN" sz="2000" dirty="0">
                <a:latin typeface="SimSun" panose="02010600030101010101" pitchFamily="2" charset="-122"/>
                <a:ea typeface="SimSun" panose="02010600030101010101" pitchFamily="2" charset="-122"/>
                <a:cs typeface="Times New Roman" pitchFamily="18" charset="0"/>
              </a:rPr>
              <a:t>person.csv</a:t>
            </a:r>
            <a:r>
              <a:rPr lang="zh-CN" altLang="en-US" sz="2000" dirty="0">
                <a:latin typeface="SimSun" panose="02010600030101010101" pitchFamily="2" charset="-122"/>
                <a:ea typeface="SimSun" panose="02010600030101010101" pitchFamily="2" charset="-122"/>
                <a:cs typeface="Times New Roman" pitchFamily="18" charset="0"/>
              </a:rPr>
              <a:t>打开</a:t>
            </a:r>
            <a:r>
              <a:rPr lang="en-US" altLang="zh-CN" sz="2000" dirty="0">
                <a:latin typeface="SimSun" panose="02010600030101010101" pitchFamily="2" charset="-122"/>
                <a:ea typeface="SimSun" panose="02010600030101010101" pitchFamily="2" charset="-122"/>
                <a:cs typeface="Times New Roman" pitchFamily="18" charset="0"/>
              </a:rPr>
              <a:t>-&gt;</a:t>
            </a:r>
            <a:r>
              <a:rPr lang="zh-CN" altLang="en-US" sz="2000" dirty="0">
                <a:latin typeface="SimSun" panose="02010600030101010101" pitchFamily="2" charset="-122"/>
                <a:ea typeface="SimSun" panose="02010600030101010101" pitchFamily="2" charset="-122"/>
                <a:cs typeface="Times New Roman" pitchFamily="18" charset="0"/>
              </a:rPr>
              <a:t>“标签”选择点、</a:t>
            </a:r>
            <a:r>
              <a:rPr lang="en-US" altLang="zh-CN" sz="2000" dirty="0">
                <a:latin typeface="SimSun" panose="02010600030101010101" pitchFamily="2" charset="-122"/>
                <a:ea typeface="SimSun" panose="02010600030101010101" pitchFamily="2" charset="-122"/>
                <a:cs typeface="Times New Roman" pitchFamily="18" charset="0"/>
              </a:rPr>
              <a:t>person-&gt;</a:t>
            </a:r>
            <a:r>
              <a:rPr lang="zh-CN" altLang="en-US" sz="2000" dirty="0">
                <a:latin typeface="SimSun" panose="02010600030101010101" pitchFamily="2" charset="-122"/>
                <a:ea typeface="SimSun" panose="02010600030101010101" pitchFamily="2" charset="-122"/>
                <a:cs typeface="Times New Roman" pitchFamily="18" charset="0"/>
              </a:rPr>
              <a:t>选择对应列的属性名</a:t>
            </a:r>
            <a:r>
              <a:rPr lang="en-US" altLang="zh-CN" sz="2000" dirty="0">
                <a:latin typeface="SimSun" panose="02010600030101010101" pitchFamily="2" charset="-122"/>
                <a:ea typeface="SimSun" panose="02010600030101010101" pitchFamily="2" charset="-122"/>
                <a:cs typeface="Times New Roman" pitchFamily="18" charset="0"/>
              </a:rPr>
              <a:t>-&gt;</a:t>
            </a:r>
            <a:r>
              <a:rPr lang="zh-CN" altLang="en-US" sz="2000" dirty="0">
                <a:latin typeface="SimSun" panose="02010600030101010101" pitchFamily="2" charset="-122"/>
                <a:ea typeface="SimSun" panose="02010600030101010101" pitchFamily="2" charset="-122"/>
                <a:cs typeface="Times New Roman" pitchFamily="18" charset="0"/>
              </a:rPr>
              <a:t>同理，完成点</a:t>
            </a:r>
            <a:r>
              <a:rPr lang="en-US" altLang="zh-CN" sz="2000" dirty="0">
                <a:latin typeface="SimSun" panose="02010600030101010101" pitchFamily="2" charset="-122"/>
                <a:ea typeface="SimSun" panose="02010600030101010101" pitchFamily="2" charset="-122"/>
                <a:cs typeface="Times New Roman" pitchFamily="18" charset="0"/>
              </a:rPr>
              <a:t>movie</a:t>
            </a:r>
            <a:r>
              <a:rPr lang="zh-CN" altLang="en-US" sz="2000" dirty="0">
                <a:latin typeface="SimSun" panose="02010600030101010101" pitchFamily="2" charset="-122"/>
                <a:ea typeface="SimSun" panose="02010600030101010101" pitchFamily="2" charset="-122"/>
                <a:cs typeface="Times New Roman" pitchFamily="18" charset="0"/>
              </a:rPr>
              <a:t>数据的导入</a:t>
            </a:r>
            <a:r>
              <a:rPr lang="en-US" altLang="zh-CN" sz="2000" dirty="0">
                <a:latin typeface="SimSun" panose="02010600030101010101" pitchFamily="2" charset="-122"/>
                <a:ea typeface="SimSun" panose="02010600030101010101" pitchFamily="2" charset="-122"/>
                <a:cs typeface="Times New Roman" pitchFamily="18" charset="0"/>
              </a:rPr>
              <a:t>-&gt;</a:t>
            </a:r>
            <a:r>
              <a:rPr lang="zh-CN" altLang="en-US" sz="2000" dirty="0">
                <a:latin typeface="SimSun" panose="02010600030101010101" pitchFamily="2" charset="-122"/>
                <a:ea typeface="SimSun" panose="02010600030101010101" pitchFamily="2" charset="-122"/>
                <a:cs typeface="Times New Roman" pitchFamily="18" charset="0"/>
              </a:rPr>
              <a:t>类似地，从</a:t>
            </a:r>
            <a:r>
              <a:rPr lang="en-US" altLang="zh-CN" sz="2000" dirty="0">
                <a:latin typeface="SimSun" panose="02010600030101010101" pitchFamily="2" charset="-122"/>
                <a:ea typeface="SimSun" panose="02010600030101010101" pitchFamily="2" charset="-122"/>
                <a:cs typeface="Times New Roman" pitchFamily="18" charset="0"/>
              </a:rPr>
              <a:t>produce.csv</a:t>
            </a:r>
            <a:r>
              <a:rPr lang="zh-CN" altLang="en-US" sz="2000" dirty="0">
                <a:latin typeface="SimSun" panose="02010600030101010101" pitchFamily="2" charset="-122"/>
                <a:ea typeface="SimSun" panose="02010600030101010101" pitchFamily="2" charset="-122"/>
                <a:cs typeface="Times New Roman" pitchFamily="18" charset="0"/>
              </a:rPr>
              <a:t>导入边</a:t>
            </a:r>
            <a:endParaRPr lang="en-US" altLang="zh-CN" sz="2000" dirty="0">
              <a:latin typeface="SimSun" panose="02010600030101010101" pitchFamily="2" charset="-122"/>
              <a:ea typeface="SimSun" panose="02010600030101010101" pitchFamily="2" charset="-122"/>
              <a:cs typeface="Times New Roman" pitchFamily="18" charset="0"/>
            </a:endParaRPr>
          </a:p>
          <a:p>
            <a:pPr eaLnBrk="1" hangingPunct="1">
              <a:lnSpc>
                <a:spcPct val="150000"/>
              </a:lnSpc>
              <a:spcBef>
                <a:spcPts val="0"/>
              </a:spcBef>
              <a:spcAft>
                <a:spcPts val="0"/>
              </a:spcAft>
            </a:pPr>
            <a:r>
              <a:rPr lang="zh-CN" altLang="en-US" sz="2000" dirty="0">
                <a:latin typeface="SimSun" panose="02010600030101010101" pitchFamily="2" charset="-122"/>
                <a:ea typeface="SimSun" panose="02010600030101010101" pitchFamily="2" charset="-122"/>
                <a:cs typeface="Times New Roman" pitchFamily="18" charset="0"/>
              </a:rPr>
              <a:t>使用</a:t>
            </a:r>
            <a:r>
              <a:rPr lang="en-US" altLang="zh-CN" sz="2000" dirty="0">
                <a:latin typeface="SimSun" panose="02010600030101010101" pitchFamily="2" charset="-122"/>
                <a:ea typeface="SimSun" panose="02010600030101010101" pitchFamily="2" charset="-122"/>
                <a:cs typeface="Times New Roman" pitchFamily="18" charset="0"/>
              </a:rPr>
              <a:t>bolt</a:t>
            </a:r>
            <a:r>
              <a:rPr lang="zh-CN" altLang="en-US" sz="2000" dirty="0">
                <a:latin typeface="SimSun" panose="02010600030101010101" pitchFamily="2" charset="-122"/>
                <a:ea typeface="SimSun" panose="02010600030101010101" pitchFamily="2" charset="-122"/>
                <a:cs typeface="Times New Roman" pitchFamily="18" charset="0"/>
              </a:rPr>
              <a:t>导入数据：见代码</a:t>
            </a:r>
            <a:r>
              <a:rPr lang="en-US" altLang="zh-CN" sz="2000" dirty="0">
                <a:latin typeface="SimSun" panose="02010600030101010101" pitchFamily="2" charset="-122"/>
                <a:ea typeface="SimSun" panose="02010600030101010101" pitchFamily="2" charset="-122"/>
                <a:cs typeface="Times New Roman" pitchFamily="18" charset="0"/>
              </a:rPr>
              <a:t>ceshi_bolt.py</a:t>
            </a:r>
          </a:p>
          <a:p>
            <a:pPr marL="0" indent="0" eaLnBrk="1" hangingPunct="1">
              <a:lnSpc>
                <a:spcPct val="150000"/>
              </a:lnSpc>
              <a:spcBef>
                <a:spcPts val="0"/>
              </a:spcBef>
              <a:spcAft>
                <a:spcPts val="0"/>
              </a:spcAft>
              <a:buNone/>
            </a:pPr>
            <a:endParaRPr lang="en-US" altLang="zh-CN" sz="2000" dirty="0">
              <a:latin typeface="SimSun" panose="02010600030101010101" pitchFamily="2" charset="-122"/>
              <a:ea typeface="SimSun" panose="02010600030101010101" pitchFamily="2" charset="-122"/>
              <a:cs typeface="Times New Roman" pitchFamily="18" charset="0"/>
            </a:endParaRPr>
          </a:p>
        </p:txBody>
      </p:sp>
    </p:spTree>
    <p:extLst>
      <p:ext uri="{BB962C8B-B14F-4D97-AF65-F5344CB8AC3E}">
        <p14:creationId xmlns:p14="http://schemas.microsoft.com/office/powerpoint/2010/main" val="3524006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数据查询</a:t>
            </a:r>
          </a:p>
        </p:txBody>
      </p:sp>
      <p:sp>
        <p:nvSpPr>
          <p:cNvPr id="3" name="内容占位符 2">
            <a:extLst>
              <a:ext uri="{FF2B5EF4-FFF2-40B4-BE49-F238E27FC236}">
                <a16:creationId xmlns:a16="http://schemas.microsoft.com/office/drawing/2014/main" id="{99B6D816-F906-EBB7-362A-3CB507BDDE33}"/>
              </a:ext>
            </a:extLst>
          </p:cNvPr>
          <p:cNvSpPr txBox="1">
            <a:spLocks/>
          </p:cNvSpPr>
          <p:nvPr/>
        </p:nvSpPr>
        <p:spPr bwMode="auto">
          <a:xfrm>
            <a:off x="479376" y="1253490"/>
            <a:ext cx="11017224" cy="548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en-US" altLang="zh-CN" sz="2000" dirty="0" err="1"/>
              <a:t>TuGraph</a:t>
            </a:r>
            <a:r>
              <a:rPr lang="zh-CN" altLang="en-US" sz="2000" dirty="0"/>
              <a:t>使用</a:t>
            </a:r>
            <a:r>
              <a:rPr lang="en-US" altLang="zh-CN" sz="2000" dirty="0"/>
              <a:t>Cypher</a:t>
            </a:r>
            <a:r>
              <a:rPr lang="zh-CN" altLang="en-US" sz="2000" dirty="0"/>
              <a:t>语言进行查询。</a:t>
            </a:r>
            <a:endParaRPr lang="en-US" altLang="zh-CN" sz="2000" dirty="0"/>
          </a:p>
          <a:p>
            <a:pPr eaLnBrk="1" hangingPunct="1">
              <a:lnSpc>
                <a:spcPct val="150000"/>
              </a:lnSpc>
              <a:spcBef>
                <a:spcPts val="0"/>
              </a:spcBef>
              <a:spcAft>
                <a:spcPts val="0"/>
              </a:spcAft>
            </a:pPr>
            <a:r>
              <a:rPr lang="zh-CN" altLang="en-US" sz="2000" dirty="0">
                <a:latin typeface="SimSun" panose="02010600030101010101" pitchFamily="2" charset="-122"/>
                <a:ea typeface="SimSun" panose="02010600030101010101" pitchFamily="2" charset="-122"/>
                <a:cs typeface="Times New Roman" pitchFamily="18" charset="0"/>
              </a:rPr>
              <a:t>什么是</a:t>
            </a:r>
            <a:r>
              <a:rPr lang="en-US" altLang="zh-CN" sz="2000" dirty="0">
                <a:latin typeface="SimSun" panose="02010600030101010101" pitchFamily="2" charset="-122"/>
                <a:ea typeface="SimSun" panose="02010600030101010101" pitchFamily="2" charset="-122"/>
                <a:cs typeface="Times New Roman" pitchFamily="18" charset="0"/>
              </a:rPr>
              <a:t>Cypher</a:t>
            </a:r>
            <a:r>
              <a:rPr lang="zh-CN" altLang="en-US" sz="2000" dirty="0">
                <a:latin typeface="SimSun" panose="02010600030101010101" pitchFamily="2" charset="-122"/>
                <a:ea typeface="SimSun" panose="02010600030101010101" pitchFamily="2" charset="-122"/>
                <a:cs typeface="Times New Roman" pitchFamily="18" charset="0"/>
              </a:rPr>
              <a:t>？</a:t>
            </a:r>
            <a:endParaRPr lang="en-US" altLang="zh-CN" sz="2000" dirty="0">
              <a:latin typeface="SimSun" panose="02010600030101010101" pitchFamily="2" charset="-122"/>
              <a:ea typeface="SimSun" panose="02010600030101010101" pitchFamily="2" charset="-122"/>
              <a:cs typeface="Times New Roman" pitchFamily="18" charset="0"/>
            </a:endParaRPr>
          </a:p>
          <a:p>
            <a:pPr marL="0" indent="0" eaLnBrk="1" hangingPunct="1">
              <a:lnSpc>
                <a:spcPct val="150000"/>
              </a:lnSpc>
              <a:spcBef>
                <a:spcPts val="0"/>
              </a:spcBef>
              <a:spcAft>
                <a:spcPts val="0"/>
              </a:spcAft>
              <a:buNone/>
            </a:pPr>
            <a:r>
              <a:rPr lang="en-US" altLang="zh-CN" sz="2000" dirty="0">
                <a:latin typeface="SimSun" panose="02010600030101010101" pitchFamily="2" charset="-122"/>
                <a:ea typeface="SimSun" panose="02010600030101010101" pitchFamily="2" charset="-122"/>
                <a:cs typeface="Times New Roman" pitchFamily="18" charset="0"/>
              </a:rPr>
              <a:t>Cypher</a:t>
            </a:r>
            <a:r>
              <a:rPr lang="zh-CN" altLang="en-US" sz="2000" dirty="0">
                <a:latin typeface="SimSun" panose="02010600030101010101" pitchFamily="2" charset="-122"/>
                <a:ea typeface="SimSun" panose="02010600030101010101" pitchFamily="2" charset="-122"/>
                <a:cs typeface="Times New Roman" pitchFamily="18" charset="0"/>
              </a:rPr>
              <a:t>是一种声明式图查询语言，表达高效查询和更新图数据库。</a:t>
            </a:r>
            <a:r>
              <a:rPr lang="en-US" altLang="zh-CN" sz="2000" dirty="0">
                <a:latin typeface="SimSun" panose="02010600030101010101" pitchFamily="2" charset="-122"/>
                <a:ea typeface="SimSun" panose="02010600030101010101" pitchFamily="2" charset="-122"/>
                <a:cs typeface="Times New Roman" pitchFamily="18" charset="0"/>
              </a:rPr>
              <a:t>Cypher</a:t>
            </a:r>
            <a:r>
              <a:rPr lang="zh-CN" altLang="en-US" sz="2000" dirty="0">
                <a:latin typeface="SimSun" panose="02010600030101010101" pitchFamily="2" charset="-122"/>
                <a:ea typeface="SimSun" panose="02010600030101010101" pitchFamily="2" charset="-122"/>
                <a:cs typeface="Times New Roman" pitchFamily="18" charset="0"/>
              </a:rPr>
              <a:t>是相对简单的查询语法，它让我们更关注业务领域问题。</a:t>
            </a:r>
            <a:endParaRPr lang="en-US" altLang="zh-CN" sz="2000" dirty="0">
              <a:latin typeface="SimSun" panose="02010600030101010101" pitchFamily="2" charset="-122"/>
              <a:ea typeface="SimSun" panose="02010600030101010101" pitchFamily="2" charset="-122"/>
              <a:cs typeface="Times New Roman" pitchFamily="18" charset="0"/>
            </a:endParaRPr>
          </a:p>
          <a:p>
            <a:pPr marL="0" indent="0" eaLnBrk="1" hangingPunct="1">
              <a:lnSpc>
                <a:spcPct val="150000"/>
              </a:lnSpc>
              <a:spcBef>
                <a:spcPts val="0"/>
              </a:spcBef>
              <a:spcAft>
                <a:spcPts val="0"/>
              </a:spcAft>
              <a:buNone/>
            </a:pPr>
            <a:r>
              <a:rPr lang="en-US" altLang="zh-CN" sz="2000" dirty="0">
                <a:latin typeface="SimSun" panose="02010600030101010101" pitchFamily="2" charset="-122"/>
                <a:ea typeface="SimSun" panose="02010600030101010101" pitchFamily="2" charset="-122"/>
                <a:cs typeface="Times New Roman" pitchFamily="18" charset="0"/>
              </a:rPr>
              <a:t>Cypher</a:t>
            </a:r>
            <a:r>
              <a:rPr lang="zh-CN" altLang="en-US" sz="2000" dirty="0">
                <a:latin typeface="SimSun" panose="02010600030101010101" pitchFamily="2" charset="-122"/>
                <a:ea typeface="SimSun" panose="02010600030101010101" pitchFamily="2" charset="-122"/>
                <a:cs typeface="Times New Roman" pitchFamily="18" charset="0"/>
              </a:rPr>
              <a:t>语言的关键字不区分大小写，但是属性值，标签，关系类型和变量是区分大小写的。</a:t>
            </a:r>
            <a:endParaRPr lang="en-US" altLang="zh-CN" sz="2000" dirty="0">
              <a:latin typeface="SimSun" panose="02010600030101010101" pitchFamily="2" charset="-122"/>
              <a:ea typeface="SimSun" panose="02010600030101010101" pitchFamily="2" charset="-122"/>
              <a:cs typeface="Times New Roman" pitchFamily="18" charset="0"/>
            </a:endParaRPr>
          </a:p>
          <a:p>
            <a:pPr marL="0" indent="0" eaLnBrk="1" hangingPunct="1">
              <a:lnSpc>
                <a:spcPct val="150000"/>
              </a:lnSpc>
              <a:spcBef>
                <a:spcPts val="0"/>
              </a:spcBef>
              <a:spcAft>
                <a:spcPts val="0"/>
              </a:spcAft>
              <a:buNone/>
            </a:pPr>
            <a:r>
              <a:rPr lang="zh-CN" altLang="en-US" sz="2000" dirty="0">
                <a:latin typeface="SimSun" panose="02010600030101010101" pitchFamily="2" charset="-122"/>
                <a:ea typeface="SimSun" panose="02010600030101010101" pitchFamily="2" charset="-122"/>
                <a:cs typeface="Times New Roman" pitchFamily="18" charset="0"/>
              </a:rPr>
              <a:t>图数据库中不存在表的概念，只有标签</a:t>
            </a:r>
            <a:r>
              <a:rPr lang="en-US" altLang="zh-CN" sz="2000" dirty="0">
                <a:latin typeface="SimSun" panose="02010600030101010101" pitchFamily="2" charset="-122"/>
                <a:ea typeface="SimSun" panose="02010600030101010101" pitchFamily="2" charset="-122"/>
                <a:cs typeface="Times New Roman" pitchFamily="18" charset="0"/>
              </a:rPr>
              <a:t>(labels),</a:t>
            </a:r>
            <a:r>
              <a:rPr lang="zh-CN" altLang="en-US" sz="2000" dirty="0">
                <a:latin typeface="SimSun" panose="02010600030101010101" pitchFamily="2" charset="-122"/>
                <a:ea typeface="SimSun" panose="02010600030101010101" pitchFamily="2" charset="-122"/>
                <a:cs typeface="Times New Roman" pitchFamily="18" charset="0"/>
              </a:rPr>
              <a:t>节点</a:t>
            </a:r>
            <a:r>
              <a:rPr lang="en-US" altLang="zh-CN" sz="2000" dirty="0">
                <a:latin typeface="SimSun" panose="02010600030101010101" pitchFamily="2" charset="-122"/>
                <a:ea typeface="SimSun" panose="02010600030101010101" pitchFamily="2" charset="-122"/>
                <a:cs typeface="Times New Roman" pitchFamily="18" charset="0"/>
              </a:rPr>
              <a:t>(Node),</a:t>
            </a:r>
            <a:r>
              <a:rPr lang="zh-CN" altLang="en-US" sz="2000" dirty="0">
                <a:latin typeface="SimSun" panose="02010600030101010101" pitchFamily="2" charset="-122"/>
                <a:ea typeface="SimSun" panose="02010600030101010101" pitchFamily="2" charset="-122"/>
                <a:cs typeface="Times New Roman" pitchFamily="18" charset="0"/>
              </a:rPr>
              <a:t>关联</a:t>
            </a:r>
            <a:r>
              <a:rPr lang="en-US" altLang="zh-CN" sz="2000" dirty="0">
                <a:latin typeface="SimSun" panose="02010600030101010101" pitchFamily="2" charset="-122"/>
                <a:ea typeface="SimSun" panose="02010600030101010101" pitchFamily="2" charset="-122"/>
                <a:cs typeface="Times New Roman" pitchFamily="18" charset="0"/>
              </a:rPr>
              <a:t>(Relation),</a:t>
            </a:r>
            <a:r>
              <a:rPr lang="zh-CN" altLang="en-US" sz="2000" dirty="0">
                <a:latin typeface="SimSun" panose="02010600030101010101" pitchFamily="2" charset="-122"/>
                <a:ea typeface="SimSun" panose="02010600030101010101" pitchFamily="2" charset="-122"/>
                <a:cs typeface="Times New Roman" pitchFamily="18" charset="0"/>
              </a:rPr>
              <a:t>路径</a:t>
            </a:r>
            <a:r>
              <a:rPr lang="en-US" altLang="zh-CN" sz="2000" dirty="0">
                <a:latin typeface="SimSun" panose="02010600030101010101" pitchFamily="2" charset="-122"/>
                <a:ea typeface="SimSun" panose="02010600030101010101" pitchFamily="2" charset="-122"/>
                <a:cs typeface="Times New Roman" pitchFamily="18" charset="0"/>
              </a:rPr>
              <a:t>(path)</a:t>
            </a:r>
            <a:r>
              <a:rPr lang="zh-CN" altLang="en-US" sz="2000" dirty="0">
                <a:latin typeface="SimSun" panose="02010600030101010101" pitchFamily="2" charset="-122"/>
                <a:ea typeface="SimSun" panose="02010600030101010101" pitchFamily="2" charset="-122"/>
                <a:cs typeface="Times New Roman" pitchFamily="18" charset="0"/>
              </a:rPr>
              <a:t>，标签里存的节点</a:t>
            </a:r>
            <a:r>
              <a:rPr lang="en-US" altLang="zh-CN" sz="2000" dirty="0">
                <a:latin typeface="SimSun" panose="02010600030101010101" pitchFamily="2" charset="-122"/>
                <a:ea typeface="SimSun" panose="02010600030101010101" pitchFamily="2" charset="-122"/>
                <a:cs typeface="Times New Roman" pitchFamily="18" charset="0"/>
              </a:rPr>
              <a:t>,</a:t>
            </a:r>
            <a:r>
              <a:rPr lang="zh-CN" altLang="en-US" sz="2000" dirty="0">
                <a:latin typeface="SimSun" panose="02010600030101010101" pitchFamily="2" charset="-122"/>
                <a:ea typeface="SimSun" panose="02010600030101010101" pitchFamily="2" charset="-122"/>
                <a:cs typeface="Times New Roman" pitchFamily="18" charset="0"/>
              </a:rPr>
              <a:t>节点和关系可以简单理解为图里面的点和边</a:t>
            </a:r>
            <a:r>
              <a:rPr lang="en-US" altLang="zh-CN" sz="2000" dirty="0">
                <a:latin typeface="SimSun" panose="02010600030101010101" pitchFamily="2" charset="-122"/>
                <a:ea typeface="SimSun" panose="02010600030101010101" pitchFamily="2" charset="-122"/>
                <a:cs typeface="Times New Roman" pitchFamily="18" charset="0"/>
              </a:rPr>
              <a:t>,</a:t>
            </a:r>
            <a:r>
              <a:rPr lang="zh-CN" altLang="en-US" sz="2000" dirty="0">
                <a:latin typeface="SimSun" panose="02010600030101010101" pitchFamily="2" charset="-122"/>
                <a:ea typeface="SimSun" panose="02010600030101010101" pitchFamily="2" charset="-122"/>
                <a:cs typeface="Times New Roman" pitchFamily="18" charset="0"/>
              </a:rPr>
              <a:t>路径是用节点和关系表示的如：</a:t>
            </a:r>
            <a:r>
              <a:rPr lang="en-US" altLang="zh-CN" sz="2000" dirty="0">
                <a:latin typeface="SimSun" panose="02010600030101010101" pitchFamily="2" charset="-122"/>
                <a:ea typeface="SimSun" panose="02010600030101010101" pitchFamily="2" charset="-122"/>
                <a:cs typeface="Times New Roman" pitchFamily="18" charset="0"/>
              </a:rPr>
              <a:t>(a)-[r]-&gt;(b)</a:t>
            </a:r>
            <a:r>
              <a:rPr lang="zh-CN" altLang="en-US" sz="2000" dirty="0">
                <a:latin typeface="SimSun" panose="02010600030101010101" pitchFamily="2" charset="-122"/>
                <a:ea typeface="SimSun" panose="02010600030101010101" pitchFamily="2" charset="-122"/>
                <a:cs typeface="Times New Roman" pitchFamily="18" charset="0"/>
              </a:rPr>
              <a:t>，表示一条从节点</a:t>
            </a:r>
            <a:r>
              <a:rPr lang="en-US" altLang="zh-CN" sz="2000" dirty="0">
                <a:latin typeface="SimSun" panose="02010600030101010101" pitchFamily="2" charset="-122"/>
                <a:ea typeface="SimSun" panose="02010600030101010101" pitchFamily="2" charset="-122"/>
                <a:cs typeface="Times New Roman" pitchFamily="18" charset="0"/>
              </a:rPr>
              <a:t>a</a:t>
            </a:r>
            <a:r>
              <a:rPr lang="zh-CN" altLang="en-US" sz="2000" dirty="0">
                <a:latin typeface="SimSun" panose="02010600030101010101" pitchFamily="2" charset="-122"/>
                <a:ea typeface="SimSun" panose="02010600030101010101" pitchFamily="2" charset="-122"/>
                <a:cs typeface="Times New Roman" pitchFamily="18" charset="0"/>
              </a:rPr>
              <a:t>经关系</a:t>
            </a:r>
            <a:r>
              <a:rPr lang="en-US" altLang="zh-CN" sz="2000" dirty="0">
                <a:latin typeface="SimSun" panose="02010600030101010101" pitchFamily="2" charset="-122"/>
                <a:ea typeface="SimSun" panose="02010600030101010101" pitchFamily="2" charset="-122"/>
                <a:cs typeface="Times New Roman" pitchFamily="18" charset="0"/>
              </a:rPr>
              <a:t>r</a:t>
            </a:r>
            <a:r>
              <a:rPr lang="zh-CN" altLang="en-US" sz="2000" dirty="0">
                <a:latin typeface="SimSun" panose="02010600030101010101" pitchFamily="2" charset="-122"/>
                <a:ea typeface="SimSun" panose="02010600030101010101" pitchFamily="2" charset="-122"/>
                <a:cs typeface="Times New Roman" pitchFamily="18" charset="0"/>
              </a:rPr>
              <a:t>到节点</a:t>
            </a:r>
            <a:r>
              <a:rPr lang="en-US" altLang="zh-CN" sz="2000" dirty="0">
                <a:latin typeface="SimSun" panose="02010600030101010101" pitchFamily="2" charset="-122"/>
                <a:ea typeface="SimSun" panose="02010600030101010101" pitchFamily="2" charset="-122"/>
                <a:cs typeface="Times New Roman" pitchFamily="18" charset="0"/>
              </a:rPr>
              <a:t>b</a:t>
            </a:r>
            <a:r>
              <a:rPr lang="zh-CN" altLang="en-US" sz="2000" dirty="0">
                <a:latin typeface="SimSun" panose="02010600030101010101" pitchFamily="2" charset="-122"/>
                <a:ea typeface="SimSun" panose="02010600030101010101" pitchFamily="2" charset="-122"/>
                <a:cs typeface="Times New Roman" pitchFamily="18" charset="0"/>
              </a:rPr>
              <a:t>的路径。</a:t>
            </a:r>
            <a:endParaRPr lang="en-US" altLang="zh-CN" sz="2000" dirty="0">
              <a:latin typeface="SimSun" panose="02010600030101010101" pitchFamily="2" charset="-122"/>
              <a:ea typeface="SimSun" panose="02010600030101010101" pitchFamily="2" charset="-122"/>
              <a:cs typeface="Times New Roman" pitchFamily="18" charset="0"/>
            </a:endParaRPr>
          </a:p>
          <a:p>
            <a:pPr marL="0" indent="0" eaLnBrk="1" hangingPunct="1">
              <a:lnSpc>
                <a:spcPct val="150000"/>
              </a:lnSpc>
              <a:spcBef>
                <a:spcPts val="0"/>
              </a:spcBef>
              <a:spcAft>
                <a:spcPts val="0"/>
              </a:spcAft>
              <a:buNone/>
            </a:pPr>
            <a:r>
              <a:rPr lang="zh-CN" altLang="en-US" sz="2000" dirty="0">
                <a:latin typeface="SimSun" panose="02010600030101010101" pitchFamily="2" charset="-122"/>
                <a:ea typeface="SimSun" panose="02010600030101010101" pitchFamily="2" charset="-122"/>
                <a:cs typeface="Times New Roman" pitchFamily="18" charset="0"/>
              </a:rPr>
              <a:t>在数据查询中，节点一般用小括号</a:t>
            </a:r>
            <a:r>
              <a:rPr lang="en-US" altLang="zh-CN" sz="2000" dirty="0">
                <a:latin typeface="SimSun" panose="02010600030101010101" pitchFamily="2" charset="-122"/>
                <a:ea typeface="SimSun" panose="02010600030101010101" pitchFamily="2" charset="-122"/>
                <a:cs typeface="Times New Roman" pitchFamily="18" charset="0"/>
              </a:rPr>
              <a:t>()</a:t>
            </a:r>
            <a:r>
              <a:rPr lang="zh-CN" altLang="en-US" sz="2000" dirty="0">
                <a:latin typeface="SimSun" panose="02010600030101010101" pitchFamily="2" charset="-122"/>
                <a:ea typeface="SimSun" panose="02010600030101010101" pitchFamily="2" charset="-122"/>
                <a:cs typeface="Times New Roman" pitchFamily="18" charset="0"/>
              </a:rPr>
              <a:t>，关联用中括号</a:t>
            </a:r>
            <a:r>
              <a:rPr lang="en-US" altLang="zh-CN" sz="2000" dirty="0">
                <a:latin typeface="SimSun" panose="02010600030101010101" pitchFamily="2" charset="-122"/>
                <a:ea typeface="SimSun" panose="02010600030101010101" pitchFamily="2" charset="-122"/>
                <a:cs typeface="Times New Roman" pitchFamily="18" charset="0"/>
              </a:rPr>
              <a:t>[]</a:t>
            </a:r>
            <a:r>
              <a:rPr lang="zh-CN" altLang="en-US" sz="2000" dirty="0">
                <a:latin typeface="SimSun" panose="02010600030101010101" pitchFamily="2" charset="-122"/>
                <a:ea typeface="SimSun" panose="02010600030101010101" pitchFamily="2" charset="-122"/>
                <a:cs typeface="Times New Roman" pitchFamily="18" charset="0"/>
              </a:rPr>
              <a:t>。</a:t>
            </a:r>
            <a:endParaRPr lang="en-US" altLang="zh-CN" sz="2000" dirty="0">
              <a:latin typeface="SimSun" panose="02010600030101010101" pitchFamily="2" charset="-122"/>
              <a:ea typeface="SimSun" panose="02010600030101010101" pitchFamily="2" charset="-122"/>
              <a:cs typeface="Times New Roman" pitchFamily="18" charset="0"/>
            </a:endParaRPr>
          </a:p>
        </p:txBody>
      </p:sp>
    </p:spTree>
    <p:extLst>
      <p:ext uri="{BB962C8B-B14F-4D97-AF65-F5344CB8AC3E}">
        <p14:creationId xmlns:p14="http://schemas.microsoft.com/office/powerpoint/2010/main" val="3693635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数据查询</a:t>
            </a:r>
          </a:p>
        </p:txBody>
      </p:sp>
      <p:sp>
        <p:nvSpPr>
          <p:cNvPr id="3" name="内容占位符 2">
            <a:extLst>
              <a:ext uri="{FF2B5EF4-FFF2-40B4-BE49-F238E27FC236}">
                <a16:creationId xmlns:a16="http://schemas.microsoft.com/office/drawing/2014/main" id="{99B6D816-F906-EBB7-362A-3CB507BDDE33}"/>
              </a:ext>
            </a:extLst>
          </p:cNvPr>
          <p:cNvSpPr txBox="1">
            <a:spLocks/>
          </p:cNvSpPr>
          <p:nvPr/>
        </p:nvSpPr>
        <p:spPr bwMode="auto">
          <a:xfrm>
            <a:off x="479376" y="1253490"/>
            <a:ext cx="11017224" cy="548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zh-CN" altLang="en-US" sz="2000" dirty="0"/>
              <a:t>节点和关系</a:t>
            </a:r>
            <a:endParaRPr lang="en-US" altLang="zh-CN" sz="2000" dirty="0"/>
          </a:p>
          <a:p>
            <a:pPr marL="0" indent="0" eaLnBrk="1" hangingPunct="1">
              <a:lnSpc>
                <a:spcPct val="150000"/>
              </a:lnSpc>
              <a:spcBef>
                <a:spcPts val="0"/>
              </a:spcBef>
              <a:spcAft>
                <a:spcPts val="0"/>
              </a:spcAft>
              <a:buNone/>
            </a:pPr>
            <a:r>
              <a:rPr lang="en-US" altLang="zh-CN" sz="2000" dirty="0"/>
              <a:t>Cypher </a:t>
            </a:r>
            <a:r>
              <a:rPr lang="zh-CN" altLang="en-US" sz="2000" dirty="0"/>
              <a:t>采用一对圆括号 </a:t>
            </a:r>
            <a:r>
              <a:rPr lang="en-US" altLang="zh-CN" sz="2000" dirty="0"/>
              <a:t>() </a:t>
            </a:r>
            <a:r>
              <a:rPr lang="zh-CN" altLang="en-US" sz="2000" dirty="0"/>
              <a:t>来表示节点，如 </a:t>
            </a:r>
            <a:r>
              <a:rPr lang="en-US" altLang="zh-CN" sz="2000" dirty="0"/>
              <a:t>(n:</a:t>
            </a:r>
            <a:r>
              <a:rPr lang="zh-CN" altLang="en-US" sz="2000" dirty="0"/>
              <a:t>角色</a:t>
            </a:r>
            <a:r>
              <a:rPr lang="en-US" altLang="zh-CN" sz="2000" dirty="0"/>
              <a:t>) </a:t>
            </a:r>
            <a:r>
              <a:rPr lang="zh-CN" altLang="en-US" sz="2000" dirty="0"/>
              <a:t>表示一个 角色 节点，</a:t>
            </a:r>
            <a:r>
              <a:rPr lang="en-US" altLang="zh-CN" sz="2000" dirty="0"/>
              <a:t>n </a:t>
            </a:r>
            <a:r>
              <a:rPr lang="zh-CN" altLang="en-US" sz="2000" dirty="0"/>
              <a:t>是变量名，供命令执行时用 </a:t>
            </a:r>
            <a:r>
              <a:rPr lang="en-US" altLang="zh-CN" sz="2000" dirty="0"/>
              <a:t>n </a:t>
            </a:r>
            <a:r>
              <a:rPr lang="zh-CN" altLang="en-US" sz="2000" dirty="0"/>
              <a:t>来访问这个节点，在命令执行完毕后就无法使用了。同时单独的 </a:t>
            </a:r>
            <a:r>
              <a:rPr lang="en-US" altLang="zh-CN" sz="2000" dirty="0"/>
              <a:t>() </a:t>
            </a:r>
            <a:r>
              <a:rPr lang="zh-CN" altLang="en-US" sz="2000" dirty="0"/>
              <a:t>表示一个匿名节点，在匹配时表示匹配所有节点。在关系中</a:t>
            </a:r>
            <a:endParaRPr lang="en-US" altLang="zh-CN" sz="2000" dirty="0"/>
          </a:p>
          <a:p>
            <a:pPr marL="0" indent="0" eaLnBrk="1" hangingPunct="1">
              <a:lnSpc>
                <a:spcPct val="150000"/>
              </a:lnSpc>
              <a:spcBef>
                <a:spcPts val="0"/>
              </a:spcBef>
              <a:spcAft>
                <a:spcPts val="0"/>
              </a:spcAft>
              <a:buNone/>
            </a:pPr>
            <a:r>
              <a:rPr lang="en-US" altLang="zh-CN" sz="2000" dirty="0"/>
              <a:t>–</a:t>
            </a:r>
            <a:r>
              <a:rPr lang="zh-CN" altLang="en-US" sz="2000" dirty="0"/>
              <a:t>表示无方向的关系</a:t>
            </a:r>
            <a:endParaRPr lang="en-US" altLang="zh-CN" sz="2000" dirty="0"/>
          </a:p>
          <a:p>
            <a:pPr marL="0" indent="0" eaLnBrk="1" hangingPunct="1">
              <a:lnSpc>
                <a:spcPct val="150000"/>
              </a:lnSpc>
              <a:spcBef>
                <a:spcPts val="0"/>
              </a:spcBef>
              <a:spcAft>
                <a:spcPts val="0"/>
              </a:spcAft>
              <a:buNone/>
            </a:pPr>
            <a:r>
              <a:rPr lang="en-US" altLang="zh-CN" sz="2000" dirty="0"/>
              <a:t>–&gt; </a:t>
            </a:r>
            <a:r>
              <a:rPr lang="zh-CN" altLang="en-US" sz="2000" dirty="0"/>
              <a:t>表示有方向的关系</a:t>
            </a:r>
            <a:endParaRPr lang="en-US" altLang="zh-CN" sz="2000" dirty="0"/>
          </a:p>
          <a:p>
            <a:pPr marL="0" indent="0" eaLnBrk="1" hangingPunct="1">
              <a:lnSpc>
                <a:spcPct val="150000"/>
              </a:lnSpc>
              <a:spcBef>
                <a:spcPts val="0"/>
              </a:spcBef>
              <a:spcAft>
                <a:spcPts val="0"/>
              </a:spcAft>
              <a:buNone/>
            </a:pPr>
            <a:r>
              <a:rPr lang="en-US" altLang="zh-CN" sz="2000" dirty="0"/>
              <a:t>-[r]-&gt; </a:t>
            </a:r>
            <a:r>
              <a:rPr lang="zh-CN" altLang="en-US" sz="2000" dirty="0"/>
              <a:t>则给关系赋予一个变量名，方便对这个关系进行操作</a:t>
            </a:r>
            <a:endParaRPr lang="en-US" altLang="zh-CN" sz="2000" dirty="0"/>
          </a:p>
          <a:p>
            <a:pPr marL="0" indent="0" eaLnBrk="1" hangingPunct="1">
              <a:lnSpc>
                <a:spcPct val="150000"/>
              </a:lnSpc>
              <a:spcBef>
                <a:spcPts val="0"/>
              </a:spcBef>
              <a:spcAft>
                <a:spcPts val="0"/>
              </a:spcAft>
              <a:buNone/>
            </a:pPr>
            <a:r>
              <a:rPr lang="en-US" altLang="zh-CN" sz="2000" dirty="0"/>
              <a:t>-[r:</a:t>
            </a:r>
            <a:r>
              <a:rPr lang="zh-CN" altLang="en-US" sz="2000" dirty="0"/>
              <a:t>配偶</a:t>
            </a:r>
            <a:r>
              <a:rPr lang="en-US" altLang="zh-CN" sz="2000" dirty="0"/>
              <a:t>]-&gt; </a:t>
            </a:r>
            <a:r>
              <a:rPr lang="zh-CN" altLang="en-US" sz="2000" dirty="0"/>
              <a:t>匹配关系为 配偶 的类型</a:t>
            </a:r>
            <a:endParaRPr lang="en-US" altLang="zh-CN" sz="2000" dirty="0"/>
          </a:p>
          <a:p>
            <a:pPr eaLnBrk="1" hangingPunct="1">
              <a:lnSpc>
                <a:spcPct val="150000"/>
              </a:lnSpc>
              <a:spcBef>
                <a:spcPts val="0"/>
              </a:spcBef>
              <a:spcAft>
                <a:spcPts val="0"/>
              </a:spcAft>
            </a:pPr>
            <a:r>
              <a:rPr lang="zh-CN" altLang="en-US" sz="2000" dirty="0"/>
              <a:t>匹配语句</a:t>
            </a:r>
            <a:endParaRPr lang="en-US" altLang="zh-CN" sz="2000" dirty="0"/>
          </a:p>
          <a:p>
            <a:pPr marL="0" indent="0" eaLnBrk="1" hangingPunct="1">
              <a:lnSpc>
                <a:spcPct val="150000"/>
              </a:lnSpc>
              <a:spcBef>
                <a:spcPts val="0"/>
              </a:spcBef>
              <a:spcAft>
                <a:spcPts val="0"/>
              </a:spcAft>
              <a:buNone/>
            </a:pPr>
            <a:r>
              <a:rPr lang="zh-CN" altLang="en-US" sz="2000" dirty="0"/>
              <a:t>在 </a:t>
            </a:r>
            <a:r>
              <a:rPr lang="en-US" altLang="zh-CN" sz="2000" dirty="0"/>
              <a:t>Cypher</a:t>
            </a:r>
            <a:r>
              <a:rPr lang="zh-CN" altLang="en-US" sz="2000" dirty="0"/>
              <a:t>语句</a:t>
            </a:r>
            <a:r>
              <a:rPr lang="en-US" altLang="zh-CN" sz="2000" dirty="0"/>
              <a:t> </a:t>
            </a:r>
            <a:r>
              <a:rPr lang="zh-CN" altLang="en-US" sz="2000" dirty="0"/>
              <a:t>中，</a:t>
            </a:r>
            <a:r>
              <a:rPr lang="en-US" altLang="zh-CN" sz="2000" dirty="0"/>
              <a:t>MATCH </a:t>
            </a:r>
            <a:r>
              <a:rPr lang="zh-CN" altLang="en-US" sz="2000" dirty="0"/>
              <a:t>命令用于从数据库中获取节点，关系的信息，类似于 </a:t>
            </a:r>
            <a:r>
              <a:rPr lang="en-US" altLang="zh-CN" sz="2000" dirty="0"/>
              <a:t>SQL </a:t>
            </a:r>
            <a:r>
              <a:rPr lang="zh-CN" altLang="en-US" sz="2000" dirty="0"/>
              <a:t>中的 </a:t>
            </a:r>
            <a:r>
              <a:rPr lang="en-US" altLang="zh-CN" sz="2000" dirty="0"/>
              <a:t>SELECT</a:t>
            </a:r>
            <a:r>
              <a:rPr lang="zh-CN" altLang="en-US" sz="2000" dirty="0"/>
              <a:t>。</a:t>
            </a:r>
            <a:r>
              <a:rPr lang="en-US" altLang="zh-CN" sz="2000" dirty="0"/>
              <a:t>RETURN </a:t>
            </a:r>
            <a:r>
              <a:rPr lang="zh-CN" altLang="en-US" sz="2000" dirty="0"/>
              <a:t>则是在 </a:t>
            </a:r>
            <a:r>
              <a:rPr lang="en-US" altLang="zh-CN" sz="2000" dirty="0"/>
              <a:t>MATCH </a:t>
            </a:r>
            <a:r>
              <a:rPr lang="zh-CN" altLang="en-US" sz="2000" dirty="0"/>
              <a:t>搜索完成后返回数据，因此 </a:t>
            </a:r>
            <a:r>
              <a:rPr lang="en-US" altLang="zh-CN" sz="2000" dirty="0"/>
              <a:t>MATCH </a:t>
            </a:r>
            <a:r>
              <a:rPr lang="zh-CN" altLang="en-US" sz="2000" dirty="0"/>
              <a:t>必须与 </a:t>
            </a:r>
            <a:r>
              <a:rPr lang="en-US" altLang="zh-CN" sz="2000" dirty="0"/>
              <a:t>RETURN </a:t>
            </a:r>
            <a:r>
              <a:rPr lang="zh-CN" altLang="en-US" sz="2000" dirty="0"/>
              <a:t>同时使用。</a:t>
            </a:r>
            <a:endParaRPr lang="en-US" altLang="zh-CN" sz="2000" dirty="0"/>
          </a:p>
          <a:p>
            <a:pPr eaLnBrk="1" hangingPunct="1">
              <a:lnSpc>
                <a:spcPct val="150000"/>
              </a:lnSpc>
              <a:spcBef>
                <a:spcPts val="0"/>
              </a:spcBef>
              <a:spcAft>
                <a:spcPts val="0"/>
              </a:spcAft>
            </a:pPr>
            <a:endParaRPr lang="en-US" altLang="zh-CN" sz="2000" dirty="0"/>
          </a:p>
          <a:p>
            <a:pPr eaLnBrk="1" hangingPunct="1">
              <a:lnSpc>
                <a:spcPct val="150000"/>
              </a:lnSpc>
              <a:spcBef>
                <a:spcPts val="0"/>
              </a:spcBef>
              <a:spcAft>
                <a:spcPts val="0"/>
              </a:spcAft>
            </a:pPr>
            <a:endParaRPr lang="en-US" altLang="zh-CN" sz="2000" dirty="0"/>
          </a:p>
        </p:txBody>
      </p:sp>
    </p:spTree>
    <p:extLst>
      <p:ext uri="{BB962C8B-B14F-4D97-AF65-F5344CB8AC3E}">
        <p14:creationId xmlns:p14="http://schemas.microsoft.com/office/powerpoint/2010/main" val="2929571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Cypher</a:t>
            </a:r>
            <a:r>
              <a:rPr lang="zh-CN" altLang="en-US" dirty="0"/>
              <a:t>语句增删改查示例</a:t>
            </a:r>
            <a:r>
              <a:rPr lang="en-US" altLang="zh-CN" dirty="0"/>
              <a:t>——</a:t>
            </a:r>
            <a:r>
              <a:rPr lang="zh-CN" altLang="en-US" dirty="0"/>
              <a:t>基础查询</a:t>
            </a:r>
          </a:p>
        </p:txBody>
      </p:sp>
      <p:sp>
        <p:nvSpPr>
          <p:cNvPr id="3" name="内容占位符 2">
            <a:extLst>
              <a:ext uri="{FF2B5EF4-FFF2-40B4-BE49-F238E27FC236}">
                <a16:creationId xmlns:a16="http://schemas.microsoft.com/office/drawing/2014/main" id="{99B6D816-F906-EBB7-362A-3CB507BDDE33}"/>
              </a:ext>
            </a:extLst>
          </p:cNvPr>
          <p:cNvSpPr txBox="1">
            <a:spLocks/>
          </p:cNvSpPr>
          <p:nvPr/>
        </p:nvSpPr>
        <p:spPr bwMode="auto">
          <a:xfrm>
            <a:off x="263352" y="1124744"/>
            <a:ext cx="11593288" cy="514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zh-CN" altLang="en-US" sz="2000" dirty="0"/>
              <a:t>查询所有节点： </a:t>
            </a:r>
            <a:r>
              <a:rPr lang="en-US" altLang="zh-CN" sz="2000" dirty="0"/>
              <a:t>MATCH (n) RETURN n</a:t>
            </a:r>
          </a:p>
          <a:p>
            <a:pPr eaLnBrk="1" hangingPunct="1">
              <a:lnSpc>
                <a:spcPct val="150000"/>
              </a:lnSpc>
              <a:spcBef>
                <a:spcPts val="0"/>
              </a:spcBef>
              <a:spcAft>
                <a:spcPts val="0"/>
              </a:spcAft>
            </a:pPr>
            <a:r>
              <a:rPr lang="zh-CN" altLang="en-US" sz="2000" dirty="0"/>
              <a:t>根据标签匹配节点：例如：匹配所有的</a:t>
            </a:r>
            <a:r>
              <a:rPr lang="en-US" altLang="zh-CN" sz="2000" dirty="0"/>
              <a:t>person</a:t>
            </a:r>
            <a:r>
              <a:rPr lang="zh-CN" altLang="en-US" sz="2000" dirty="0"/>
              <a:t>：</a:t>
            </a:r>
            <a:r>
              <a:rPr lang="en-US" altLang="zh-CN" sz="2000" dirty="0"/>
              <a:t>match (</a:t>
            </a:r>
            <a:r>
              <a:rPr lang="en-US" altLang="zh-CN" sz="2000" dirty="0" err="1"/>
              <a:t>n:person</a:t>
            </a:r>
            <a:r>
              <a:rPr lang="en-US" altLang="zh-CN" sz="2000" dirty="0"/>
              <a:t>) return n</a:t>
            </a:r>
          </a:p>
          <a:p>
            <a:pPr eaLnBrk="1" hangingPunct="1">
              <a:lnSpc>
                <a:spcPct val="150000"/>
              </a:lnSpc>
              <a:spcBef>
                <a:spcPts val="0"/>
              </a:spcBef>
              <a:spcAft>
                <a:spcPts val="0"/>
              </a:spcAft>
            </a:pPr>
            <a:r>
              <a:rPr lang="zh-CN" altLang="en-US" sz="2000" dirty="0"/>
              <a:t>根据标签和属性匹配节点：例如：匹配</a:t>
            </a:r>
            <a:r>
              <a:rPr lang="en-US" altLang="zh-CN" sz="2000" dirty="0"/>
              <a:t>name</a:t>
            </a:r>
            <a:r>
              <a:rPr lang="zh-CN" altLang="en-US" sz="2000" dirty="0"/>
              <a:t>为</a:t>
            </a:r>
            <a:r>
              <a:rPr lang="en-US" altLang="zh-CN" sz="2000" dirty="0"/>
              <a:t>Martin Scorsese</a:t>
            </a:r>
            <a:r>
              <a:rPr lang="zh-CN" altLang="en-US" sz="2000" dirty="0"/>
              <a:t>的</a:t>
            </a:r>
            <a:r>
              <a:rPr lang="en-US" altLang="zh-CN" sz="2000" dirty="0"/>
              <a:t>person</a:t>
            </a:r>
            <a:r>
              <a:rPr lang="zh-CN" altLang="en-US" sz="2000" dirty="0"/>
              <a:t>节点</a:t>
            </a:r>
            <a:endParaRPr lang="en-US" altLang="zh-CN" sz="2000" dirty="0"/>
          </a:p>
          <a:p>
            <a:pPr marL="0" indent="0" eaLnBrk="1" hangingPunct="1">
              <a:lnSpc>
                <a:spcPct val="150000"/>
              </a:lnSpc>
              <a:spcBef>
                <a:spcPts val="0"/>
              </a:spcBef>
              <a:spcAft>
                <a:spcPts val="0"/>
              </a:spcAft>
              <a:buNone/>
            </a:pPr>
            <a:r>
              <a:rPr lang="en-US" altLang="zh-CN" sz="2000" dirty="0"/>
              <a:t>match (</a:t>
            </a:r>
            <a:r>
              <a:rPr lang="en-US" altLang="zh-CN" sz="2000" dirty="0" err="1"/>
              <a:t>n:person</a:t>
            </a:r>
            <a:r>
              <a:rPr lang="en-US" altLang="zh-CN" sz="2000" dirty="0"/>
              <a:t>{</a:t>
            </a:r>
            <a:r>
              <a:rPr lang="en-US" altLang="zh-CN" sz="2000" dirty="0" err="1"/>
              <a:t>name:'Martin</a:t>
            </a:r>
            <a:r>
              <a:rPr lang="en-US" altLang="zh-CN" sz="2000" dirty="0"/>
              <a:t> Scorsese'}) return n</a:t>
            </a:r>
          </a:p>
          <a:p>
            <a:pPr marL="0" indent="0" eaLnBrk="1" hangingPunct="1">
              <a:lnSpc>
                <a:spcPct val="150000"/>
              </a:lnSpc>
              <a:spcBef>
                <a:spcPts val="0"/>
              </a:spcBef>
              <a:spcAft>
                <a:spcPts val="0"/>
              </a:spcAft>
              <a:buNone/>
            </a:pPr>
            <a:r>
              <a:rPr lang="en-US" altLang="zh-CN" sz="2000" dirty="0"/>
              <a:t>MATCH (n) WHERE n.name = 'Martin Scorsese' RETURN n</a:t>
            </a:r>
          </a:p>
          <a:p>
            <a:pPr marL="0" indent="0" eaLnBrk="1" hangingPunct="1">
              <a:lnSpc>
                <a:spcPct val="150000"/>
              </a:lnSpc>
              <a:spcBef>
                <a:spcPts val="0"/>
              </a:spcBef>
              <a:spcAft>
                <a:spcPts val="0"/>
              </a:spcAft>
              <a:buNone/>
            </a:pPr>
            <a:endParaRPr lang="en-US" altLang="zh-CN" sz="2000" dirty="0"/>
          </a:p>
          <a:p>
            <a:pPr eaLnBrk="1" hangingPunct="1">
              <a:lnSpc>
                <a:spcPct val="150000"/>
              </a:lnSpc>
              <a:spcBef>
                <a:spcPts val="0"/>
              </a:spcBef>
              <a:spcAft>
                <a:spcPts val="0"/>
              </a:spcAft>
            </a:pPr>
            <a:r>
              <a:rPr lang="zh-CN" altLang="en-US" sz="2000" dirty="0"/>
              <a:t>匹配任意关系：</a:t>
            </a:r>
            <a:r>
              <a:rPr lang="en-US" altLang="zh-CN" sz="2000" dirty="0"/>
              <a:t>match p = (n)-[r]-&gt;(m) return p</a:t>
            </a:r>
          </a:p>
          <a:p>
            <a:pPr eaLnBrk="1" hangingPunct="1">
              <a:lnSpc>
                <a:spcPct val="150000"/>
              </a:lnSpc>
              <a:spcBef>
                <a:spcPts val="0"/>
              </a:spcBef>
              <a:spcAft>
                <a:spcPts val="0"/>
              </a:spcAft>
            </a:pPr>
            <a:r>
              <a:rPr lang="zh-CN" altLang="en-US" sz="2000" dirty="0"/>
              <a:t>过滤匹配：①</a:t>
            </a:r>
            <a:r>
              <a:rPr lang="en-US" altLang="zh-CN" sz="2000" dirty="0"/>
              <a:t>match p = (n)-[r]-&gt;(</a:t>
            </a:r>
            <a:r>
              <a:rPr lang="en-US" altLang="zh-CN" sz="2000" dirty="0" err="1"/>
              <a:t>m:movie</a:t>
            </a:r>
            <a:r>
              <a:rPr lang="en-US" altLang="zh-CN" sz="2000" dirty="0"/>
              <a:t>{</a:t>
            </a:r>
            <a:r>
              <a:rPr lang="en-US" altLang="zh-CN" sz="2000" dirty="0" err="1"/>
              <a:t>title:‘The</a:t>
            </a:r>
            <a:r>
              <a:rPr lang="en-US" altLang="zh-CN" sz="2000" dirty="0"/>
              <a:t> Lord of the Rings: The Return of the King’}) return p</a:t>
            </a:r>
            <a:r>
              <a:rPr lang="zh-CN" altLang="en-US" sz="2000" dirty="0"/>
              <a:t>、</a:t>
            </a:r>
            <a:r>
              <a:rPr lang="en-US" altLang="zh-CN" sz="2000" dirty="0"/>
              <a:t> </a:t>
            </a:r>
            <a:r>
              <a:rPr lang="zh-CN" altLang="en-US" sz="2000" dirty="0"/>
              <a:t>②</a:t>
            </a:r>
            <a:r>
              <a:rPr lang="en-US" altLang="zh-CN" sz="2000" dirty="0"/>
              <a:t>MATCH (</a:t>
            </a:r>
            <a:r>
              <a:rPr lang="en-US" altLang="zh-CN" sz="2000" dirty="0" err="1"/>
              <a:t>n:person</a:t>
            </a:r>
            <a:r>
              <a:rPr lang="en-US" altLang="zh-CN" sz="2000" dirty="0"/>
              <a:t>)-[</a:t>
            </a:r>
            <a:r>
              <a:rPr lang="en-US" altLang="zh-CN" sz="2000" dirty="0" err="1"/>
              <a:t>r:produce</a:t>
            </a:r>
            <a:r>
              <a:rPr lang="en-US" altLang="zh-CN" sz="2000" dirty="0"/>
              <a:t>]-&gt;(</a:t>
            </a:r>
            <a:r>
              <a:rPr lang="en-US" altLang="zh-CN" sz="2000" dirty="0" err="1"/>
              <a:t>m:movie</a:t>
            </a:r>
            <a:r>
              <a:rPr lang="en-US" altLang="zh-CN" sz="2000" dirty="0"/>
              <a:t>) where n.name=‘Peter Jackson’ return </a:t>
            </a:r>
            <a:r>
              <a:rPr lang="en-US" altLang="zh-CN" sz="2000" dirty="0" err="1"/>
              <a:t>m.title</a:t>
            </a:r>
            <a:r>
              <a:rPr lang="zh-CN" altLang="en-US" sz="2000" dirty="0"/>
              <a:t>、③</a:t>
            </a:r>
            <a:r>
              <a:rPr lang="en-US" altLang="zh-CN" sz="2000" dirty="0"/>
              <a:t> MATCH (</a:t>
            </a:r>
            <a:r>
              <a:rPr lang="en-US" altLang="zh-CN" sz="2000" dirty="0" err="1"/>
              <a:t>n:movie</a:t>
            </a:r>
            <a:r>
              <a:rPr lang="en-US" altLang="zh-CN" sz="2000" dirty="0"/>
              <a:t>) where </a:t>
            </a:r>
            <a:r>
              <a:rPr lang="en-US" altLang="zh-CN" sz="2000" dirty="0" err="1"/>
              <a:t>n.title</a:t>
            </a:r>
            <a:r>
              <a:rPr lang="en-US" altLang="zh-CN" sz="2000" dirty="0"/>
              <a:t> starts with "The Lord of the Rings" return </a:t>
            </a:r>
            <a:r>
              <a:rPr lang="en-US" altLang="zh-CN" sz="2000" dirty="0" err="1"/>
              <a:t>n.title</a:t>
            </a:r>
            <a:endParaRPr lang="en-US" altLang="zh-CN" sz="2000" dirty="0"/>
          </a:p>
        </p:txBody>
      </p:sp>
    </p:spTree>
    <p:extLst>
      <p:ext uri="{BB962C8B-B14F-4D97-AF65-F5344CB8AC3E}">
        <p14:creationId xmlns:p14="http://schemas.microsoft.com/office/powerpoint/2010/main" val="1213443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Cypher</a:t>
            </a:r>
            <a:r>
              <a:rPr lang="zh-CN" altLang="en-US" dirty="0"/>
              <a:t>语句增删改查示例</a:t>
            </a:r>
            <a:r>
              <a:rPr lang="en-US" altLang="zh-CN" dirty="0"/>
              <a:t>——</a:t>
            </a:r>
            <a:r>
              <a:rPr lang="zh-CN" altLang="en-US" dirty="0"/>
              <a:t>创建与删除</a:t>
            </a:r>
          </a:p>
        </p:txBody>
      </p:sp>
      <p:sp>
        <p:nvSpPr>
          <p:cNvPr id="3" name="内容占位符 2">
            <a:extLst>
              <a:ext uri="{FF2B5EF4-FFF2-40B4-BE49-F238E27FC236}">
                <a16:creationId xmlns:a16="http://schemas.microsoft.com/office/drawing/2014/main" id="{99B6D816-F906-EBB7-362A-3CB507BDDE33}"/>
              </a:ext>
            </a:extLst>
          </p:cNvPr>
          <p:cNvSpPr txBox="1">
            <a:spLocks/>
          </p:cNvSpPr>
          <p:nvPr/>
        </p:nvSpPr>
        <p:spPr bwMode="auto">
          <a:xfrm>
            <a:off x="199165" y="836712"/>
            <a:ext cx="11593288" cy="514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zh-CN" altLang="en-US" sz="2000" dirty="0"/>
              <a:t>创建节点：创建一个</a:t>
            </a:r>
            <a:r>
              <a:rPr lang="en-US" altLang="zh-CN" sz="2000" dirty="0"/>
              <a:t>James Wan</a:t>
            </a:r>
            <a:r>
              <a:rPr lang="zh-CN" altLang="en-US" sz="2000" dirty="0"/>
              <a:t>的</a:t>
            </a:r>
            <a:r>
              <a:rPr lang="en-US" altLang="zh-CN" sz="2000" dirty="0"/>
              <a:t>person</a:t>
            </a:r>
            <a:r>
              <a:rPr lang="zh-CN" altLang="en-US" sz="2000" dirty="0"/>
              <a:t>节点，</a:t>
            </a:r>
            <a:r>
              <a:rPr lang="en-US" altLang="zh-CN" sz="2000" dirty="0"/>
              <a:t>create (</a:t>
            </a:r>
            <a:r>
              <a:rPr lang="en-US" altLang="zh-CN" sz="2000" dirty="0" err="1"/>
              <a:t>n:person</a:t>
            </a:r>
            <a:r>
              <a:rPr lang="en-US" altLang="zh-CN" sz="2000" dirty="0"/>
              <a:t>{</a:t>
            </a:r>
            <a:r>
              <a:rPr lang="en-US" altLang="zh-CN" sz="2000" dirty="0" err="1"/>
              <a:t>name:‘James</a:t>
            </a:r>
            <a:r>
              <a:rPr lang="en-US" altLang="zh-CN" sz="2000" dirty="0"/>
              <a:t> Wan’,id:10000,born:1977})</a:t>
            </a:r>
            <a:r>
              <a:rPr lang="zh-CN" altLang="en-US" sz="2000" dirty="0"/>
              <a:t>，</a:t>
            </a:r>
            <a:r>
              <a:rPr lang="en-US" altLang="zh-CN" sz="2000" dirty="0"/>
              <a:t>MATCH (</a:t>
            </a:r>
            <a:r>
              <a:rPr lang="en-US" altLang="zh-CN" sz="2000" dirty="0" err="1"/>
              <a:t>n:person</a:t>
            </a:r>
            <a:r>
              <a:rPr lang="en-US" altLang="zh-CN" sz="2000" dirty="0"/>
              <a:t>{</a:t>
            </a:r>
            <a:r>
              <a:rPr lang="en-US" altLang="zh-CN" sz="2000" dirty="0" err="1"/>
              <a:t>name:'James</a:t>
            </a:r>
            <a:r>
              <a:rPr lang="en-US" altLang="zh-CN" sz="2000" dirty="0"/>
              <a:t> Wan'}) return n</a:t>
            </a:r>
          </a:p>
          <a:p>
            <a:pPr eaLnBrk="1" hangingPunct="1">
              <a:lnSpc>
                <a:spcPct val="150000"/>
              </a:lnSpc>
              <a:spcBef>
                <a:spcPts val="0"/>
              </a:spcBef>
              <a:spcAft>
                <a:spcPts val="0"/>
              </a:spcAft>
            </a:pPr>
            <a:r>
              <a:rPr lang="zh-CN" altLang="en-US" sz="2000" dirty="0"/>
              <a:t>然后再创建一个</a:t>
            </a:r>
            <a:r>
              <a:rPr lang="en-US" altLang="zh-CN" sz="2000" dirty="0"/>
              <a:t>Fast &amp; Furious 7</a:t>
            </a:r>
            <a:r>
              <a:rPr lang="zh-CN" altLang="en-US" sz="2000" dirty="0"/>
              <a:t>的</a:t>
            </a:r>
            <a:r>
              <a:rPr lang="en-US" altLang="zh-CN" sz="2000" dirty="0"/>
              <a:t>movie</a:t>
            </a:r>
            <a:r>
              <a:rPr lang="zh-CN" altLang="en-US" sz="2000" dirty="0"/>
              <a:t>节点：</a:t>
            </a:r>
            <a:r>
              <a:rPr lang="en-US" altLang="zh-CN" sz="2000" dirty="0"/>
              <a:t>create (</a:t>
            </a:r>
            <a:r>
              <a:rPr lang="en-US" altLang="zh-CN" sz="2000" dirty="0" err="1"/>
              <a:t>n:movie</a:t>
            </a:r>
            <a:r>
              <a:rPr lang="en-US" altLang="zh-CN" sz="2000" dirty="0"/>
              <a:t>{</a:t>
            </a:r>
            <a:r>
              <a:rPr lang="en-US" altLang="zh-CN" sz="2000" dirty="0" err="1"/>
              <a:t>title:'Fast</a:t>
            </a:r>
            <a:r>
              <a:rPr lang="en-US" altLang="zh-CN" sz="2000" dirty="0"/>
              <a:t> &amp; Furious 7',id:10001})</a:t>
            </a:r>
          </a:p>
          <a:p>
            <a:pPr eaLnBrk="1" hangingPunct="1">
              <a:lnSpc>
                <a:spcPct val="150000"/>
              </a:lnSpc>
              <a:spcBef>
                <a:spcPts val="0"/>
              </a:spcBef>
              <a:spcAft>
                <a:spcPts val="0"/>
              </a:spcAft>
            </a:pPr>
            <a:r>
              <a:rPr lang="zh-CN" altLang="en-US" sz="2000" dirty="0"/>
              <a:t>创建关系：例如：创建一个</a:t>
            </a:r>
            <a:r>
              <a:rPr lang="en-US" altLang="zh-CN" sz="2000" dirty="0"/>
              <a:t>James Wan</a:t>
            </a:r>
            <a:r>
              <a:rPr lang="zh-CN" altLang="en-US" sz="2000" dirty="0"/>
              <a:t>制作</a:t>
            </a:r>
            <a:r>
              <a:rPr lang="en-US" altLang="zh-CN" sz="2000" dirty="0"/>
              <a:t>Fast &amp; Furious 7</a:t>
            </a:r>
            <a:r>
              <a:rPr lang="zh-CN" altLang="en-US" sz="2000" dirty="0"/>
              <a:t>的关系，</a:t>
            </a:r>
            <a:r>
              <a:rPr lang="en-US" altLang="zh-CN" sz="2000" dirty="0"/>
              <a:t>MATCH (</a:t>
            </a:r>
            <a:r>
              <a:rPr lang="en-US" altLang="zh-CN" sz="2000" dirty="0" err="1"/>
              <a:t>n:person</a:t>
            </a:r>
            <a:r>
              <a:rPr lang="en-US" altLang="zh-CN" sz="2000" dirty="0"/>
              <a:t>),(</a:t>
            </a:r>
            <a:r>
              <a:rPr lang="en-US" altLang="zh-CN" sz="2000" dirty="0" err="1"/>
              <a:t>m:movie</a:t>
            </a:r>
            <a:r>
              <a:rPr lang="en-US" altLang="zh-CN" sz="2000" dirty="0"/>
              <a:t>) WHERE n.name = 'James Wan' AND </a:t>
            </a:r>
            <a:r>
              <a:rPr lang="en-US" altLang="zh-CN" sz="2000" dirty="0" err="1"/>
              <a:t>m.title</a:t>
            </a:r>
            <a:r>
              <a:rPr lang="en-US" altLang="zh-CN" sz="2000" dirty="0"/>
              <a:t> = 'Fast &amp; Furious 7' CREATE (n) -[</a:t>
            </a:r>
            <a:r>
              <a:rPr lang="en-US" altLang="zh-CN" sz="2000" dirty="0" err="1"/>
              <a:t>r:produce</a:t>
            </a:r>
            <a:r>
              <a:rPr lang="en-US" altLang="zh-CN" sz="2000" dirty="0"/>
              <a:t>]-&gt; (m) RETURN r</a:t>
            </a:r>
          </a:p>
          <a:p>
            <a:pPr eaLnBrk="1" hangingPunct="1">
              <a:lnSpc>
                <a:spcPct val="150000"/>
              </a:lnSpc>
              <a:spcBef>
                <a:spcPts val="0"/>
              </a:spcBef>
              <a:spcAft>
                <a:spcPts val="0"/>
              </a:spcAft>
            </a:pPr>
            <a:r>
              <a:rPr lang="zh-CN" altLang="en-US" sz="2000" dirty="0"/>
              <a:t>更新数据：例如：给</a:t>
            </a:r>
            <a:r>
              <a:rPr lang="en-US" altLang="zh-CN" sz="2000" dirty="0"/>
              <a:t>James Wan</a:t>
            </a:r>
            <a:r>
              <a:rPr lang="zh-CN" altLang="en-US" sz="2000" dirty="0"/>
              <a:t>添加一张照片，</a:t>
            </a:r>
            <a:r>
              <a:rPr lang="en-US" altLang="zh-CN" sz="2000" dirty="0"/>
              <a:t>MATCH (</a:t>
            </a:r>
            <a:r>
              <a:rPr lang="en-US" altLang="zh-CN" sz="2000" dirty="0" err="1"/>
              <a:t>n:person</a:t>
            </a:r>
            <a:r>
              <a:rPr lang="en-US" altLang="zh-CN" sz="2000" dirty="0"/>
              <a:t>{</a:t>
            </a:r>
            <a:r>
              <a:rPr lang="en-US" altLang="zh-CN" sz="2000" dirty="0" err="1"/>
              <a:t>name:'James</a:t>
            </a:r>
            <a:r>
              <a:rPr lang="en-US" altLang="zh-CN" sz="2000" dirty="0"/>
              <a:t> Wan'}) set </a:t>
            </a:r>
            <a:r>
              <a:rPr lang="en-US" altLang="zh-CN" sz="2000" dirty="0" err="1"/>
              <a:t>n.poster_image</a:t>
            </a:r>
            <a:r>
              <a:rPr lang="en-US" altLang="zh-CN" sz="2000" dirty="0"/>
              <a:t> = 'this is an image' RETURN n</a:t>
            </a:r>
          </a:p>
          <a:p>
            <a:pPr eaLnBrk="1" hangingPunct="1">
              <a:lnSpc>
                <a:spcPct val="150000"/>
              </a:lnSpc>
              <a:spcBef>
                <a:spcPts val="0"/>
              </a:spcBef>
              <a:spcAft>
                <a:spcPts val="0"/>
              </a:spcAft>
            </a:pPr>
            <a:r>
              <a:rPr lang="zh-CN" altLang="en-US" sz="2000" dirty="0"/>
              <a:t>删除：有两种删除方法，</a:t>
            </a:r>
            <a:r>
              <a:rPr lang="en-US" altLang="zh-CN" sz="2000" dirty="0"/>
              <a:t>DELETE </a:t>
            </a:r>
            <a:r>
              <a:rPr lang="zh-CN" altLang="en-US" sz="2000" dirty="0"/>
              <a:t>和 </a:t>
            </a:r>
            <a:r>
              <a:rPr lang="en-US" altLang="zh-CN" sz="2000" dirty="0"/>
              <a:t>REMOVE</a:t>
            </a:r>
            <a:r>
              <a:rPr lang="zh-CN" altLang="en-US" sz="2000" dirty="0"/>
              <a:t>。</a:t>
            </a:r>
            <a:r>
              <a:rPr lang="en-US" altLang="zh-CN" sz="2000" dirty="0"/>
              <a:t>DELETE</a:t>
            </a:r>
            <a:r>
              <a:rPr lang="zh-CN" altLang="en-US" sz="2000" dirty="0"/>
              <a:t>用于删除节点和关系，</a:t>
            </a:r>
            <a:r>
              <a:rPr lang="en-US" altLang="zh-CN" sz="2000" dirty="0"/>
              <a:t>REMOVE </a:t>
            </a:r>
            <a:r>
              <a:rPr lang="zh-CN" altLang="en-US" sz="2000" dirty="0"/>
              <a:t>用于删除节点和关系的标签与属性。两者都需要配合 </a:t>
            </a:r>
            <a:r>
              <a:rPr lang="en-US" altLang="zh-CN" sz="2000" dirty="0"/>
              <a:t>MATCH ,</a:t>
            </a:r>
            <a:r>
              <a:rPr lang="zh-CN" altLang="en-US" sz="2000" dirty="0"/>
              <a:t>先匹配到内容，再执行操作</a:t>
            </a:r>
            <a:endParaRPr lang="en-US" altLang="zh-CN" sz="2000" dirty="0"/>
          </a:p>
          <a:p>
            <a:pPr eaLnBrk="1" hangingPunct="1">
              <a:lnSpc>
                <a:spcPct val="150000"/>
              </a:lnSpc>
              <a:spcBef>
                <a:spcPts val="0"/>
              </a:spcBef>
              <a:spcAft>
                <a:spcPts val="0"/>
              </a:spcAft>
            </a:pPr>
            <a:r>
              <a:rPr lang="zh-CN" altLang="en-US" sz="2000" dirty="0"/>
              <a:t>例如：把</a:t>
            </a:r>
            <a:r>
              <a:rPr lang="en-US" altLang="zh-CN" sz="2000" dirty="0"/>
              <a:t>James Wan</a:t>
            </a:r>
            <a:r>
              <a:rPr lang="zh-CN" altLang="en-US" sz="2000" dirty="0"/>
              <a:t>的照片删除：</a:t>
            </a:r>
            <a:r>
              <a:rPr lang="en-US" altLang="zh-CN" sz="2000" dirty="0"/>
              <a:t>MATCH (</a:t>
            </a:r>
            <a:r>
              <a:rPr lang="en-US" altLang="zh-CN" sz="2000" dirty="0" err="1"/>
              <a:t>n:person</a:t>
            </a:r>
            <a:r>
              <a:rPr lang="en-US" altLang="zh-CN" sz="2000" dirty="0"/>
              <a:t>{</a:t>
            </a:r>
            <a:r>
              <a:rPr lang="en-US" altLang="zh-CN" sz="2000" dirty="0" err="1"/>
              <a:t>name:'James</a:t>
            </a:r>
            <a:r>
              <a:rPr lang="en-US" altLang="zh-CN" sz="2000" dirty="0"/>
              <a:t> Wan'}) REMOVE </a:t>
            </a:r>
            <a:r>
              <a:rPr lang="en-US" altLang="zh-CN" sz="2000" dirty="0" err="1"/>
              <a:t>n.poster_image</a:t>
            </a:r>
            <a:r>
              <a:rPr lang="en-US" altLang="zh-CN" sz="2000" dirty="0"/>
              <a:t> RETURN n</a:t>
            </a:r>
          </a:p>
          <a:p>
            <a:pPr eaLnBrk="1" hangingPunct="1">
              <a:lnSpc>
                <a:spcPct val="150000"/>
              </a:lnSpc>
              <a:spcBef>
                <a:spcPts val="0"/>
              </a:spcBef>
              <a:spcAft>
                <a:spcPts val="0"/>
              </a:spcAft>
            </a:pPr>
            <a:r>
              <a:rPr lang="zh-CN" altLang="en-US" sz="2000" dirty="0"/>
              <a:t>例如：要删除</a:t>
            </a:r>
            <a:r>
              <a:rPr lang="en-US" altLang="zh-CN" sz="2000" dirty="0"/>
              <a:t>James Wan</a:t>
            </a:r>
            <a:r>
              <a:rPr lang="zh-CN" altLang="en-US" sz="2000" dirty="0"/>
              <a:t>，需要同时删除该节点以及与之相关的所有的边：</a:t>
            </a:r>
            <a:r>
              <a:rPr lang="pt-BR" altLang="zh-CN" sz="2000" dirty="0"/>
              <a:t>MATCH (n:person{name:'James Wan'}) -[r]- () DELETE n,r</a:t>
            </a:r>
          </a:p>
        </p:txBody>
      </p:sp>
    </p:spTree>
    <p:extLst>
      <p:ext uri="{BB962C8B-B14F-4D97-AF65-F5344CB8AC3E}">
        <p14:creationId xmlns:p14="http://schemas.microsoft.com/office/powerpoint/2010/main" val="1960716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Cypher</a:t>
            </a:r>
            <a:r>
              <a:rPr lang="zh-CN" altLang="en-US" dirty="0"/>
              <a:t>语句增删改查示例</a:t>
            </a:r>
            <a:r>
              <a:rPr lang="en-US" altLang="zh-CN" dirty="0"/>
              <a:t>——</a:t>
            </a:r>
            <a:r>
              <a:rPr lang="zh-CN" altLang="en-US" dirty="0"/>
              <a:t>复杂查询</a:t>
            </a:r>
          </a:p>
        </p:txBody>
      </p:sp>
      <p:sp>
        <p:nvSpPr>
          <p:cNvPr id="3" name="内容占位符 2">
            <a:extLst>
              <a:ext uri="{FF2B5EF4-FFF2-40B4-BE49-F238E27FC236}">
                <a16:creationId xmlns:a16="http://schemas.microsoft.com/office/drawing/2014/main" id="{99B6D816-F906-EBB7-362A-3CB507BDDE33}"/>
              </a:ext>
            </a:extLst>
          </p:cNvPr>
          <p:cNvSpPr txBox="1">
            <a:spLocks/>
          </p:cNvSpPr>
          <p:nvPr/>
        </p:nvSpPr>
        <p:spPr bwMode="auto">
          <a:xfrm>
            <a:off x="199165" y="1340768"/>
            <a:ext cx="11593288" cy="464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zh-CN" altLang="en-US" sz="2000" dirty="0"/>
              <a:t>路径匹配：</a:t>
            </a:r>
            <a:r>
              <a:rPr lang="en-US" altLang="zh-CN" sz="2000" dirty="0"/>
              <a:t>MATCH p=(n)-[*..2]-(m) WHERE </a:t>
            </a:r>
            <a:r>
              <a:rPr lang="en-US" altLang="zh-CN" sz="2000" dirty="0" err="1"/>
              <a:t>n.age</a:t>
            </a:r>
            <a:r>
              <a:rPr lang="en-US" altLang="zh-CN" sz="2000" dirty="0"/>
              <a:t> &gt; 30 RETURN p </a:t>
            </a:r>
          </a:p>
          <a:p>
            <a:pPr eaLnBrk="1" hangingPunct="1">
              <a:lnSpc>
                <a:spcPct val="150000"/>
              </a:lnSpc>
              <a:spcBef>
                <a:spcPts val="0"/>
              </a:spcBef>
              <a:spcAft>
                <a:spcPts val="0"/>
              </a:spcAft>
            </a:pPr>
            <a:r>
              <a:rPr lang="zh-CN" altLang="en-US" sz="2000" dirty="0"/>
              <a:t>聚合与排序：</a:t>
            </a:r>
            <a:r>
              <a:rPr lang="en-US" altLang="zh-CN" sz="2000" dirty="0"/>
              <a:t>MATCH (n) RETURN count(n) AS total ‌</a:t>
            </a:r>
          </a:p>
          <a:p>
            <a:pPr marL="0" indent="0" eaLnBrk="1" hangingPunct="1">
              <a:lnSpc>
                <a:spcPct val="150000"/>
              </a:lnSpc>
              <a:spcBef>
                <a:spcPts val="0"/>
              </a:spcBef>
              <a:spcAft>
                <a:spcPts val="0"/>
              </a:spcAft>
              <a:buNone/>
            </a:pPr>
            <a:r>
              <a:rPr lang="en-US" altLang="zh-CN" sz="2000" dirty="0"/>
              <a:t>                                 MATCH (n) RETURN n ORDER BY </a:t>
            </a:r>
            <a:r>
              <a:rPr lang="en-US" altLang="zh-CN" sz="2000" dirty="0" err="1"/>
              <a:t>n.age</a:t>
            </a:r>
            <a:r>
              <a:rPr lang="en-US" altLang="zh-CN" sz="2000" dirty="0"/>
              <a:t> DESC LIMIT 10</a:t>
            </a:r>
          </a:p>
          <a:p>
            <a:pPr eaLnBrk="1" hangingPunct="1">
              <a:lnSpc>
                <a:spcPct val="150000"/>
              </a:lnSpc>
              <a:spcBef>
                <a:spcPts val="0"/>
              </a:spcBef>
              <a:spcAft>
                <a:spcPts val="0"/>
              </a:spcAft>
            </a:pPr>
            <a:r>
              <a:rPr lang="zh-CN" altLang="en-US" sz="2000" dirty="0"/>
              <a:t>参考文献及示例：</a:t>
            </a:r>
            <a:endParaRPr lang="en-US" altLang="zh-CN" sz="2000" dirty="0"/>
          </a:p>
          <a:p>
            <a:pPr marL="0" indent="0" eaLnBrk="1" hangingPunct="1">
              <a:lnSpc>
                <a:spcPct val="150000"/>
              </a:lnSpc>
              <a:spcBef>
                <a:spcPts val="0"/>
              </a:spcBef>
              <a:spcAft>
                <a:spcPts val="0"/>
              </a:spcAft>
              <a:buNone/>
            </a:pPr>
            <a:r>
              <a:rPr lang="en-US" altLang="zh-CN" sz="2000" dirty="0">
                <a:hlinkClick r:id="rId2"/>
              </a:rPr>
              <a:t>https://tugraph-db.readthedocs.io/zh-cn/v3.5.0/5.developer-manual/6.interface/1.cypher.html</a:t>
            </a:r>
            <a:endParaRPr lang="en-US" altLang="zh-CN" sz="2000" dirty="0"/>
          </a:p>
          <a:p>
            <a:pPr marL="0" indent="0" eaLnBrk="1" hangingPunct="1">
              <a:lnSpc>
                <a:spcPct val="150000"/>
              </a:lnSpc>
              <a:spcBef>
                <a:spcPts val="0"/>
              </a:spcBef>
              <a:spcAft>
                <a:spcPts val="0"/>
              </a:spcAft>
              <a:buNone/>
            </a:pPr>
            <a:endParaRPr lang="en-US" altLang="zh-CN" sz="2000" dirty="0"/>
          </a:p>
          <a:p>
            <a:pPr marL="0" indent="0" eaLnBrk="1" hangingPunct="1">
              <a:lnSpc>
                <a:spcPct val="150000"/>
              </a:lnSpc>
              <a:spcBef>
                <a:spcPts val="0"/>
              </a:spcBef>
              <a:spcAft>
                <a:spcPts val="0"/>
              </a:spcAft>
              <a:buNone/>
            </a:pPr>
            <a:r>
              <a:rPr lang="en-US" altLang="zh-CN" sz="2000" dirty="0"/>
              <a:t>MATCH (</a:t>
            </a:r>
            <a:r>
              <a:rPr lang="en-US" altLang="zh-CN" sz="2000" dirty="0" err="1"/>
              <a:t>p:person</a:t>
            </a:r>
            <a:r>
              <a:rPr lang="en-US" altLang="zh-CN" sz="2000" dirty="0"/>
              <a:t>)-[r]-&gt;(m)</a:t>
            </a:r>
          </a:p>
          <a:p>
            <a:pPr marL="0" indent="0" eaLnBrk="1" hangingPunct="1">
              <a:lnSpc>
                <a:spcPct val="150000"/>
              </a:lnSpc>
              <a:spcBef>
                <a:spcPts val="0"/>
              </a:spcBef>
              <a:spcAft>
                <a:spcPts val="0"/>
              </a:spcAft>
              <a:buNone/>
            </a:pPr>
            <a:r>
              <a:rPr lang="en-US" altLang="zh-CN" sz="2000" dirty="0"/>
              <a:t>WITH p, COUNT(m) AS </a:t>
            </a:r>
            <a:r>
              <a:rPr lang="en-US" altLang="zh-CN" sz="2000" dirty="0" err="1"/>
              <a:t>movieCount</a:t>
            </a:r>
            <a:endParaRPr lang="en-US" altLang="zh-CN" sz="2000" dirty="0"/>
          </a:p>
          <a:p>
            <a:pPr marL="0" indent="0" eaLnBrk="1" hangingPunct="1">
              <a:lnSpc>
                <a:spcPct val="150000"/>
              </a:lnSpc>
              <a:spcBef>
                <a:spcPts val="0"/>
              </a:spcBef>
              <a:spcAft>
                <a:spcPts val="0"/>
              </a:spcAft>
              <a:buNone/>
            </a:pPr>
            <a:r>
              <a:rPr lang="en-US" altLang="zh-CN" sz="2000" dirty="0"/>
              <a:t>WHERE </a:t>
            </a:r>
            <a:r>
              <a:rPr lang="en-US" altLang="zh-CN" sz="2000" dirty="0" err="1"/>
              <a:t>movieCount</a:t>
            </a:r>
            <a:r>
              <a:rPr lang="en-US" altLang="zh-CN" sz="2000" dirty="0"/>
              <a:t> &gt; 2</a:t>
            </a:r>
          </a:p>
          <a:p>
            <a:pPr marL="0" indent="0" eaLnBrk="1" hangingPunct="1">
              <a:lnSpc>
                <a:spcPct val="150000"/>
              </a:lnSpc>
              <a:spcBef>
                <a:spcPts val="0"/>
              </a:spcBef>
              <a:spcAft>
                <a:spcPts val="0"/>
              </a:spcAft>
              <a:buNone/>
            </a:pPr>
            <a:r>
              <a:rPr lang="en-US" altLang="zh-CN" sz="2000" dirty="0"/>
              <a:t>RETURN p.name, </a:t>
            </a:r>
            <a:r>
              <a:rPr lang="en-US" altLang="zh-CN" sz="2000" dirty="0" err="1"/>
              <a:t>movieCount</a:t>
            </a:r>
            <a:r>
              <a:rPr lang="en-US" altLang="zh-CN" sz="2000" dirty="0"/>
              <a:t> ORDER BY </a:t>
            </a:r>
            <a:r>
              <a:rPr lang="en-US" altLang="zh-CN" sz="2000" dirty="0" err="1"/>
              <a:t>movieCount</a:t>
            </a:r>
            <a:r>
              <a:rPr lang="en-US" altLang="zh-CN" sz="2000" dirty="0"/>
              <a:t> DESC LIMIT 10</a:t>
            </a:r>
          </a:p>
        </p:txBody>
      </p:sp>
    </p:spTree>
    <p:extLst>
      <p:ext uri="{BB962C8B-B14F-4D97-AF65-F5344CB8AC3E}">
        <p14:creationId xmlns:p14="http://schemas.microsoft.com/office/powerpoint/2010/main" val="540841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Cypher</a:t>
            </a:r>
            <a:r>
              <a:rPr lang="zh-CN" altLang="en-US" dirty="0"/>
              <a:t>语句增删改查示例</a:t>
            </a:r>
            <a:r>
              <a:rPr lang="en-US" altLang="zh-CN" dirty="0"/>
              <a:t>——</a:t>
            </a:r>
            <a:r>
              <a:rPr lang="zh-CN" altLang="en-US" dirty="0"/>
              <a:t>复杂查询</a:t>
            </a:r>
          </a:p>
        </p:txBody>
      </p:sp>
      <p:sp>
        <p:nvSpPr>
          <p:cNvPr id="3" name="内容占位符 2">
            <a:extLst>
              <a:ext uri="{FF2B5EF4-FFF2-40B4-BE49-F238E27FC236}">
                <a16:creationId xmlns:a16="http://schemas.microsoft.com/office/drawing/2014/main" id="{99B6D816-F906-EBB7-362A-3CB507BDDE33}"/>
              </a:ext>
            </a:extLst>
          </p:cNvPr>
          <p:cNvSpPr txBox="1">
            <a:spLocks/>
          </p:cNvSpPr>
          <p:nvPr/>
        </p:nvSpPr>
        <p:spPr bwMode="auto">
          <a:xfrm>
            <a:off x="199165" y="1340768"/>
            <a:ext cx="5464787" cy="464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zh-CN" altLang="en-US" sz="2000" dirty="0"/>
              <a:t>在 ‌</a:t>
            </a:r>
            <a:r>
              <a:rPr lang="en-US" altLang="zh-CN" sz="2000" dirty="0"/>
              <a:t>Cypher </a:t>
            </a:r>
            <a:r>
              <a:rPr lang="zh-CN" altLang="en-US" sz="2000" dirty="0"/>
              <a:t>语句‌中，‌没有显式的 </a:t>
            </a:r>
            <a:r>
              <a:rPr lang="en-US" altLang="zh-CN" sz="2000" dirty="0"/>
              <a:t>GROUP BY </a:t>
            </a:r>
            <a:r>
              <a:rPr lang="zh-CN" altLang="en-US" sz="2000" dirty="0"/>
              <a:t>关键字‌，这是与 </a:t>
            </a:r>
            <a:r>
              <a:rPr lang="en-US" altLang="zh-CN" sz="2000" dirty="0"/>
              <a:t>SQL </a:t>
            </a:r>
            <a:r>
              <a:rPr lang="zh-CN" altLang="en-US" sz="2000" dirty="0"/>
              <a:t>的一个重要区别。</a:t>
            </a:r>
            <a:r>
              <a:rPr lang="en-US" altLang="zh-CN" sz="2000" dirty="0"/>
              <a:t>Cypher </a:t>
            </a:r>
            <a:r>
              <a:rPr lang="zh-CN" altLang="en-US" sz="2000" dirty="0"/>
              <a:t>的分组行为是‌隐式‌的，由是否使用聚合函数决定。</a:t>
            </a:r>
            <a:endParaRPr lang="en-US" altLang="zh-CN" sz="2000" dirty="0"/>
          </a:p>
          <a:p>
            <a:pPr eaLnBrk="1" hangingPunct="1">
              <a:lnSpc>
                <a:spcPct val="150000"/>
              </a:lnSpc>
              <a:spcBef>
                <a:spcPts val="0"/>
              </a:spcBef>
              <a:spcAft>
                <a:spcPts val="0"/>
              </a:spcAft>
            </a:pPr>
            <a:r>
              <a:rPr lang="en-US" altLang="zh-CN" sz="2000" dirty="0"/>
              <a:t>1. </a:t>
            </a:r>
            <a:r>
              <a:rPr lang="zh-CN" altLang="en-US" sz="2000" dirty="0"/>
              <a:t>按节点属性分组计数</a:t>
            </a:r>
            <a:endParaRPr lang="en-US" altLang="zh-CN" sz="2000" dirty="0"/>
          </a:p>
          <a:p>
            <a:pPr marL="0" indent="0" eaLnBrk="1" hangingPunct="1">
              <a:lnSpc>
                <a:spcPct val="150000"/>
              </a:lnSpc>
              <a:spcBef>
                <a:spcPts val="0"/>
              </a:spcBef>
              <a:spcAft>
                <a:spcPts val="0"/>
              </a:spcAft>
              <a:buNone/>
            </a:pPr>
            <a:r>
              <a:rPr lang="en-US" altLang="zh-CN" sz="2000" dirty="0"/>
              <a:t>MATCH (</a:t>
            </a:r>
            <a:r>
              <a:rPr lang="en-US" altLang="zh-CN" sz="2000" dirty="0" err="1"/>
              <a:t>p:Person</a:t>
            </a:r>
            <a:r>
              <a:rPr lang="en-US" altLang="zh-CN" sz="2000" dirty="0"/>
              <a:t>)</a:t>
            </a:r>
          </a:p>
          <a:p>
            <a:pPr marL="0" indent="0" eaLnBrk="1" hangingPunct="1">
              <a:lnSpc>
                <a:spcPct val="150000"/>
              </a:lnSpc>
              <a:spcBef>
                <a:spcPts val="0"/>
              </a:spcBef>
              <a:spcAft>
                <a:spcPts val="0"/>
              </a:spcAft>
              <a:buNone/>
            </a:pPr>
            <a:r>
              <a:rPr lang="en-US" altLang="zh-CN" sz="2000" dirty="0"/>
              <a:t>RETURN </a:t>
            </a:r>
            <a:r>
              <a:rPr lang="en-US" altLang="zh-CN" sz="2000" dirty="0" err="1"/>
              <a:t>p.city</a:t>
            </a:r>
            <a:r>
              <a:rPr lang="en-US" altLang="zh-CN" sz="2000" dirty="0"/>
              <a:t>, COUNT(*) AS count</a:t>
            </a:r>
          </a:p>
          <a:p>
            <a:pPr marL="0" indent="0" eaLnBrk="1" hangingPunct="1">
              <a:lnSpc>
                <a:spcPct val="150000"/>
              </a:lnSpc>
              <a:spcBef>
                <a:spcPts val="0"/>
              </a:spcBef>
              <a:spcAft>
                <a:spcPts val="0"/>
              </a:spcAft>
              <a:buNone/>
            </a:pPr>
            <a:r>
              <a:rPr lang="en-US" altLang="zh-CN" sz="2000" dirty="0"/>
              <a:t>//</a:t>
            </a:r>
            <a:r>
              <a:rPr lang="zh-CN" altLang="en-US" sz="2000" dirty="0"/>
              <a:t>结果‌：按 </a:t>
            </a:r>
            <a:r>
              <a:rPr lang="en-US" altLang="zh-CN" sz="2000" dirty="0" err="1"/>
              <a:t>p.city</a:t>
            </a:r>
            <a:r>
              <a:rPr lang="en-US" altLang="zh-CN" sz="2000" dirty="0"/>
              <a:t> </a:t>
            </a:r>
            <a:r>
              <a:rPr lang="zh-CN" altLang="en-US" sz="2000" dirty="0"/>
              <a:t>分组，统计每个城市的人员数量。 ‌隐式分组‌：因为 </a:t>
            </a:r>
            <a:r>
              <a:rPr lang="en-US" altLang="zh-CN" sz="2000" dirty="0"/>
              <a:t>COUNT(*) </a:t>
            </a:r>
            <a:r>
              <a:rPr lang="zh-CN" altLang="en-US" sz="2000" dirty="0"/>
              <a:t>是聚合函数，</a:t>
            </a:r>
            <a:r>
              <a:rPr lang="en-US" altLang="zh-CN" sz="2000" dirty="0" err="1"/>
              <a:t>p.city</a:t>
            </a:r>
            <a:r>
              <a:rPr lang="en-US" altLang="zh-CN" sz="2000" dirty="0"/>
              <a:t> </a:t>
            </a:r>
            <a:r>
              <a:rPr lang="zh-CN" altLang="en-US" sz="2000" dirty="0"/>
              <a:t>自动成为分组键。</a:t>
            </a:r>
            <a:endParaRPr lang="en-US" altLang="zh-CN" sz="2000" dirty="0"/>
          </a:p>
          <a:p>
            <a:pPr marL="0" indent="0" eaLnBrk="1" hangingPunct="1">
              <a:lnSpc>
                <a:spcPct val="150000"/>
              </a:lnSpc>
              <a:spcBef>
                <a:spcPts val="0"/>
              </a:spcBef>
              <a:spcAft>
                <a:spcPts val="0"/>
              </a:spcAft>
              <a:buNone/>
            </a:pPr>
            <a:endParaRPr lang="en-US" altLang="zh-CN" sz="2000" dirty="0"/>
          </a:p>
        </p:txBody>
      </p:sp>
      <p:sp>
        <p:nvSpPr>
          <p:cNvPr id="5" name="内容占位符 2">
            <a:extLst>
              <a:ext uri="{FF2B5EF4-FFF2-40B4-BE49-F238E27FC236}">
                <a16:creationId xmlns:a16="http://schemas.microsoft.com/office/drawing/2014/main" id="{99B6D816-F906-EBB7-362A-3CB507BDDE33}"/>
              </a:ext>
            </a:extLst>
          </p:cNvPr>
          <p:cNvSpPr txBox="1">
            <a:spLocks/>
          </p:cNvSpPr>
          <p:nvPr/>
        </p:nvSpPr>
        <p:spPr bwMode="auto">
          <a:xfrm>
            <a:off x="5951984" y="1340768"/>
            <a:ext cx="5464787" cy="464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en-US" altLang="zh-CN" sz="2000" dirty="0"/>
              <a:t>2. </a:t>
            </a:r>
            <a:r>
              <a:rPr lang="zh-CN" altLang="en-US" sz="2000" dirty="0"/>
              <a:t>使用 </a:t>
            </a:r>
            <a:r>
              <a:rPr lang="en-US" altLang="zh-CN" sz="2000" dirty="0"/>
              <a:t>WITH </a:t>
            </a:r>
            <a:r>
              <a:rPr lang="zh-CN" altLang="en-US" sz="2000" dirty="0"/>
              <a:t>进行多阶段聚合与过滤</a:t>
            </a:r>
            <a:endParaRPr lang="en-US" altLang="zh-CN" sz="2000" dirty="0"/>
          </a:p>
          <a:p>
            <a:pPr marL="0" indent="0" eaLnBrk="1" hangingPunct="1">
              <a:lnSpc>
                <a:spcPct val="150000"/>
              </a:lnSpc>
              <a:spcBef>
                <a:spcPts val="0"/>
              </a:spcBef>
              <a:spcAft>
                <a:spcPts val="0"/>
              </a:spcAft>
              <a:buNone/>
            </a:pPr>
            <a:r>
              <a:rPr lang="en-US" altLang="zh-CN" sz="2000" dirty="0"/>
              <a:t>MATCH (</a:t>
            </a:r>
            <a:r>
              <a:rPr lang="en-US" altLang="zh-CN" sz="2000" dirty="0" err="1"/>
              <a:t>p:Person</a:t>
            </a:r>
            <a:r>
              <a:rPr lang="en-US" altLang="zh-CN" sz="2000" dirty="0"/>
              <a:t>)-[:KNOWS]-&gt;(friend)</a:t>
            </a:r>
          </a:p>
          <a:p>
            <a:pPr marL="0" indent="0" eaLnBrk="1" hangingPunct="1">
              <a:lnSpc>
                <a:spcPct val="150000"/>
              </a:lnSpc>
              <a:spcBef>
                <a:spcPts val="0"/>
              </a:spcBef>
              <a:spcAft>
                <a:spcPts val="0"/>
              </a:spcAft>
              <a:buNone/>
            </a:pPr>
            <a:r>
              <a:rPr lang="en-US" altLang="zh-CN" sz="2000" dirty="0"/>
              <a:t>WITH p, COUNT(friend) AS </a:t>
            </a:r>
            <a:r>
              <a:rPr lang="en-US" altLang="zh-CN" sz="2000" dirty="0" err="1"/>
              <a:t>friendCount</a:t>
            </a:r>
            <a:endParaRPr lang="en-US" altLang="zh-CN" sz="2000" dirty="0"/>
          </a:p>
          <a:p>
            <a:pPr marL="0" indent="0" eaLnBrk="1" hangingPunct="1">
              <a:lnSpc>
                <a:spcPct val="150000"/>
              </a:lnSpc>
              <a:spcBef>
                <a:spcPts val="0"/>
              </a:spcBef>
              <a:spcAft>
                <a:spcPts val="0"/>
              </a:spcAft>
              <a:buNone/>
            </a:pPr>
            <a:r>
              <a:rPr lang="en-US" altLang="zh-CN" sz="2000" dirty="0"/>
              <a:t>WHERE </a:t>
            </a:r>
            <a:r>
              <a:rPr lang="en-US" altLang="zh-CN" sz="2000" dirty="0" err="1"/>
              <a:t>friendCount</a:t>
            </a:r>
            <a:r>
              <a:rPr lang="en-US" altLang="zh-CN" sz="2000" dirty="0"/>
              <a:t> &gt; 5</a:t>
            </a:r>
          </a:p>
          <a:p>
            <a:pPr marL="0" indent="0" eaLnBrk="1" hangingPunct="1">
              <a:lnSpc>
                <a:spcPct val="150000"/>
              </a:lnSpc>
              <a:spcBef>
                <a:spcPts val="0"/>
              </a:spcBef>
              <a:spcAft>
                <a:spcPts val="0"/>
              </a:spcAft>
              <a:buNone/>
            </a:pPr>
            <a:r>
              <a:rPr lang="en-US" altLang="zh-CN" sz="2000" dirty="0"/>
              <a:t>RETURN p.name, </a:t>
            </a:r>
            <a:r>
              <a:rPr lang="en-US" altLang="zh-CN" sz="2000" dirty="0" err="1"/>
              <a:t>friendCount</a:t>
            </a:r>
            <a:endParaRPr lang="en-US" altLang="zh-CN" sz="2000" dirty="0"/>
          </a:p>
          <a:p>
            <a:pPr marL="0" indent="0" eaLnBrk="1" hangingPunct="1">
              <a:lnSpc>
                <a:spcPct val="150000"/>
              </a:lnSpc>
              <a:spcBef>
                <a:spcPts val="0"/>
              </a:spcBef>
              <a:spcAft>
                <a:spcPts val="0"/>
              </a:spcAft>
              <a:buNone/>
            </a:pPr>
            <a:r>
              <a:rPr lang="zh-CN" altLang="en-US" sz="2000" dirty="0"/>
              <a:t>先按 </a:t>
            </a:r>
            <a:r>
              <a:rPr lang="en-US" altLang="zh-CN" sz="2000" dirty="0"/>
              <a:t>p </a:t>
            </a:r>
            <a:r>
              <a:rPr lang="zh-CN" altLang="en-US" sz="2000" dirty="0"/>
              <a:t>分组计算朋友数；</a:t>
            </a:r>
          </a:p>
          <a:p>
            <a:pPr marL="0" indent="0" eaLnBrk="1" hangingPunct="1">
              <a:lnSpc>
                <a:spcPct val="150000"/>
              </a:lnSpc>
              <a:spcBef>
                <a:spcPts val="0"/>
              </a:spcBef>
              <a:spcAft>
                <a:spcPts val="0"/>
              </a:spcAft>
              <a:buNone/>
            </a:pPr>
            <a:r>
              <a:rPr lang="zh-CN" altLang="en-US" sz="2000" dirty="0"/>
              <a:t>再用 </a:t>
            </a:r>
            <a:r>
              <a:rPr lang="en-US" altLang="zh-CN" sz="2000" dirty="0"/>
              <a:t>WITH </a:t>
            </a:r>
            <a:r>
              <a:rPr lang="zh-CN" altLang="en-US" sz="2000" dirty="0"/>
              <a:t>传递结果，并过滤朋友数大于 </a:t>
            </a:r>
            <a:r>
              <a:rPr lang="en-US" altLang="zh-CN" sz="2000" dirty="0"/>
              <a:t>5 </a:t>
            </a:r>
            <a:r>
              <a:rPr lang="zh-CN" altLang="en-US" sz="2000" dirty="0"/>
              <a:t>的人。</a:t>
            </a:r>
            <a:endParaRPr lang="en-US" altLang="zh-CN" sz="2000" dirty="0"/>
          </a:p>
          <a:p>
            <a:pPr marL="0" indent="0" eaLnBrk="1" hangingPunct="1">
              <a:lnSpc>
                <a:spcPct val="150000"/>
              </a:lnSpc>
              <a:spcBef>
                <a:spcPts val="0"/>
              </a:spcBef>
              <a:spcAft>
                <a:spcPts val="0"/>
              </a:spcAft>
              <a:buNone/>
            </a:pPr>
            <a:r>
              <a:rPr lang="en-US" altLang="zh-CN" sz="2000" dirty="0"/>
              <a:t>3. </a:t>
            </a:r>
            <a:r>
              <a:rPr lang="zh-CN" altLang="en-US" sz="2000" dirty="0"/>
              <a:t>去重计数</a:t>
            </a:r>
            <a:endParaRPr lang="en-US" altLang="zh-CN" sz="2000" dirty="0"/>
          </a:p>
          <a:p>
            <a:pPr marL="0" indent="0" eaLnBrk="1" hangingPunct="1">
              <a:lnSpc>
                <a:spcPct val="150000"/>
              </a:lnSpc>
              <a:spcBef>
                <a:spcPts val="0"/>
              </a:spcBef>
              <a:spcAft>
                <a:spcPts val="0"/>
              </a:spcAft>
              <a:buNone/>
            </a:pPr>
            <a:r>
              <a:rPr lang="en-US" altLang="zh-CN" sz="2000" dirty="0"/>
              <a:t>MATCH (</a:t>
            </a:r>
            <a:r>
              <a:rPr lang="en-US" altLang="zh-CN" sz="2000" dirty="0" err="1"/>
              <a:t>p:Person</a:t>
            </a:r>
            <a:r>
              <a:rPr lang="en-US" altLang="zh-CN" sz="2000" dirty="0"/>
              <a:t>)-[:WORKS_AT]-&gt;(company)</a:t>
            </a:r>
          </a:p>
          <a:p>
            <a:pPr marL="0" indent="0" eaLnBrk="1" hangingPunct="1">
              <a:lnSpc>
                <a:spcPct val="150000"/>
              </a:lnSpc>
              <a:spcBef>
                <a:spcPts val="0"/>
              </a:spcBef>
              <a:spcAft>
                <a:spcPts val="0"/>
              </a:spcAft>
              <a:buNone/>
            </a:pPr>
            <a:r>
              <a:rPr lang="en-US" altLang="zh-CN" sz="2000" dirty="0"/>
              <a:t>RETURN company.name, COUNT(DISTINCT p) AS </a:t>
            </a:r>
            <a:r>
              <a:rPr lang="en-US" altLang="zh-CN" sz="2000" dirty="0" err="1"/>
              <a:t>uniqueEmployees</a:t>
            </a:r>
            <a:endParaRPr lang="en-US" altLang="zh-CN" sz="2000" dirty="0"/>
          </a:p>
          <a:p>
            <a:pPr marL="0" indent="0" eaLnBrk="1" hangingPunct="1">
              <a:lnSpc>
                <a:spcPct val="150000"/>
              </a:lnSpc>
              <a:spcBef>
                <a:spcPts val="0"/>
              </a:spcBef>
              <a:spcAft>
                <a:spcPts val="0"/>
              </a:spcAft>
              <a:buNone/>
            </a:pPr>
            <a:r>
              <a:rPr lang="zh-CN" altLang="en-US" sz="2000" dirty="0"/>
              <a:t>统计每个公司有多少‌不同‌的员工（避免重复）。</a:t>
            </a:r>
            <a:endParaRPr lang="en-US" altLang="zh-CN" sz="2000" dirty="0"/>
          </a:p>
          <a:p>
            <a:pPr marL="0" indent="0" eaLnBrk="1" hangingPunct="1">
              <a:lnSpc>
                <a:spcPct val="150000"/>
              </a:lnSpc>
              <a:spcBef>
                <a:spcPts val="0"/>
              </a:spcBef>
              <a:spcAft>
                <a:spcPts val="0"/>
              </a:spcAft>
              <a:buNone/>
            </a:pPr>
            <a:endParaRPr lang="en-US" altLang="zh-CN" sz="2000" dirty="0"/>
          </a:p>
        </p:txBody>
      </p:sp>
    </p:spTree>
    <p:extLst>
      <p:ext uri="{BB962C8B-B14F-4D97-AF65-F5344CB8AC3E}">
        <p14:creationId xmlns:p14="http://schemas.microsoft.com/office/powerpoint/2010/main" val="1243752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6"/>
          <p:cNvGrpSpPr>
            <a:grpSpLocks/>
          </p:cNvGrpSpPr>
          <p:nvPr/>
        </p:nvGrpSpPr>
        <p:grpSpPr bwMode="auto">
          <a:xfrm>
            <a:off x="2292338" y="1428737"/>
            <a:ext cx="2089151" cy="4537075"/>
            <a:chOff x="-57" y="577"/>
            <a:chExt cx="1929" cy="3311"/>
          </a:xfrm>
        </p:grpSpPr>
        <p:sp>
          <p:nvSpPr>
            <p:cNvPr id="8" name="Arc 37"/>
            <p:cNvSpPr>
              <a:spLocks/>
            </p:cNvSpPr>
            <p:nvPr/>
          </p:nvSpPr>
          <p:spPr bwMode="auto">
            <a:xfrm>
              <a:off x="-56" y="672"/>
              <a:ext cx="1832" cy="3119"/>
            </a:xfrm>
            <a:custGeom>
              <a:avLst/>
              <a:gdLst>
                <a:gd name="T0" fmla="*/ 0 w 21600"/>
                <a:gd name="T1" fmla="*/ 0 h 43174"/>
                <a:gd name="T2" fmla="*/ 0 w 21600"/>
                <a:gd name="T3" fmla="*/ 0 h 43174"/>
                <a:gd name="T4" fmla="*/ 0 w 21600"/>
                <a:gd name="T5" fmla="*/ 0 h 43174"/>
                <a:gd name="T6" fmla="*/ 0 60000 65536"/>
                <a:gd name="T7" fmla="*/ 0 60000 65536"/>
                <a:gd name="T8" fmla="*/ 0 60000 65536"/>
                <a:gd name="T9" fmla="*/ 0 w 21600"/>
                <a:gd name="T10" fmla="*/ 0 h 43174"/>
                <a:gd name="T11" fmla="*/ 21600 w 21600"/>
                <a:gd name="T12" fmla="*/ 43174 h 43174"/>
              </a:gdLst>
              <a:ahLst/>
              <a:cxnLst>
                <a:cxn ang="T6">
                  <a:pos x="T0" y="T1"/>
                </a:cxn>
                <a:cxn ang="T7">
                  <a:pos x="T2" y="T3"/>
                </a:cxn>
                <a:cxn ang="T8">
                  <a:pos x="T4" y="T5"/>
                </a:cxn>
              </a:cxnLst>
              <a:rect l="T9" t="T10" r="T11" b="T12"/>
              <a:pathLst>
                <a:path w="21600" h="43174" fill="none" extrusionOk="0">
                  <a:moveTo>
                    <a:pt x="526" y="0"/>
                  </a:moveTo>
                  <a:cubicBezTo>
                    <a:pt x="12247" y="286"/>
                    <a:pt x="21600" y="9869"/>
                    <a:pt x="21600" y="21594"/>
                  </a:cubicBezTo>
                  <a:cubicBezTo>
                    <a:pt x="21600" y="33162"/>
                    <a:pt x="12485" y="42677"/>
                    <a:pt x="927" y="43174"/>
                  </a:cubicBezTo>
                </a:path>
                <a:path w="21600" h="43174" stroke="0" extrusionOk="0">
                  <a:moveTo>
                    <a:pt x="526" y="0"/>
                  </a:moveTo>
                  <a:cubicBezTo>
                    <a:pt x="12247" y="286"/>
                    <a:pt x="21600" y="9869"/>
                    <a:pt x="21600" y="21594"/>
                  </a:cubicBezTo>
                  <a:cubicBezTo>
                    <a:pt x="21600" y="33162"/>
                    <a:pt x="12485" y="42677"/>
                    <a:pt x="927" y="43174"/>
                  </a:cubicBezTo>
                  <a:lnTo>
                    <a:pt x="0" y="21594"/>
                  </a:lnTo>
                  <a:close/>
                </a:path>
              </a:pathLst>
            </a:custGeom>
            <a:noFill/>
            <a:ln w="76200">
              <a:solidFill>
                <a:srgbClr val="FF6600"/>
              </a:solidFill>
              <a:round/>
              <a:headEnd/>
              <a:tailEnd/>
            </a:ln>
          </p:spPr>
          <p:txBody>
            <a:bodyPr wrap="none" anchor="ctr"/>
            <a:lstStyle/>
            <a:p>
              <a:pPr algn="ctr"/>
              <a:endParaRPr lang="zh-CN" altLang="zh-CN" sz="2400" b="1">
                <a:solidFill>
                  <a:schemeClr val="bg1"/>
                </a:solidFill>
                <a:latin typeface="Times New Roman" pitchFamily="18" charset="0"/>
                <a:ea typeface="楷体_GB2312" pitchFamily="49" charset="-122"/>
              </a:endParaRPr>
            </a:p>
          </p:txBody>
        </p:sp>
        <p:sp>
          <p:nvSpPr>
            <p:cNvPr id="9" name="Arc 38"/>
            <p:cNvSpPr>
              <a:spLocks/>
            </p:cNvSpPr>
            <p:nvPr/>
          </p:nvSpPr>
          <p:spPr bwMode="auto">
            <a:xfrm>
              <a:off x="-57" y="577"/>
              <a:ext cx="1929" cy="3311"/>
            </a:xfrm>
            <a:custGeom>
              <a:avLst/>
              <a:gdLst>
                <a:gd name="T0" fmla="*/ 0 w 21600"/>
                <a:gd name="T1" fmla="*/ 0 h 43180"/>
                <a:gd name="T2" fmla="*/ 0 w 21600"/>
                <a:gd name="T3" fmla="*/ 0 h 43180"/>
                <a:gd name="T4" fmla="*/ 0 w 21600"/>
                <a:gd name="T5" fmla="*/ 0 h 43180"/>
                <a:gd name="T6" fmla="*/ 0 60000 65536"/>
                <a:gd name="T7" fmla="*/ 0 60000 65536"/>
                <a:gd name="T8" fmla="*/ 0 60000 65536"/>
                <a:gd name="T9" fmla="*/ 0 w 21600"/>
                <a:gd name="T10" fmla="*/ 0 h 43180"/>
                <a:gd name="T11" fmla="*/ 21600 w 21600"/>
                <a:gd name="T12" fmla="*/ 43180 h 43180"/>
              </a:gdLst>
              <a:ahLst/>
              <a:cxnLst>
                <a:cxn ang="T6">
                  <a:pos x="T0" y="T1"/>
                </a:cxn>
                <a:cxn ang="T7">
                  <a:pos x="T2" y="T3"/>
                </a:cxn>
                <a:cxn ang="T8">
                  <a:pos x="T4" y="T5"/>
                </a:cxn>
              </a:cxnLst>
              <a:rect l="T9" t="T10" r="T11" b="T12"/>
              <a:pathLst>
                <a:path w="21600" h="43180" fill="none" extrusionOk="0">
                  <a:moveTo>
                    <a:pt x="526" y="0"/>
                  </a:moveTo>
                  <a:cubicBezTo>
                    <a:pt x="12247" y="286"/>
                    <a:pt x="21600" y="9869"/>
                    <a:pt x="21600" y="21594"/>
                  </a:cubicBezTo>
                  <a:cubicBezTo>
                    <a:pt x="21600" y="33223"/>
                    <a:pt x="12392" y="42765"/>
                    <a:pt x="771" y="43180"/>
                  </a:cubicBezTo>
                </a:path>
                <a:path w="21600" h="43180" stroke="0" extrusionOk="0">
                  <a:moveTo>
                    <a:pt x="526" y="0"/>
                  </a:moveTo>
                  <a:cubicBezTo>
                    <a:pt x="12247" y="286"/>
                    <a:pt x="21600" y="9869"/>
                    <a:pt x="21600" y="21594"/>
                  </a:cubicBezTo>
                  <a:cubicBezTo>
                    <a:pt x="21600" y="33223"/>
                    <a:pt x="12392" y="42765"/>
                    <a:pt x="771" y="43180"/>
                  </a:cubicBezTo>
                  <a:lnTo>
                    <a:pt x="0" y="21594"/>
                  </a:lnTo>
                  <a:close/>
                </a:path>
              </a:pathLst>
            </a:custGeom>
            <a:noFill/>
            <a:ln w="25400">
              <a:solidFill>
                <a:srgbClr val="FF9966"/>
              </a:solidFill>
              <a:round/>
              <a:headEnd/>
              <a:tailEnd/>
            </a:ln>
          </p:spPr>
          <p:txBody>
            <a:bodyPr wrap="none" anchor="ctr"/>
            <a:lstStyle/>
            <a:p>
              <a:pPr algn="ctr"/>
              <a:endParaRPr lang="zh-CN" altLang="zh-CN" sz="2400" b="1">
                <a:solidFill>
                  <a:schemeClr val="bg1"/>
                </a:solidFill>
                <a:latin typeface="Times New Roman" pitchFamily="18" charset="0"/>
                <a:ea typeface="楷体_GB2312" pitchFamily="49" charset="-122"/>
              </a:endParaRPr>
            </a:p>
          </p:txBody>
        </p:sp>
      </p:grpSp>
      <p:sp>
        <p:nvSpPr>
          <p:cNvPr id="41986" name="AutoShape 2"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41988" name="AutoShape 4"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42000" name="AutoShape 16"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42002" name="AutoShape 18"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42004" name="AutoShape 20" descr="“区块链”的图片搜索结果"/>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42006" name="AutoShape 22" descr="http://read.html5.qq.com/image?src=forum&amp;q=5&amp;r=0&amp;imgflag=7&amp;imageUrl=http://mmbiz.qpic.cn/mmbiz/EQB7yFED1iaTzk42f5AQAZdTRVDG8hXiaGy1QvN0ibxoviajJF5xBvEWDp62OPicbfUAeaaWVulNuDm8Owbficb90cicg/0?wx_fmt=jpeg"/>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pic>
        <p:nvPicPr>
          <p:cNvPr id="52226" name="Picture 2" descr="“the trust machine”的图片搜索结果"/>
          <p:cNvPicPr>
            <a:picLocks noChangeAspect="1" noChangeArrowheads="1"/>
          </p:cNvPicPr>
          <p:nvPr/>
        </p:nvPicPr>
        <p:blipFill>
          <a:blip r:embed="rId2"/>
          <a:srcRect/>
          <a:stretch>
            <a:fillRect/>
          </a:stretch>
        </p:blipFill>
        <p:spPr bwMode="auto">
          <a:xfrm>
            <a:off x="1809721" y="2404918"/>
            <a:ext cx="1928825" cy="1085978"/>
          </a:xfrm>
          <a:prstGeom prst="rect">
            <a:avLst/>
          </a:prstGeom>
          <a:noFill/>
        </p:spPr>
      </p:pic>
      <p:pic>
        <p:nvPicPr>
          <p:cNvPr id="52228" name="Picture 4" descr="“the trust machine”的图片搜索结果"/>
          <p:cNvPicPr>
            <a:picLocks noChangeAspect="1" noChangeArrowheads="1"/>
          </p:cNvPicPr>
          <p:nvPr/>
        </p:nvPicPr>
        <p:blipFill>
          <a:blip r:embed="rId3" cstate="print"/>
          <a:srcRect/>
          <a:stretch>
            <a:fillRect/>
          </a:stretch>
        </p:blipFill>
        <p:spPr bwMode="auto">
          <a:xfrm>
            <a:off x="1809720" y="3857629"/>
            <a:ext cx="1928826" cy="1085978"/>
          </a:xfrm>
          <a:prstGeom prst="rect">
            <a:avLst/>
          </a:prstGeom>
          <a:noFill/>
        </p:spPr>
      </p:pic>
      <p:sp>
        <p:nvSpPr>
          <p:cNvPr id="15" name="标题">
            <a:extLst>
              <a:ext uri="{FF2B5EF4-FFF2-40B4-BE49-F238E27FC236}">
                <a16:creationId xmlns:a16="http://schemas.microsoft.com/office/drawing/2014/main" id="{BC5DCADB-1EC7-4B38-BC8B-02FAB186980D}"/>
              </a:ext>
            </a:extLst>
          </p:cNvPr>
          <p:cNvSpPr/>
          <p:nvPr/>
        </p:nvSpPr>
        <p:spPr>
          <a:xfrm>
            <a:off x="3748296" y="933453"/>
            <a:ext cx="6884208" cy="646327"/>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lvl1pPr>
              <a:defRPr sz="2000">
                <a:solidFill>
                  <a:srgbClr val="FFFFFF"/>
                </a:solidFill>
                <a:latin typeface="Microsoft YaHei"/>
                <a:ea typeface="Microsoft YaHei"/>
                <a:cs typeface="Microsoft YaHei"/>
                <a:sym typeface="Microsoft YaHei"/>
              </a:defRPr>
            </a:lvl1pPr>
          </a:lstStyle>
          <a:p>
            <a:pPr algn="ctr"/>
            <a:r>
              <a:rPr lang="zh-CN" altLang="en-US" sz="3600" dirty="0">
                <a:solidFill>
                  <a:schemeClr val="tx1"/>
                </a:solidFill>
                <a:latin typeface="黑体" panose="02010609060101010101" pitchFamily="49" charset="-122"/>
                <a:ea typeface="黑体" panose="02010609060101010101" pitchFamily="49" charset="-122"/>
              </a:rPr>
              <a:t>实验</a:t>
            </a:r>
            <a:r>
              <a:rPr lang="en-US" altLang="zh-CN" sz="3600" dirty="0">
                <a:solidFill>
                  <a:schemeClr val="tx1"/>
                </a:solidFill>
                <a:latin typeface="黑体" panose="02010609060101010101" pitchFamily="49" charset="-122"/>
                <a:ea typeface="黑体" panose="02010609060101010101" pitchFamily="49" charset="-122"/>
              </a:rPr>
              <a:t>2-</a:t>
            </a:r>
            <a:r>
              <a:rPr lang="zh-CN" altLang="en-US" sz="3600" dirty="0">
                <a:solidFill>
                  <a:schemeClr val="tx1"/>
                </a:solidFill>
                <a:latin typeface="黑体" panose="02010609060101010101" pitchFamily="49" charset="-122"/>
                <a:ea typeface="黑体" panose="02010609060101010101" pitchFamily="49" charset="-122"/>
              </a:rPr>
              <a:t>图查询与图算法</a:t>
            </a:r>
            <a:endParaRPr sz="3600" dirty="0">
              <a:solidFill>
                <a:schemeClr val="tx1"/>
              </a:solidFill>
              <a:latin typeface="黑体" panose="02010609060101010101" pitchFamily="49" charset="-122"/>
              <a:ea typeface="黑体" panose="02010609060101010101" pitchFamily="49" charset="-122"/>
            </a:endParaRPr>
          </a:p>
        </p:txBody>
      </p:sp>
      <p:sp>
        <p:nvSpPr>
          <p:cNvPr id="16" name="标题">
            <a:extLst>
              <a:ext uri="{FF2B5EF4-FFF2-40B4-BE49-F238E27FC236}">
                <a16:creationId xmlns:a16="http://schemas.microsoft.com/office/drawing/2014/main" id="{E13C425C-84F4-457C-842D-EE74EEDEA997}"/>
              </a:ext>
            </a:extLst>
          </p:cNvPr>
          <p:cNvSpPr/>
          <p:nvPr/>
        </p:nvSpPr>
        <p:spPr>
          <a:xfrm>
            <a:off x="4864106" y="1916832"/>
            <a:ext cx="5577154" cy="2917718"/>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numCol="1">
            <a:spAutoFit/>
          </a:bodyPr>
          <a:lstStyle>
            <a:lvl1pPr>
              <a:defRPr sz="1600">
                <a:solidFill>
                  <a:srgbClr val="FFFFFF"/>
                </a:solidFill>
                <a:latin typeface="Microsoft YaHei"/>
                <a:ea typeface="Microsoft YaHei"/>
                <a:cs typeface="Microsoft YaHei"/>
                <a:sym typeface="Microsoft YaHei"/>
              </a:defRPr>
            </a:lvl1pPr>
          </a:lstStyle>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建模与数据导入</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en-US" altLang="zh-CN" sz="2400" b="1" kern="0" dirty="0">
                <a:solidFill>
                  <a:schemeClr val="tx1"/>
                </a:solidFill>
                <a:latin typeface="SimHei" panose="02010609060101010101" pitchFamily="49" charset="-122"/>
                <a:ea typeface="SimHei" panose="02010609060101010101" pitchFamily="49" charset="-122"/>
              </a:rPr>
              <a:t>Cypher</a:t>
            </a:r>
            <a:r>
              <a:rPr lang="zh-CN" altLang="en-US" sz="2400" b="1" kern="0" dirty="0">
                <a:solidFill>
                  <a:schemeClr val="tx1"/>
                </a:solidFill>
                <a:latin typeface="SimHei" panose="02010609060101010101" pitchFamily="49" charset="-122"/>
                <a:ea typeface="SimHei" panose="02010609060101010101" pitchFamily="49" charset="-122"/>
              </a:rPr>
              <a:t>语言</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增删改查</a:t>
            </a:r>
            <a:endParaRPr lang="en-US" altLang="zh-CN" sz="2400" b="1" kern="0" dirty="0">
              <a:solidFill>
                <a:schemeClr val="tx1"/>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1"/>
                </a:solidFill>
                <a:latin typeface="SimHei" panose="02010609060101010101" pitchFamily="49" charset="-122"/>
                <a:ea typeface="SimHei" panose="02010609060101010101" pitchFamily="49" charset="-122"/>
              </a:rPr>
              <a:t>聚合查询</a:t>
            </a:r>
            <a:endParaRPr lang="en-US" altLang="zh-CN" sz="2400" b="1" kern="0" dirty="0">
              <a:solidFill>
                <a:schemeClr val="tx1"/>
              </a:solidFill>
              <a:latin typeface="SimHei" panose="02010609060101010101" pitchFamily="49" charset="-122"/>
              <a:ea typeface="SimHei" panose="02010609060101010101" pitchFamily="49" charset="-122"/>
            </a:endParaRPr>
          </a:p>
        </p:txBody>
      </p:sp>
      <p:sp>
        <p:nvSpPr>
          <p:cNvPr id="17" name="标题">
            <a:extLst>
              <a:ext uri="{FF2B5EF4-FFF2-40B4-BE49-F238E27FC236}">
                <a16:creationId xmlns:a16="http://schemas.microsoft.com/office/drawing/2014/main" id="{E13C425C-84F4-457C-842D-EE74EEDEA997}"/>
              </a:ext>
            </a:extLst>
          </p:cNvPr>
          <p:cNvSpPr/>
          <p:nvPr/>
        </p:nvSpPr>
        <p:spPr>
          <a:xfrm>
            <a:off x="8135300" y="1579780"/>
            <a:ext cx="2979821" cy="5152176"/>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numCol="1">
            <a:spAutoFit/>
          </a:bodyPr>
          <a:lstStyle>
            <a:lvl1pPr>
              <a:defRPr sz="1600">
                <a:solidFill>
                  <a:srgbClr val="FFFFFF"/>
                </a:solidFill>
                <a:latin typeface="Microsoft YaHei"/>
                <a:ea typeface="Microsoft YaHei"/>
                <a:cs typeface="Microsoft YaHei"/>
                <a:sym typeface="Microsoft YaHei"/>
              </a:defRPr>
            </a:lvl1pPr>
          </a:lstStyle>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2"/>
                </a:solidFill>
                <a:latin typeface="SimHei" panose="02010609060101010101" pitchFamily="49" charset="-122"/>
                <a:ea typeface="SimHei" panose="02010609060101010101" pitchFamily="49" charset="-122"/>
              </a:rPr>
              <a:t>路径查找</a:t>
            </a:r>
            <a:endParaRPr lang="en-US" altLang="zh-CN" sz="2400" b="1" kern="0" dirty="0">
              <a:solidFill>
                <a:schemeClr val="tx2"/>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2"/>
                </a:solidFill>
                <a:latin typeface="SimHei" panose="02010609060101010101" pitchFamily="49" charset="-122"/>
                <a:ea typeface="SimHei" panose="02010609060101010101" pitchFamily="49" charset="-122"/>
              </a:rPr>
              <a:t>图遍历</a:t>
            </a:r>
            <a:endParaRPr lang="en-US" altLang="zh-CN" sz="2400" b="1" kern="0" dirty="0">
              <a:solidFill>
                <a:schemeClr val="tx2"/>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2"/>
                </a:solidFill>
                <a:latin typeface="SimHei" panose="02010609060101010101" pitchFamily="49" charset="-122"/>
                <a:ea typeface="SimHei" panose="02010609060101010101" pitchFamily="49" charset="-122"/>
              </a:rPr>
              <a:t>图的中心性</a:t>
            </a:r>
            <a:endParaRPr lang="en-US" altLang="zh-CN" sz="2400" b="1" kern="0" dirty="0">
              <a:solidFill>
                <a:schemeClr val="tx2"/>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2"/>
                </a:solidFill>
                <a:latin typeface="SimHei" panose="02010609060101010101" pitchFamily="49" charset="-122"/>
                <a:ea typeface="SimHei" panose="02010609060101010101" pitchFamily="49" charset="-122"/>
              </a:rPr>
              <a:t>社区检测</a:t>
            </a:r>
            <a:endParaRPr lang="en-US" altLang="zh-CN" sz="2400" b="1" kern="0" dirty="0">
              <a:solidFill>
                <a:schemeClr val="tx2"/>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2"/>
                </a:solidFill>
                <a:latin typeface="SimHei" panose="02010609060101010101" pitchFamily="49" charset="-122"/>
                <a:ea typeface="SimHei" panose="02010609060101010101" pitchFamily="49" charset="-122"/>
              </a:rPr>
              <a:t>节点相似性</a:t>
            </a:r>
            <a:endParaRPr lang="en-US" altLang="zh-CN" sz="2400" b="1" kern="0" dirty="0">
              <a:solidFill>
                <a:schemeClr val="tx2"/>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2"/>
                </a:solidFill>
                <a:latin typeface="SimHei" panose="02010609060101010101" pitchFamily="49" charset="-122"/>
                <a:ea typeface="SimHei" panose="02010609060101010101" pitchFamily="49" charset="-122"/>
              </a:rPr>
              <a:t>节点嵌入</a:t>
            </a:r>
            <a:endParaRPr lang="en-US" altLang="zh-CN" sz="2400" b="1" kern="0" dirty="0">
              <a:solidFill>
                <a:schemeClr val="tx2"/>
              </a:solidFill>
              <a:latin typeface="SimHei" panose="02010609060101010101" pitchFamily="49" charset="-122"/>
              <a:ea typeface="SimHei" panose="02010609060101010101" pitchFamily="49" charset="-122"/>
            </a:endParaRPr>
          </a:p>
          <a:p>
            <a:pPr marL="342900" lvl="0" indent="-342900" fontAlgn="base">
              <a:lnSpc>
                <a:spcPct val="160000"/>
              </a:lnSpc>
              <a:spcBef>
                <a:spcPts val="600"/>
              </a:spcBef>
              <a:spcAft>
                <a:spcPts val="600"/>
              </a:spcAft>
              <a:buFont typeface="Wingdings" pitchFamily="2" charset="2"/>
              <a:buChar char="p"/>
              <a:defRPr/>
            </a:pPr>
            <a:r>
              <a:rPr lang="zh-CN" altLang="en-US" sz="2400" b="1" kern="0" dirty="0">
                <a:solidFill>
                  <a:schemeClr val="tx2"/>
                </a:solidFill>
                <a:latin typeface="SimHei" panose="02010609060101010101" pitchFamily="49" charset="-122"/>
                <a:ea typeface="SimHei" panose="02010609060101010101" pitchFamily="49" charset="-122"/>
              </a:rPr>
              <a:t>链接预测</a:t>
            </a:r>
            <a:endParaRPr lang="en-US" altLang="zh-CN" sz="2400" b="1" kern="0" dirty="0">
              <a:solidFill>
                <a:schemeClr val="tx2"/>
              </a:solidFill>
              <a:latin typeface="SimHei" panose="02010609060101010101" pitchFamily="49" charset="-122"/>
              <a:ea typeface="SimHei" panose="02010609060101010101" pitchFamily="49" charset="-122"/>
            </a:endParaRPr>
          </a:p>
        </p:txBody>
      </p:sp>
    </p:spTree>
    <p:extLst>
      <p:ext uri="{BB962C8B-B14F-4D97-AF65-F5344CB8AC3E}">
        <p14:creationId xmlns:p14="http://schemas.microsoft.com/office/powerpoint/2010/main" val="11900680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路径查找</a:t>
            </a:r>
          </a:p>
        </p:txBody>
      </p:sp>
      <p:sp>
        <p:nvSpPr>
          <p:cNvPr id="5" name="内容占位符 2">
            <a:extLst>
              <a:ext uri="{FF2B5EF4-FFF2-40B4-BE49-F238E27FC236}">
                <a16:creationId xmlns:a16="http://schemas.microsoft.com/office/drawing/2014/main" id="{99B6D816-F906-EBB7-362A-3CB507BDDE33}"/>
              </a:ext>
            </a:extLst>
          </p:cNvPr>
          <p:cNvSpPr txBox="1">
            <a:spLocks/>
          </p:cNvSpPr>
          <p:nvPr/>
        </p:nvSpPr>
        <p:spPr bwMode="auto">
          <a:xfrm>
            <a:off x="1043222" y="1253490"/>
            <a:ext cx="10084470" cy="548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a:lnSpc>
                <a:spcPct val="150000"/>
              </a:lnSpc>
            </a:pPr>
            <a:r>
              <a:rPr lang="zh-CN" altLang="en-US" sz="2000" dirty="0"/>
              <a:t>路径查找算法用于查找两个或更多节点之间的路径，或评估路径的可用性和质量。</a:t>
            </a:r>
            <a:endParaRPr lang="en-US" altLang="zh-CN" sz="2000" dirty="0"/>
          </a:p>
          <a:p>
            <a:pPr>
              <a:lnSpc>
                <a:spcPct val="150000"/>
              </a:lnSpc>
            </a:pPr>
            <a:r>
              <a:rPr lang="en-US" altLang="zh-CN" sz="2000" dirty="0" err="1"/>
              <a:t>TuGraph</a:t>
            </a:r>
            <a:r>
              <a:rPr lang="en-US" altLang="zh-CN" sz="2000" dirty="0"/>
              <a:t>-Cypher</a:t>
            </a:r>
            <a:r>
              <a:rPr lang="zh-CN" altLang="en-US" sz="2000" dirty="0"/>
              <a:t>：</a:t>
            </a:r>
            <a:r>
              <a:rPr lang="en-US" altLang="zh-CN" sz="2000" dirty="0">
                <a:hlinkClick r:id="rId2"/>
              </a:rPr>
              <a:t>TuGraph-Cypher-V3.3.2-OceanBase </a:t>
            </a:r>
            <a:r>
              <a:rPr lang="zh-CN" altLang="en-US" sz="2000" dirty="0">
                <a:hlinkClick r:id="rId2"/>
              </a:rPr>
              <a:t>图数据库文档</a:t>
            </a:r>
            <a:r>
              <a:rPr lang="en-US" altLang="zh-CN" sz="2000" dirty="0">
                <a:hlinkClick r:id="rId2"/>
              </a:rPr>
              <a:t>-</a:t>
            </a:r>
            <a:r>
              <a:rPr lang="zh-CN" altLang="en-US" sz="2000" dirty="0">
                <a:hlinkClick r:id="rId2"/>
              </a:rPr>
              <a:t>分布式数据库使用文档</a:t>
            </a:r>
            <a:r>
              <a:rPr lang="zh-CN" altLang="en-US" sz="2000" dirty="0"/>
              <a:t> 中的</a:t>
            </a:r>
            <a:r>
              <a:rPr lang="en-US" altLang="zh-CN" sz="2000" dirty="0" err="1"/>
              <a:t>algo.shortestPath</a:t>
            </a:r>
            <a:r>
              <a:rPr lang="zh-CN" altLang="en-US" sz="2000" dirty="0"/>
              <a:t>、</a:t>
            </a:r>
            <a:r>
              <a:rPr lang="en-US" altLang="zh-CN" sz="2000" dirty="0" err="1"/>
              <a:t>algo.allShortestPaths</a:t>
            </a:r>
            <a:endParaRPr lang="en-US" altLang="zh-CN" sz="2000" dirty="0"/>
          </a:p>
          <a:p>
            <a:pPr>
              <a:lnSpc>
                <a:spcPct val="150000"/>
              </a:lnSpc>
            </a:pPr>
            <a:r>
              <a:rPr lang="zh-CN" altLang="en-US" sz="2000" dirty="0"/>
              <a:t>示例：</a:t>
            </a:r>
            <a:r>
              <a:rPr lang="en-US" altLang="zh-CN" sz="2000" dirty="0"/>
              <a:t>Station</a:t>
            </a:r>
          </a:p>
          <a:p>
            <a:pPr>
              <a:lnSpc>
                <a:spcPct val="150000"/>
              </a:lnSpc>
            </a:pPr>
            <a:r>
              <a:rPr lang="en-US" altLang="zh-CN" sz="2000" dirty="0"/>
              <a:t>CREATE// Add the stations(</a:t>
            </a:r>
            <a:r>
              <a:rPr lang="en-US" altLang="zh-CN" sz="2000" dirty="0" err="1"/>
              <a:t>a:Station</a:t>
            </a:r>
            <a:r>
              <a:rPr lang="en-US" altLang="zh-CN" sz="2000" dirty="0"/>
              <a:t> {</a:t>
            </a:r>
            <a:r>
              <a:rPr lang="en-US" altLang="zh-CN" sz="2000" dirty="0" err="1"/>
              <a:t>name:'Kings</a:t>
            </a:r>
            <a:r>
              <a:rPr lang="en-US" altLang="zh-CN" sz="2000" dirty="0"/>
              <a:t> Cross'}),(</a:t>
            </a:r>
            <a:r>
              <a:rPr lang="en-US" altLang="zh-CN" sz="2000" dirty="0" err="1"/>
              <a:t>b:Station</a:t>
            </a:r>
            <a:r>
              <a:rPr lang="en-US" altLang="zh-CN" sz="2000" dirty="0"/>
              <a:t> {</a:t>
            </a:r>
            <a:r>
              <a:rPr lang="en-US" altLang="zh-CN" sz="2000" dirty="0" err="1"/>
              <a:t>name:'Euston</a:t>
            </a:r>
            <a:r>
              <a:rPr lang="en-US" altLang="zh-CN" sz="2000" dirty="0"/>
              <a:t>'}),(</a:t>
            </a:r>
            <a:r>
              <a:rPr lang="en-US" altLang="zh-CN" sz="2000" dirty="0" err="1"/>
              <a:t>c:Station</a:t>
            </a:r>
            <a:r>
              <a:rPr lang="en-US" altLang="zh-CN" sz="2000" dirty="0"/>
              <a:t> {</a:t>
            </a:r>
            <a:r>
              <a:rPr lang="en-US" altLang="zh-CN" sz="2000" dirty="0" err="1"/>
              <a:t>name:'Camden</a:t>
            </a:r>
            <a:r>
              <a:rPr lang="en-US" altLang="zh-CN" sz="2000" dirty="0"/>
              <a:t> Town'}),(</a:t>
            </a:r>
            <a:r>
              <a:rPr lang="en-US" altLang="zh-CN" sz="2000" dirty="0" err="1"/>
              <a:t>d:Station</a:t>
            </a:r>
            <a:r>
              <a:rPr lang="en-US" altLang="zh-CN" sz="2000" dirty="0"/>
              <a:t> {name: '</a:t>
            </a:r>
            <a:r>
              <a:rPr lang="en-US" altLang="zh-CN" sz="2000" dirty="0" err="1"/>
              <a:t>Mornington</a:t>
            </a:r>
            <a:r>
              <a:rPr lang="en-US" altLang="zh-CN" sz="2000" dirty="0"/>
              <a:t> Crescent'}),(</a:t>
            </a:r>
            <a:r>
              <a:rPr lang="en-US" altLang="zh-CN" sz="2000" dirty="0" err="1"/>
              <a:t>e:Station</a:t>
            </a:r>
            <a:r>
              <a:rPr lang="en-US" altLang="zh-CN" sz="2000" dirty="0"/>
              <a:t> {</a:t>
            </a:r>
            <a:r>
              <a:rPr lang="en-US" altLang="zh-CN" sz="2000" dirty="0" err="1"/>
              <a:t>name:'Kentish</a:t>
            </a:r>
            <a:r>
              <a:rPr lang="en-US" altLang="zh-CN" sz="2000" dirty="0"/>
              <a:t> Town'}),// Add the connections between stations(a)-[:CONNECTION {distance: 0.7}]-&gt;(b),(b)-[:CONNECTION{distance: 1.3}]-&gt;(c),(b)-[:CONNECTION{distance: 0.7}]-&gt;(d),(d)-[:CONNECTION {distance: 0.6}]-&gt;(c),(c)-[:CONNECTION{distance: 1.3}]-&gt;(e)</a:t>
            </a:r>
          </a:p>
          <a:p>
            <a:pPr>
              <a:lnSpc>
                <a:spcPct val="150000"/>
              </a:lnSpc>
            </a:pPr>
            <a:endParaRPr lang="en-US" altLang="zh-CN" sz="2000" dirty="0"/>
          </a:p>
        </p:txBody>
      </p:sp>
    </p:spTree>
    <p:extLst>
      <p:ext uri="{BB962C8B-B14F-4D97-AF65-F5344CB8AC3E}">
        <p14:creationId xmlns:p14="http://schemas.microsoft.com/office/powerpoint/2010/main" val="40997792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路径查找</a:t>
            </a:r>
          </a:p>
        </p:txBody>
      </p:sp>
      <p:sp>
        <p:nvSpPr>
          <p:cNvPr id="5" name="内容占位符 2">
            <a:extLst>
              <a:ext uri="{FF2B5EF4-FFF2-40B4-BE49-F238E27FC236}">
                <a16:creationId xmlns:a16="http://schemas.microsoft.com/office/drawing/2014/main" id="{99B6D816-F906-EBB7-362A-3CB507BDDE33}"/>
              </a:ext>
            </a:extLst>
          </p:cNvPr>
          <p:cNvSpPr txBox="1">
            <a:spLocks/>
          </p:cNvSpPr>
          <p:nvPr/>
        </p:nvSpPr>
        <p:spPr bwMode="auto">
          <a:xfrm>
            <a:off x="1043222" y="1253490"/>
            <a:ext cx="10084470" cy="548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a:lnSpc>
                <a:spcPct val="150000"/>
              </a:lnSpc>
            </a:pPr>
            <a:r>
              <a:rPr lang="en-US" altLang="zh-CN" sz="2000" dirty="0"/>
              <a:t>MATCH (</a:t>
            </a:r>
            <a:r>
              <a:rPr lang="en-US" altLang="zh-CN" sz="2000" dirty="0" err="1"/>
              <a:t>x:Station</a:t>
            </a:r>
            <a:r>
              <a:rPr lang="en-US" altLang="zh-CN" sz="2000" dirty="0"/>
              <a:t> {name: 'Kings Cross'}), (</a:t>
            </a:r>
            <a:r>
              <a:rPr lang="en-US" altLang="zh-CN" sz="2000" dirty="0" err="1"/>
              <a:t>y:Station</a:t>
            </a:r>
            <a:r>
              <a:rPr lang="en-US" altLang="zh-CN" sz="2000" dirty="0"/>
              <a:t> {name: 'Kentish Town'}) WITH x, y CALL </a:t>
            </a:r>
            <a:r>
              <a:rPr lang="en-US" altLang="zh-CN" sz="2000" dirty="0" err="1"/>
              <a:t>algo.allShortestPaths</a:t>
            </a:r>
            <a:r>
              <a:rPr lang="en-US" altLang="zh-CN" sz="2000" dirty="0"/>
              <a:t>(x, y) YIELD </a:t>
            </a:r>
            <a:r>
              <a:rPr lang="en-US" altLang="zh-CN" sz="2000" dirty="0" err="1"/>
              <a:t>nodeIds,relationshipIds,cost</a:t>
            </a:r>
            <a:r>
              <a:rPr lang="en-US" altLang="zh-CN" sz="2000" dirty="0"/>
              <a:t> RETURN </a:t>
            </a:r>
            <a:r>
              <a:rPr lang="en-US" altLang="zh-CN" sz="2000" dirty="0" err="1"/>
              <a:t>nodeIds,relationshipIds,cost</a:t>
            </a:r>
            <a:endParaRPr lang="en-US" altLang="zh-CN" sz="2000" dirty="0"/>
          </a:p>
          <a:p>
            <a:pPr>
              <a:lnSpc>
                <a:spcPct val="150000"/>
              </a:lnSpc>
            </a:pPr>
            <a:endParaRPr lang="en-US" altLang="zh-CN" sz="2000" dirty="0"/>
          </a:p>
          <a:p>
            <a:pPr>
              <a:lnSpc>
                <a:spcPct val="150000"/>
              </a:lnSpc>
            </a:pPr>
            <a:r>
              <a:rPr lang="en-US" altLang="zh-CN" sz="2000" dirty="0"/>
              <a:t>MATCH (</a:t>
            </a:r>
            <a:r>
              <a:rPr lang="en-US" altLang="zh-CN" sz="2000" dirty="0" err="1"/>
              <a:t>x:Station</a:t>
            </a:r>
            <a:r>
              <a:rPr lang="en-US" altLang="zh-CN" sz="2000" dirty="0"/>
              <a:t> {name: 'Kings Cross'}), (</a:t>
            </a:r>
            <a:r>
              <a:rPr lang="en-US" altLang="zh-CN" sz="2000" dirty="0" err="1"/>
              <a:t>y:Station</a:t>
            </a:r>
            <a:r>
              <a:rPr lang="en-US" altLang="zh-CN" sz="2000" dirty="0"/>
              <a:t> {name: 'Kentish Town'}) WITH x</a:t>
            </a:r>
            <a:r>
              <a:rPr lang="en-US" altLang="zh-CN" sz="2000"/>
              <a:t>, y CALL </a:t>
            </a:r>
            <a:r>
              <a:rPr lang="en-US" altLang="zh-CN" sz="2000" dirty="0" err="1"/>
              <a:t>algo.shortestPath</a:t>
            </a:r>
            <a:r>
              <a:rPr lang="en-US" altLang="zh-CN" sz="2000" dirty="0"/>
              <a:t>(x, y) YIELD </a:t>
            </a:r>
            <a:r>
              <a:rPr lang="en-US" altLang="zh-CN" sz="2000" dirty="0" err="1"/>
              <a:t>nodeCount,totalCost,path</a:t>
            </a:r>
            <a:r>
              <a:rPr lang="en-US" altLang="zh-CN" sz="2000" dirty="0"/>
              <a:t> RETURN </a:t>
            </a:r>
            <a:r>
              <a:rPr lang="en-US" altLang="zh-CN" sz="2000" dirty="0" err="1"/>
              <a:t>nodeCount,totalCost,path</a:t>
            </a:r>
            <a:endParaRPr lang="en-US" altLang="zh-CN" sz="2000" dirty="0"/>
          </a:p>
          <a:p>
            <a:pPr>
              <a:lnSpc>
                <a:spcPct val="150000"/>
              </a:lnSpc>
            </a:pPr>
            <a:endParaRPr lang="en-US" altLang="zh-CN" sz="2000" dirty="0"/>
          </a:p>
          <a:p>
            <a:pPr>
              <a:lnSpc>
                <a:spcPct val="150000"/>
              </a:lnSpc>
            </a:pPr>
            <a:endParaRPr lang="en-US" altLang="zh-CN" sz="2000" dirty="0"/>
          </a:p>
        </p:txBody>
      </p:sp>
    </p:spTree>
    <p:extLst>
      <p:ext uri="{BB962C8B-B14F-4D97-AF65-F5344CB8AC3E}">
        <p14:creationId xmlns:p14="http://schemas.microsoft.com/office/powerpoint/2010/main" val="24256746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图遍历</a:t>
            </a:r>
          </a:p>
        </p:txBody>
      </p:sp>
      <p:sp>
        <p:nvSpPr>
          <p:cNvPr id="5" name="内容占位符 2">
            <a:extLst>
              <a:ext uri="{FF2B5EF4-FFF2-40B4-BE49-F238E27FC236}">
                <a16:creationId xmlns:a16="http://schemas.microsoft.com/office/drawing/2014/main" id="{99B6D816-F906-EBB7-362A-3CB507BDDE33}"/>
              </a:ext>
            </a:extLst>
          </p:cNvPr>
          <p:cNvSpPr txBox="1">
            <a:spLocks/>
          </p:cNvSpPr>
          <p:nvPr/>
        </p:nvSpPr>
        <p:spPr bwMode="auto">
          <a:xfrm>
            <a:off x="1043222" y="1253490"/>
            <a:ext cx="10084470" cy="548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a:lnSpc>
                <a:spcPct val="150000"/>
              </a:lnSpc>
            </a:pPr>
            <a:r>
              <a:rPr lang="zh-CN" altLang="en-US" sz="2000" dirty="0"/>
              <a:t>广度优先搜索算法是一种图遍历算法，给定一个起始节点，它会按照距离递增的顺序访问节点，参见 </a:t>
            </a:r>
            <a:r>
              <a:rPr lang="en-US" altLang="zh-CN" sz="2000" dirty="0"/>
              <a:t>https://en.wikipedia.org/wiki/Breadth-first_search</a:t>
            </a:r>
            <a:r>
              <a:rPr lang="zh-CN" altLang="en-US" sz="2000" dirty="0"/>
              <a:t>。一个相关的算法是深度优先搜索算法，深度优先搜索。该算法对于搜索非常有用，尤其是在找到所需节点的可能性随距离增加而降低的情况下。遍历支持多种终止条件，例如达到多个目标节点中的一个，达到最大深度，用尽给定遍历关系成本的预算，或者仅仅遍历整个图。该过程的输出包含有关访问了哪些节点以及访问顺序的信息。</a:t>
            </a:r>
            <a:endParaRPr lang="en-US" altLang="zh-CN" sz="2000" dirty="0"/>
          </a:p>
          <a:p>
            <a:pPr>
              <a:lnSpc>
                <a:spcPct val="150000"/>
              </a:lnSpc>
            </a:pPr>
            <a:r>
              <a:rPr lang="en-US" altLang="zh-CN" sz="2000" dirty="0">
                <a:hlinkClick r:id="rId2"/>
              </a:rPr>
              <a:t>https://blog.csdn.net/m0_73633088/article/details/134010100</a:t>
            </a:r>
            <a:endParaRPr lang="en-US" altLang="zh-CN" sz="2000" dirty="0"/>
          </a:p>
          <a:p>
            <a:pPr>
              <a:lnSpc>
                <a:spcPct val="150000"/>
              </a:lnSpc>
            </a:pPr>
            <a:r>
              <a:rPr lang="zh-CN" altLang="en-US" sz="2000" dirty="0"/>
              <a:t>存储过程的使用</a:t>
            </a:r>
            <a:endParaRPr lang="en-US" altLang="zh-CN" sz="2000" dirty="0"/>
          </a:p>
          <a:p>
            <a:pPr>
              <a:lnSpc>
                <a:spcPct val="150000"/>
              </a:lnSpc>
            </a:pPr>
            <a:r>
              <a:rPr lang="en-US" altLang="zh-CN" sz="2000" dirty="0" err="1"/>
              <a:t>TuGraph</a:t>
            </a:r>
            <a:r>
              <a:rPr lang="en-US" altLang="zh-CN" sz="2000" dirty="0"/>
              <a:t> </a:t>
            </a:r>
            <a:r>
              <a:rPr lang="zh-CN" altLang="en-US" sz="2000" dirty="0"/>
              <a:t>内置算法说明</a:t>
            </a:r>
            <a:endParaRPr lang="en-US" altLang="zh-CN" sz="2000" dirty="0"/>
          </a:p>
          <a:p>
            <a:pPr marL="0" indent="0">
              <a:lnSpc>
                <a:spcPct val="150000"/>
              </a:lnSpc>
              <a:buNone/>
            </a:pPr>
            <a:r>
              <a:rPr lang="en-US" altLang="zh-CN" sz="2000" dirty="0" err="1">
                <a:hlinkClick r:id="rId3"/>
              </a:rPr>
              <a:t>TuGraph</a:t>
            </a:r>
            <a:r>
              <a:rPr lang="en-US" altLang="zh-CN" sz="2000" dirty="0">
                <a:hlinkClick r:id="rId3"/>
              </a:rPr>
              <a:t> </a:t>
            </a:r>
            <a:r>
              <a:rPr lang="zh-CN" altLang="en-US" sz="2000" dirty="0">
                <a:hlinkClick r:id="rId3"/>
              </a:rPr>
              <a:t>内置算法说明</a:t>
            </a:r>
            <a:r>
              <a:rPr lang="en-US" altLang="zh-CN" sz="2000" dirty="0">
                <a:hlinkClick r:id="rId3"/>
              </a:rPr>
              <a:t>-V3.3.2-OceanBase </a:t>
            </a:r>
            <a:r>
              <a:rPr lang="zh-CN" altLang="en-US" sz="2000" dirty="0">
                <a:hlinkClick r:id="rId3"/>
              </a:rPr>
              <a:t>图数据库文档</a:t>
            </a:r>
            <a:r>
              <a:rPr lang="en-US" altLang="zh-CN" sz="2000" dirty="0">
                <a:hlinkClick r:id="rId3"/>
              </a:rPr>
              <a:t>-</a:t>
            </a:r>
            <a:r>
              <a:rPr lang="zh-CN" altLang="en-US" sz="2000" dirty="0">
                <a:hlinkClick r:id="rId3"/>
              </a:rPr>
              <a:t>分布式数据库使用文档</a:t>
            </a:r>
            <a:endParaRPr lang="en-US" altLang="zh-CN" sz="2000" dirty="0"/>
          </a:p>
        </p:txBody>
      </p:sp>
    </p:spTree>
    <p:extLst>
      <p:ext uri="{BB962C8B-B14F-4D97-AF65-F5344CB8AC3E}">
        <p14:creationId xmlns:p14="http://schemas.microsoft.com/office/powerpoint/2010/main" val="2255599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图的中心性</a:t>
            </a:r>
          </a:p>
        </p:txBody>
      </p:sp>
      <p:sp>
        <p:nvSpPr>
          <p:cNvPr id="5" name="内容占位符 2">
            <a:extLst>
              <a:ext uri="{FF2B5EF4-FFF2-40B4-BE49-F238E27FC236}">
                <a16:creationId xmlns:a16="http://schemas.microsoft.com/office/drawing/2014/main" id="{99B6D816-F906-EBB7-362A-3CB507BDDE33}"/>
              </a:ext>
            </a:extLst>
          </p:cNvPr>
          <p:cNvSpPr txBox="1">
            <a:spLocks/>
          </p:cNvSpPr>
          <p:nvPr/>
        </p:nvSpPr>
        <p:spPr bwMode="auto">
          <a:xfrm>
            <a:off x="1043222" y="1253490"/>
            <a:ext cx="10084470" cy="548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zh-CN" altLang="en-US" sz="2000" dirty="0"/>
              <a:t>中心性算法用于确定网络中不同节点的重要性。</a:t>
            </a:r>
            <a:endParaRPr lang="en-US" altLang="zh-CN" sz="2000" dirty="0"/>
          </a:p>
          <a:p>
            <a:pPr eaLnBrk="1" hangingPunct="1">
              <a:lnSpc>
                <a:spcPct val="150000"/>
              </a:lnSpc>
              <a:spcBef>
                <a:spcPts val="0"/>
              </a:spcBef>
              <a:spcAft>
                <a:spcPts val="0"/>
              </a:spcAft>
            </a:pPr>
            <a:r>
              <a:rPr lang="zh-CN" altLang="en-US" sz="2000" dirty="0"/>
              <a:t>典型算法</a:t>
            </a:r>
            <a:r>
              <a:rPr lang="en-US" altLang="zh-CN" sz="2000" dirty="0"/>
              <a:t>PageRank</a:t>
            </a:r>
            <a:r>
              <a:rPr lang="zh-CN" altLang="en-US" sz="2000" dirty="0"/>
              <a:t>：</a:t>
            </a:r>
            <a:r>
              <a:rPr lang="en-US" altLang="zh-CN" sz="2000" dirty="0"/>
              <a:t>PageRank </a:t>
            </a:r>
            <a:r>
              <a:rPr lang="zh-CN" altLang="en-US" sz="2000" dirty="0"/>
              <a:t>算法根据传入关系的数量和相应源节点的重要性来衡量图中每个节点的重要性。基本假设粗略地讲是，一个页面的重要性仅取决于链接到它的页面的重要性。</a:t>
            </a:r>
            <a:r>
              <a:rPr lang="en-US" altLang="zh-CN" sz="2000" dirty="0"/>
              <a:t>PageRank </a:t>
            </a:r>
            <a:r>
              <a:rPr lang="zh-CN" altLang="en-US" sz="2000" dirty="0"/>
              <a:t>在最初的 </a:t>
            </a:r>
            <a:r>
              <a:rPr lang="en-US" altLang="zh-CN" sz="2000" dirty="0"/>
              <a:t>Google </a:t>
            </a:r>
            <a:r>
              <a:rPr lang="zh-CN" altLang="en-US" sz="2000" dirty="0"/>
              <a:t>论文中被引入。</a:t>
            </a:r>
            <a:endParaRPr lang="en-US" altLang="zh-CN" sz="2000" dirty="0"/>
          </a:p>
          <a:p>
            <a:pPr eaLnBrk="1" hangingPunct="1">
              <a:lnSpc>
                <a:spcPct val="150000"/>
              </a:lnSpc>
              <a:spcBef>
                <a:spcPts val="0"/>
              </a:spcBef>
              <a:spcAft>
                <a:spcPts val="0"/>
              </a:spcAft>
            </a:pPr>
            <a:r>
              <a:rPr lang="zh-CN" altLang="en-US" sz="2000" dirty="0"/>
              <a:t>数据集：</a:t>
            </a:r>
            <a:r>
              <a:rPr lang="en-US" altLang="zh-CN" sz="2000" dirty="0"/>
              <a:t>page</a:t>
            </a:r>
            <a:r>
              <a:rPr lang="zh-CN" altLang="en-US" sz="2000" dirty="0"/>
              <a:t>（创建代码</a:t>
            </a:r>
            <a:r>
              <a:rPr lang="en-US" altLang="zh-CN" sz="2000" dirty="0">
                <a:hlinkClick r:id="rId2"/>
              </a:rPr>
              <a:t>PageRank - Neo4j </a:t>
            </a:r>
            <a:r>
              <a:rPr lang="zh-CN" altLang="en-US" sz="2000" dirty="0">
                <a:hlinkClick r:id="rId2"/>
              </a:rPr>
              <a:t>图数据科学 </a:t>
            </a:r>
            <a:r>
              <a:rPr lang="en-US" altLang="zh-CN" sz="2000" dirty="0">
                <a:hlinkClick r:id="rId2"/>
              </a:rPr>
              <a:t>- Neo4j </a:t>
            </a:r>
            <a:r>
              <a:rPr lang="zh-CN" altLang="en-US" sz="2000" dirty="0">
                <a:hlinkClick r:id="rId2"/>
              </a:rPr>
              <a:t>文档</a:t>
            </a:r>
            <a:r>
              <a:rPr lang="zh-CN" altLang="en-US" sz="2000" dirty="0"/>
              <a:t>）</a:t>
            </a:r>
            <a:endParaRPr lang="en-US" altLang="zh-CN" sz="2000" dirty="0"/>
          </a:p>
          <a:p>
            <a:pPr eaLnBrk="1" hangingPunct="1">
              <a:lnSpc>
                <a:spcPct val="150000"/>
              </a:lnSpc>
              <a:spcBef>
                <a:spcPts val="0"/>
              </a:spcBef>
              <a:spcAft>
                <a:spcPts val="0"/>
              </a:spcAft>
            </a:pPr>
            <a:r>
              <a:rPr lang="zh-CN" altLang="en-US" sz="2000" dirty="0"/>
              <a:t>代码示例：</a:t>
            </a:r>
            <a:r>
              <a:rPr lang="en-US" altLang="zh-CN" sz="2000" dirty="0"/>
              <a:t> pagerank_procedure.py</a:t>
            </a:r>
            <a:r>
              <a:rPr lang="zh-CN" altLang="en-US" sz="2000" dirty="0"/>
              <a:t>、</a:t>
            </a:r>
            <a:r>
              <a:rPr lang="en-US" altLang="zh-CN" sz="2000" dirty="0"/>
              <a:t> pagerank_4.py</a:t>
            </a:r>
          </a:p>
        </p:txBody>
      </p:sp>
      <p:pic>
        <p:nvPicPr>
          <p:cNvPr id="3" name="图片 2"/>
          <p:cNvPicPr>
            <a:picLocks noChangeAspect="1"/>
          </p:cNvPicPr>
          <p:nvPr/>
        </p:nvPicPr>
        <p:blipFill>
          <a:blip r:embed="rId3"/>
          <a:stretch>
            <a:fillRect/>
          </a:stretch>
        </p:blipFill>
        <p:spPr>
          <a:xfrm>
            <a:off x="7308212" y="3669157"/>
            <a:ext cx="4476750" cy="3038475"/>
          </a:xfrm>
          <a:prstGeom prst="rect">
            <a:avLst/>
          </a:prstGeom>
        </p:spPr>
      </p:pic>
    </p:spTree>
    <p:extLst>
      <p:ext uri="{BB962C8B-B14F-4D97-AF65-F5344CB8AC3E}">
        <p14:creationId xmlns:p14="http://schemas.microsoft.com/office/powerpoint/2010/main" val="3679995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社区检测</a:t>
            </a:r>
          </a:p>
        </p:txBody>
      </p:sp>
      <p:sp>
        <p:nvSpPr>
          <p:cNvPr id="5" name="内容占位符 2">
            <a:extLst>
              <a:ext uri="{FF2B5EF4-FFF2-40B4-BE49-F238E27FC236}">
                <a16:creationId xmlns:a16="http://schemas.microsoft.com/office/drawing/2014/main" id="{99B6D816-F906-EBB7-362A-3CB507BDDE33}"/>
              </a:ext>
            </a:extLst>
          </p:cNvPr>
          <p:cNvSpPr txBox="1">
            <a:spLocks/>
          </p:cNvSpPr>
          <p:nvPr/>
        </p:nvSpPr>
        <p:spPr bwMode="auto">
          <a:xfrm>
            <a:off x="1043222" y="1253490"/>
            <a:ext cx="10084470" cy="548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zh-CN" altLang="en-US" sz="2000" dirty="0"/>
              <a:t>社区检测算法用于评估节点组如何聚类或分区，以及它们加强或分解的趋势。</a:t>
            </a:r>
            <a:endParaRPr lang="en-US" altLang="zh-CN" sz="2000" dirty="0"/>
          </a:p>
          <a:p>
            <a:pPr eaLnBrk="1" hangingPunct="1">
              <a:lnSpc>
                <a:spcPct val="150000"/>
              </a:lnSpc>
              <a:spcBef>
                <a:spcPts val="0"/>
              </a:spcBef>
              <a:spcAft>
                <a:spcPts val="0"/>
              </a:spcAft>
            </a:pPr>
            <a:r>
              <a:rPr lang="zh-CN" altLang="en-US" sz="2000" dirty="0"/>
              <a:t>典型算法 标签传播（</a:t>
            </a:r>
            <a:r>
              <a:rPr lang="en-US" altLang="zh-CN" sz="2000" dirty="0"/>
              <a:t>Label Propagation Algorithm</a:t>
            </a:r>
            <a:r>
              <a:rPr lang="zh-CN" altLang="en-US" sz="2000" dirty="0"/>
              <a:t>，</a:t>
            </a:r>
            <a:r>
              <a:rPr lang="en-US" altLang="zh-CN" sz="2000" dirty="0" err="1"/>
              <a:t>lpa</a:t>
            </a:r>
            <a:r>
              <a:rPr lang="zh-CN" altLang="en-US" sz="2000" dirty="0"/>
              <a:t>）：该算法的直觉是，一个单一标签可以在密集连接的节点组中迅速占据主导地位，但在稀疏连接的区域将难以传播。标签将被困在密集连接的节点组内，当算法结束时，那些最终拥有相同标签的节点可以被认为是同一社区的一部分。</a:t>
            </a:r>
            <a:endParaRPr lang="en-US" altLang="zh-CN" sz="2000" dirty="0"/>
          </a:p>
          <a:p>
            <a:pPr eaLnBrk="1" hangingPunct="1">
              <a:lnSpc>
                <a:spcPct val="150000"/>
              </a:lnSpc>
              <a:spcBef>
                <a:spcPts val="0"/>
              </a:spcBef>
              <a:spcAft>
                <a:spcPts val="0"/>
              </a:spcAft>
            </a:pPr>
            <a:r>
              <a:rPr lang="zh-CN" altLang="en-US" sz="2000" dirty="0"/>
              <a:t>数据集：</a:t>
            </a:r>
            <a:r>
              <a:rPr lang="en-US" altLang="zh-CN" sz="2000" dirty="0"/>
              <a:t>follow</a:t>
            </a:r>
            <a:r>
              <a:rPr lang="zh-CN" altLang="en-US" sz="2000" dirty="0"/>
              <a:t>（创建代码</a:t>
            </a:r>
            <a:r>
              <a:rPr lang="zh-CN" altLang="en-US" sz="2000" dirty="0">
                <a:hlinkClick r:id="rId2"/>
              </a:rPr>
              <a:t>标签传播 </a:t>
            </a:r>
            <a:r>
              <a:rPr lang="en-US" altLang="zh-CN" sz="2000" dirty="0">
                <a:hlinkClick r:id="rId2"/>
              </a:rPr>
              <a:t>- Neo4j </a:t>
            </a:r>
            <a:r>
              <a:rPr lang="zh-CN" altLang="en-US" sz="2000" dirty="0">
                <a:hlinkClick r:id="rId2"/>
              </a:rPr>
              <a:t>图数据科学 </a:t>
            </a:r>
            <a:r>
              <a:rPr lang="en-US" altLang="zh-CN" sz="2000" dirty="0">
                <a:hlinkClick r:id="rId2"/>
              </a:rPr>
              <a:t>- Neo4j </a:t>
            </a:r>
            <a:r>
              <a:rPr lang="zh-CN" altLang="en-US" sz="2000" dirty="0">
                <a:hlinkClick r:id="rId2"/>
              </a:rPr>
              <a:t>文档</a:t>
            </a:r>
            <a:r>
              <a:rPr lang="zh-CN" altLang="en-US" sz="2000" dirty="0"/>
              <a:t>）</a:t>
            </a:r>
            <a:endParaRPr lang="en-US" altLang="zh-CN" sz="2000" dirty="0"/>
          </a:p>
          <a:p>
            <a:pPr eaLnBrk="1" hangingPunct="1">
              <a:lnSpc>
                <a:spcPct val="150000"/>
              </a:lnSpc>
              <a:spcBef>
                <a:spcPts val="0"/>
              </a:spcBef>
              <a:spcAft>
                <a:spcPts val="0"/>
              </a:spcAft>
            </a:pPr>
            <a:r>
              <a:rPr lang="zh-CN" altLang="en-US" sz="2000" dirty="0"/>
              <a:t>代码示例：</a:t>
            </a:r>
            <a:r>
              <a:rPr lang="en-US" altLang="zh-CN" sz="2000" dirty="0"/>
              <a:t> lpa_procedure.py</a:t>
            </a:r>
            <a:r>
              <a:rPr lang="zh-CN" altLang="en-US" sz="2000" dirty="0"/>
              <a:t>、</a:t>
            </a:r>
            <a:r>
              <a:rPr lang="en-US" altLang="zh-CN" sz="2000" dirty="0"/>
              <a:t> lpa_2.py</a:t>
            </a:r>
          </a:p>
        </p:txBody>
      </p:sp>
      <p:sp>
        <p:nvSpPr>
          <p:cNvPr id="4" name="AutoShape 2" descr="Visualization of the example grap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7" name="图片 6"/>
          <p:cNvPicPr>
            <a:picLocks noChangeAspect="1"/>
          </p:cNvPicPr>
          <p:nvPr/>
        </p:nvPicPr>
        <p:blipFill>
          <a:blip r:embed="rId3"/>
          <a:stretch>
            <a:fillRect/>
          </a:stretch>
        </p:blipFill>
        <p:spPr>
          <a:xfrm>
            <a:off x="3863752" y="4581128"/>
            <a:ext cx="4248150" cy="1733550"/>
          </a:xfrm>
          <a:prstGeom prst="rect">
            <a:avLst/>
          </a:prstGeom>
        </p:spPr>
      </p:pic>
    </p:spTree>
    <p:extLst>
      <p:ext uri="{BB962C8B-B14F-4D97-AF65-F5344CB8AC3E}">
        <p14:creationId xmlns:p14="http://schemas.microsoft.com/office/powerpoint/2010/main" val="553475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相似度</a:t>
            </a:r>
          </a:p>
        </p:txBody>
      </p:sp>
      <p:sp>
        <p:nvSpPr>
          <p:cNvPr id="5" name="内容占位符 2">
            <a:extLst>
              <a:ext uri="{FF2B5EF4-FFF2-40B4-BE49-F238E27FC236}">
                <a16:creationId xmlns:a16="http://schemas.microsoft.com/office/drawing/2014/main" id="{99B6D816-F906-EBB7-362A-3CB507BDDE33}"/>
              </a:ext>
            </a:extLst>
          </p:cNvPr>
          <p:cNvSpPr txBox="1">
            <a:spLocks/>
          </p:cNvSpPr>
          <p:nvPr/>
        </p:nvSpPr>
        <p:spPr bwMode="auto">
          <a:xfrm>
            <a:off x="1043222" y="1253490"/>
            <a:ext cx="10084470" cy="548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zh-CN" altLang="en-US" sz="2000" dirty="0"/>
              <a:t>相似度算法根据节点的邻居或属性计算节点对的相似度。可以使用多种相似度度量来计算相似度得分。</a:t>
            </a:r>
            <a:endParaRPr lang="en-US" altLang="zh-CN" sz="2000" dirty="0"/>
          </a:p>
          <a:p>
            <a:pPr eaLnBrk="1" hangingPunct="1">
              <a:lnSpc>
                <a:spcPct val="150000"/>
              </a:lnSpc>
              <a:spcBef>
                <a:spcPts val="0"/>
              </a:spcBef>
              <a:spcAft>
                <a:spcPts val="0"/>
              </a:spcAft>
            </a:pPr>
            <a:r>
              <a:rPr lang="zh-CN" altLang="en-US" sz="2000" dirty="0"/>
              <a:t>推荐系统中可以使用这一概念。</a:t>
            </a:r>
            <a:endParaRPr lang="en-US" altLang="zh-CN" sz="2000" dirty="0"/>
          </a:p>
          <a:p>
            <a:pPr eaLnBrk="1" hangingPunct="1">
              <a:lnSpc>
                <a:spcPct val="150000"/>
              </a:lnSpc>
              <a:spcBef>
                <a:spcPts val="0"/>
              </a:spcBef>
              <a:spcAft>
                <a:spcPts val="0"/>
              </a:spcAft>
            </a:pPr>
            <a:r>
              <a:rPr lang="zh-CN" altLang="en-US" sz="2000" dirty="0"/>
              <a:t>典型算法：</a:t>
            </a:r>
            <a:r>
              <a:rPr lang="en-US" altLang="zh-CN" sz="2000" dirty="0"/>
              <a:t>K </a:t>
            </a:r>
            <a:r>
              <a:rPr lang="zh-CN" altLang="en-US" sz="2000" dirty="0"/>
              <a:t>近邻，参考</a:t>
            </a:r>
            <a:r>
              <a:rPr lang="zh-CN" altLang="en-US" sz="2000" dirty="0">
                <a:hlinkClick r:id="rId2"/>
              </a:rPr>
              <a:t>相似度 </a:t>
            </a:r>
            <a:r>
              <a:rPr lang="en-US" altLang="zh-CN" sz="2000" dirty="0">
                <a:hlinkClick r:id="rId2"/>
              </a:rPr>
              <a:t>- Neo4j </a:t>
            </a:r>
            <a:r>
              <a:rPr lang="zh-CN" altLang="en-US" sz="2000" dirty="0">
                <a:hlinkClick r:id="rId2"/>
              </a:rPr>
              <a:t>图数据科学 </a:t>
            </a:r>
            <a:r>
              <a:rPr lang="en-US" altLang="zh-CN" sz="2000" dirty="0">
                <a:hlinkClick r:id="rId2"/>
              </a:rPr>
              <a:t>- Neo4j </a:t>
            </a:r>
            <a:r>
              <a:rPr lang="zh-CN" altLang="en-US" sz="2000" dirty="0">
                <a:hlinkClick r:id="rId2"/>
              </a:rPr>
              <a:t>文档</a:t>
            </a:r>
            <a:endParaRPr lang="en-US" altLang="zh-CN" sz="2000" dirty="0"/>
          </a:p>
          <a:p>
            <a:pPr eaLnBrk="1" hangingPunct="1">
              <a:lnSpc>
                <a:spcPct val="150000"/>
              </a:lnSpc>
              <a:spcBef>
                <a:spcPts val="0"/>
              </a:spcBef>
              <a:spcAft>
                <a:spcPts val="0"/>
              </a:spcAft>
            </a:pPr>
            <a:r>
              <a:rPr lang="en-US" altLang="zh-CN" sz="2000" dirty="0" err="1"/>
              <a:t>TuGraph</a:t>
            </a:r>
            <a:r>
              <a:rPr lang="zh-CN" altLang="en-US" sz="2000" dirty="0"/>
              <a:t>中目前没有</a:t>
            </a:r>
            <a:endParaRPr lang="en-US" altLang="zh-CN" sz="2000" dirty="0"/>
          </a:p>
        </p:txBody>
      </p:sp>
    </p:spTree>
    <p:extLst>
      <p:ext uri="{BB962C8B-B14F-4D97-AF65-F5344CB8AC3E}">
        <p14:creationId xmlns:p14="http://schemas.microsoft.com/office/powerpoint/2010/main" val="32174775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节点嵌入</a:t>
            </a:r>
          </a:p>
        </p:txBody>
      </p:sp>
      <p:sp>
        <p:nvSpPr>
          <p:cNvPr id="5" name="内容占位符 2">
            <a:extLst>
              <a:ext uri="{FF2B5EF4-FFF2-40B4-BE49-F238E27FC236}">
                <a16:creationId xmlns:a16="http://schemas.microsoft.com/office/drawing/2014/main" id="{99B6D816-F906-EBB7-362A-3CB507BDDE33}"/>
              </a:ext>
            </a:extLst>
          </p:cNvPr>
          <p:cNvSpPr txBox="1">
            <a:spLocks/>
          </p:cNvSpPr>
          <p:nvPr/>
        </p:nvSpPr>
        <p:spPr bwMode="auto">
          <a:xfrm>
            <a:off x="1043222" y="1253490"/>
            <a:ext cx="10084470" cy="548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zh-CN" altLang="en-US" sz="2000" dirty="0"/>
              <a:t>节点嵌入算法计算图中节点的低维向量表示。这些向量，也称为嵌入，可用于机器学习。</a:t>
            </a:r>
            <a:endParaRPr lang="en-US" altLang="zh-CN" sz="2000" dirty="0"/>
          </a:p>
          <a:p>
            <a:pPr eaLnBrk="1" hangingPunct="1">
              <a:lnSpc>
                <a:spcPct val="150000"/>
              </a:lnSpc>
              <a:spcBef>
                <a:spcPts val="0"/>
              </a:spcBef>
              <a:spcAft>
                <a:spcPts val="0"/>
              </a:spcAft>
            </a:pPr>
            <a:r>
              <a:rPr lang="zh-CN" altLang="en-US" sz="2000" dirty="0"/>
              <a:t>典型算法：</a:t>
            </a:r>
            <a:r>
              <a:rPr lang="en-US" altLang="zh-CN" sz="2000" dirty="0"/>
              <a:t>Node2Vec</a:t>
            </a:r>
            <a:r>
              <a:rPr lang="zh-CN" altLang="en-US" sz="2000" dirty="0"/>
              <a:t>，参考</a:t>
            </a:r>
            <a:r>
              <a:rPr lang="zh-CN" altLang="en-US" sz="2000" dirty="0">
                <a:hlinkClick r:id="rId2"/>
              </a:rPr>
              <a:t>节点嵌入 </a:t>
            </a:r>
            <a:r>
              <a:rPr lang="en-US" altLang="zh-CN" sz="2000" dirty="0">
                <a:hlinkClick r:id="rId2"/>
              </a:rPr>
              <a:t>- Neo4j </a:t>
            </a:r>
            <a:r>
              <a:rPr lang="zh-CN" altLang="en-US" sz="2000" dirty="0">
                <a:hlinkClick r:id="rId2"/>
              </a:rPr>
              <a:t>图数据科学 </a:t>
            </a:r>
            <a:r>
              <a:rPr lang="en-US" altLang="zh-CN" sz="2000" dirty="0">
                <a:hlinkClick r:id="rId2"/>
              </a:rPr>
              <a:t>- Neo4j </a:t>
            </a:r>
            <a:r>
              <a:rPr lang="zh-CN" altLang="en-US" sz="2000" dirty="0">
                <a:hlinkClick r:id="rId2"/>
              </a:rPr>
              <a:t>文档</a:t>
            </a:r>
            <a:endParaRPr lang="en-US" altLang="zh-CN" sz="2000" dirty="0"/>
          </a:p>
          <a:p>
            <a:pPr eaLnBrk="1" hangingPunct="1">
              <a:lnSpc>
                <a:spcPct val="150000"/>
              </a:lnSpc>
              <a:spcBef>
                <a:spcPts val="0"/>
              </a:spcBef>
              <a:spcAft>
                <a:spcPts val="0"/>
              </a:spcAft>
            </a:pPr>
            <a:r>
              <a:rPr lang="en-US" altLang="zh-CN" sz="2000" dirty="0" err="1"/>
              <a:t>TuGraph</a:t>
            </a:r>
            <a:r>
              <a:rPr lang="zh-CN" altLang="en-US" sz="2000" dirty="0"/>
              <a:t>中目前有采样算子及图学习示例，</a:t>
            </a:r>
            <a:r>
              <a:rPr lang="en-US" altLang="zh-CN" sz="2000" dirty="0">
                <a:hlinkClick r:id="rId3"/>
              </a:rPr>
              <a:t>github.com</a:t>
            </a:r>
            <a:r>
              <a:rPr lang="en-US" altLang="zh-CN" sz="2000" dirty="0"/>
              <a:t> </a:t>
            </a:r>
            <a:r>
              <a:rPr lang="zh-CN" altLang="en-US" sz="2000" dirty="0"/>
              <a:t>但比较麻烦，需要调试</a:t>
            </a:r>
            <a:endParaRPr lang="en-US" altLang="zh-CN" sz="2000" dirty="0"/>
          </a:p>
        </p:txBody>
      </p:sp>
    </p:spTree>
    <p:extLst>
      <p:ext uri="{BB962C8B-B14F-4D97-AF65-F5344CB8AC3E}">
        <p14:creationId xmlns:p14="http://schemas.microsoft.com/office/powerpoint/2010/main" val="548769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链接预测</a:t>
            </a:r>
          </a:p>
        </p:txBody>
      </p:sp>
      <p:sp>
        <p:nvSpPr>
          <p:cNvPr id="5" name="内容占位符 2">
            <a:extLst>
              <a:ext uri="{FF2B5EF4-FFF2-40B4-BE49-F238E27FC236}">
                <a16:creationId xmlns:a16="http://schemas.microsoft.com/office/drawing/2014/main" id="{99B6D816-F906-EBB7-362A-3CB507BDDE33}"/>
              </a:ext>
            </a:extLst>
          </p:cNvPr>
          <p:cNvSpPr txBox="1">
            <a:spLocks/>
          </p:cNvSpPr>
          <p:nvPr/>
        </p:nvSpPr>
        <p:spPr bwMode="auto">
          <a:xfrm>
            <a:off x="1043222" y="1253490"/>
            <a:ext cx="10084470" cy="5487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25000"/>
              </a:lnSpc>
              <a:spcBef>
                <a:spcPct val="20000"/>
              </a:spcBef>
              <a:spcAft>
                <a:spcPts val="600"/>
              </a:spcAft>
              <a:buClr>
                <a:srgbClr val="0070C0"/>
              </a:buClr>
              <a:buSzPct val="85000"/>
              <a:buFont typeface="Wingdings"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200">
                <a:solidFill>
                  <a:schemeClr val="tx1"/>
                </a:solidFill>
                <a:latin typeface="+mj-lt"/>
                <a:ea typeface="宋体" charset="-122"/>
              </a:defRPr>
            </a:lvl2pPr>
            <a:lvl3pPr marL="1143000" indent="-228600" algn="l" rtl="0" eaLnBrk="0" fontAlgn="base" hangingPunct="0">
              <a:spcBef>
                <a:spcPct val="20000"/>
              </a:spcBef>
              <a:spcAft>
                <a:spcPct val="0"/>
              </a:spcAft>
              <a:buFont typeface="Arial" charset="0"/>
              <a:buChar char="•"/>
              <a:defRPr sz="2400">
                <a:solidFill>
                  <a:schemeClr val="tx1"/>
                </a:solidFill>
                <a:latin typeface="+mj-lt"/>
                <a:ea typeface="宋体" charset="-122"/>
              </a:defRPr>
            </a:lvl3pPr>
            <a:lvl4pPr marL="16002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4pPr>
            <a:lvl5pPr marL="2057400" indent="-228600" algn="l" rtl="0" eaLnBrk="0" fontAlgn="base" hangingPunct="0">
              <a:spcBef>
                <a:spcPct val="20000"/>
              </a:spcBef>
              <a:spcAft>
                <a:spcPct val="0"/>
              </a:spcAft>
              <a:buFont typeface="Arial" charset="0"/>
              <a:buChar char="»"/>
              <a:defRPr sz="2000">
                <a:solidFill>
                  <a:schemeClr val="tx1"/>
                </a:solidFill>
                <a:latin typeface="+mj-lt"/>
                <a:ea typeface="宋体" charset="-122"/>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j-lt"/>
                <a:ea typeface="+mj-ea"/>
              </a:defRPr>
            </a:lvl9pPr>
          </a:lstStyle>
          <a:p>
            <a:pPr eaLnBrk="1" hangingPunct="1">
              <a:lnSpc>
                <a:spcPct val="150000"/>
              </a:lnSpc>
              <a:spcBef>
                <a:spcPts val="0"/>
              </a:spcBef>
              <a:spcAft>
                <a:spcPts val="0"/>
              </a:spcAft>
            </a:pPr>
            <a:r>
              <a:rPr lang="zh-CN" altLang="en-US" sz="2000" dirty="0"/>
              <a:t>链接预测算法利用图的拓扑结构帮助确定一对节点的紧密程度。然后，计算出的分数可用于预测它们之间的新关系。</a:t>
            </a:r>
            <a:endParaRPr lang="en-US" altLang="zh-CN" sz="2000" dirty="0"/>
          </a:p>
          <a:p>
            <a:pPr eaLnBrk="1" hangingPunct="1">
              <a:lnSpc>
                <a:spcPct val="150000"/>
              </a:lnSpc>
              <a:spcBef>
                <a:spcPts val="0"/>
              </a:spcBef>
              <a:spcAft>
                <a:spcPts val="0"/>
              </a:spcAft>
            </a:pPr>
            <a:r>
              <a:rPr lang="zh-CN" altLang="en-US" sz="2000" dirty="0"/>
              <a:t>典型算法：共同邻居。共同邻居捕捉了这样一个概念：两个拥有共同朋友的陌生人比没有共同朋友的陌生人更有可能被介绍认识。</a:t>
            </a:r>
            <a:endParaRPr lang="en-US" altLang="zh-CN" sz="2000" dirty="0"/>
          </a:p>
          <a:p>
            <a:pPr eaLnBrk="1" hangingPunct="1">
              <a:lnSpc>
                <a:spcPct val="150000"/>
              </a:lnSpc>
              <a:spcBef>
                <a:spcPts val="0"/>
              </a:spcBef>
              <a:spcAft>
                <a:spcPts val="0"/>
              </a:spcAft>
            </a:pPr>
            <a:r>
              <a:rPr lang="zh-CN" altLang="en-US" sz="2000" dirty="0"/>
              <a:t>数据：</a:t>
            </a:r>
            <a:r>
              <a:rPr lang="zh-CN" altLang="en-US" sz="2000" dirty="0">
                <a:hlinkClick r:id="rId2"/>
              </a:rPr>
              <a:t>共同邻居 </a:t>
            </a:r>
            <a:r>
              <a:rPr lang="en-US" altLang="zh-CN" sz="2000" dirty="0">
                <a:hlinkClick r:id="rId2"/>
              </a:rPr>
              <a:t>- Neo4j </a:t>
            </a:r>
            <a:r>
              <a:rPr lang="zh-CN" altLang="en-US" sz="2000" dirty="0">
                <a:hlinkClick r:id="rId2"/>
              </a:rPr>
              <a:t>图数据科学 </a:t>
            </a:r>
            <a:r>
              <a:rPr lang="en-US" altLang="zh-CN" sz="2000" dirty="0">
                <a:hlinkClick r:id="rId2"/>
              </a:rPr>
              <a:t>- Neo4j </a:t>
            </a:r>
            <a:r>
              <a:rPr lang="zh-CN" altLang="en-US" sz="2000" dirty="0">
                <a:hlinkClick r:id="rId2"/>
              </a:rPr>
              <a:t>文档</a:t>
            </a:r>
            <a:r>
              <a:rPr lang="zh-CN" altLang="en-US" sz="2000" dirty="0"/>
              <a:t>、电影</a:t>
            </a:r>
            <a:endParaRPr lang="en-US" altLang="zh-CN" sz="2000" dirty="0"/>
          </a:p>
          <a:p>
            <a:pPr eaLnBrk="1" hangingPunct="1">
              <a:lnSpc>
                <a:spcPct val="150000"/>
              </a:lnSpc>
              <a:spcBef>
                <a:spcPts val="0"/>
              </a:spcBef>
              <a:spcAft>
                <a:spcPts val="0"/>
              </a:spcAft>
            </a:pPr>
            <a:r>
              <a:rPr lang="en-US" altLang="zh-CN" sz="2000" dirty="0"/>
              <a:t>Let's recommend new co-actors for Tom Hanks. A basic recommendation approach is to find connections past an immediate neighborhood that are themselves well connected.</a:t>
            </a:r>
          </a:p>
          <a:p>
            <a:pPr eaLnBrk="1" hangingPunct="1">
              <a:lnSpc>
                <a:spcPct val="150000"/>
              </a:lnSpc>
              <a:spcBef>
                <a:spcPts val="0"/>
              </a:spcBef>
              <a:spcAft>
                <a:spcPts val="0"/>
              </a:spcAft>
            </a:pPr>
            <a:r>
              <a:rPr lang="en-US" altLang="zh-CN" sz="2000" dirty="0"/>
              <a:t> MATCH (</a:t>
            </a:r>
            <a:r>
              <a:rPr lang="en-US" altLang="zh-CN" sz="2000" dirty="0" err="1"/>
              <a:t>tom:Person</a:t>
            </a:r>
            <a:r>
              <a:rPr lang="en-US" altLang="zh-CN" sz="2000" dirty="0"/>
              <a:t> {</a:t>
            </a:r>
            <a:r>
              <a:rPr lang="en-US" altLang="zh-CN" sz="2000" dirty="0" err="1"/>
              <a:t>name:"Tom</a:t>
            </a:r>
            <a:r>
              <a:rPr lang="en-US" altLang="zh-CN" sz="2000" dirty="0"/>
              <a:t> Hanks"})-[:ACTED_IN]-&gt;(m)&lt;-[:ACTED_IN]-(</a:t>
            </a:r>
            <a:r>
              <a:rPr lang="en-US" altLang="zh-CN" sz="2000" dirty="0" err="1"/>
              <a:t>coActors</a:t>
            </a:r>
            <a:r>
              <a:rPr lang="en-US" altLang="zh-CN" sz="2000" dirty="0"/>
              <a:t>),    (</a:t>
            </a:r>
            <a:r>
              <a:rPr lang="en-US" altLang="zh-CN" sz="2000" dirty="0" err="1"/>
              <a:t>coActors</a:t>
            </a:r>
            <a:r>
              <a:rPr lang="en-US" altLang="zh-CN" sz="2000" dirty="0"/>
              <a:t>)-[:ACTED_IN]-&gt;(m2)&lt;-[:ACTED_IN]-(</a:t>
            </a:r>
            <a:r>
              <a:rPr lang="en-US" altLang="zh-CN" sz="2000" dirty="0" err="1"/>
              <a:t>cocoActors</a:t>
            </a:r>
            <a:r>
              <a:rPr lang="en-US" altLang="zh-CN" sz="2000" dirty="0"/>
              <a:t>)  WHERE NOT (tom)-[:ACTED_IN]-&gt;()&lt;-[:ACTED_IN]-(</a:t>
            </a:r>
            <a:r>
              <a:rPr lang="en-US" altLang="zh-CN" sz="2000" dirty="0" err="1"/>
              <a:t>cocoActors</a:t>
            </a:r>
            <a:r>
              <a:rPr lang="en-US" altLang="zh-CN" sz="2000" dirty="0"/>
              <a:t>) AND tom &lt;&gt; </a:t>
            </a:r>
            <a:r>
              <a:rPr lang="en-US" altLang="zh-CN" sz="2000" dirty="0" err="1"/>
              <a:t>cocoActors</a:t>
            </a:r>
            <a:r>
              <a:rPr lang="en-US" altLang="zh-CN" sz="2000" dirty="0"/>
              <a:t>  RETURN cocoActors.name AS Recommended, count(*) AS Strength ORDER BY Strength DESC</a:t>
            </a:r>
          </a:p>
        </p:txBody>
      </p:sp>
    </p:spTree>
    <p:extLst>
      <p:ext uri="{BB962C8B-B14F-4D97-AF65-F5344CB8AC3E}">
        <p14:creationId xmlns:p14="http://schemas.microsoft.com/office/powerpoint/2010/main" val="2059221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3">
            <a:extLst>
              <a:ext uri="{FF2B5EF4-FFF2-40B4-BE49-F238E27FC236}">
                <a16:creationId xmlns:a16="http://schemas.microsoft.com/office/drawing/2014/main" id="{8FC42166-8861-4E7C-AAFF-9F3482F01EAC}"/>
              </a:ext>
            </a:extLst>
          </p:cNvPr>
          <p:cNvSpPr txBox="1"/>
          <p:nvPr/>
        </p:nvSpPr>
        <p:spPr>
          <a:xfrm>
            <a:off x="407368" y="2348880"/>
            <a:ext cx="11569700" cy="102421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000" b="1" kern="1200">
                <a:solidFill>
                  <a:schemeClr val="tx1"/>
                </a:solidFill>
                <a:latin typeface="+mj-lt"/>
                <a:ea typeface="+mj-ea"/>
                <a:cs typeface="+mj-cs"/>
              </a:defRPr>
            </a:lvl1pPr>
          </a:lstStyle>
          <a:p>
            <a:pPr lvl="0" algn="ctr">
              <a:lnSpc>
                <a:spcPct val="150000"/>
              </a:lnSpc>
              <a:defRPr/>
            </a:pPr>
            <a:r>
              <a:rPr lang="zh-CN" altLang="en-US" sz="6600" b="1" dirty="0">
                <a:solidFill>
                  <a:schemeClr val="tx2"/>
                </a:solidFill>
                <a:latin typeface="华文新魏" panose="02010800040101010101" pitchFamily="2" charset="-122"/>
                <a:ea typeface="华文新魏" panose="02010800040101010101" pitchFamily="2" charset="-122"/>
              </a:rPr>
              <a:t>谢谢大家！</a:t>
            </a:r>
            <a:endParaRPr lang="en-US" altLang="zh-CN" sz="6600" b="1" dirty="0">
              <a:solidFill>
                <a:schemeClr val="tx2"/>
              </a:solidFill>
              <a:latin typeface="华文新魏" panose="02010800040101010101" pitchFamily="2" charset="-122"/>
              <a:ea typeface="华文新魏" panose="02010800040101010101" pitchFamily="2" charset="-122"/>
            </a:endParaRPr>
          </a:p>
          <a:p>
            <a:pPr lvl="0" algn="ctr">
              <a:lnSpc>
                <a:spcPct val="150000"/>
              </a:lnSpc>
              <a:defRPr/>
            </a:pPr>
            <a:r>
              <a:rPr lang="zh-CN" altLang="en-US" sz="2000" dirty="0">
                <a:solidFill>
                  <a:schemeClr val="tx2"/>
                </a:solidFill>
                <a:latin typeface="华文新魏" panose="02010800040101010101" pitchFamily="2" charset="-122"/>
                <a:ea typeface="华文新魏" panose="02010800040101010101" pitchFamily="2" charset="-122"/>
              </a:rPr>
              <a:t>中央财经大学 信息学院 </a:t>
            </a:r>
            <a:endParaRPr lang="en-US" altLang="zh-CN" sz="2000" dirty="0">
              <a:solidFill>
                <a:schemeClr val="tx2"/>
              </a:solidFill>
              <a:latin typeface="华文新魏" panose="02010800040101010101" pitchFamily="2" charset="-122"/>
              <a:ea typeface="华文新魏" panose="02010800040101010101" pitchFamily="2" charset="-122"/>
            </a:endParaRPr>
          </a:p>
          <a:p>
            <a:pPr lvl="0" algn="ctr">
              <a:lnSpc>
                <a:spcPct val="150000"/>
              </a:lnSpc>
              <a:defRPr/>
            </a:pPr>
            <a:r>
              <a:rPr lang="zh-CN" altLang="en-US" sz="2000" dirty="0">
                <a:solidFill>
                  <a:schemeClr val="tx2"/>
                </a:solidFill>
                <a:latin typeface="华文新魏" panose="02010800040101010101" pitchFamily="2" charset="-122"/>
                <a:ea typeface="华文新魏" panose="02010800040101010101" pitchFamily="2" charset="-122"/>
              </a:rPr>
              <a:t>王卯宁 </a:t>
            </a:r>
            <a:r>
              <a:rPr lang="en-US" altLang="zh-CN" sz="2000" dirty="0">
                <a:solidFill>
                  <a:schemeClr val="tx2"/>
                </a:solidFill>
                <a:latin typeface="华文新魏" panose="02010800040101010101" pitchFamily="2" charset="-122"/>
                <a:ea typeface="华文新魏" panose="02010800040101010101" pitchFamily="2" charset="-122"/>
              </a:rPr>
              <a:t>13854139297@139.com</a:t>
            </a:r>
            <a:endParaRPr lang="zh-CN" altLang="en-US" sz="2000" dirty="0">
              <a:solidFill>
                <a:schemeClr val="tx2"/>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760265896"/>
      </p:ext>
    </p:extLst>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25513</TotalTime>
  <Words>2794</Words>
  <Application>Microsoft Office PowerPoint</Application>
  <PresentationFormat>宽屏</PresentationFormat>
  <Paragraphs>223</Paragraphs>
  <Slides>26</Slides>
  <Notes>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26</vt:i4>
      </vt:variant>
    </vt:vector>
  </HeadingPairs>
  <TitlesOfParts>
    <vt:vector size="41" baseType="lpstr">
      <vt:lpstr>Arial Unicode MS</vt:lpstr>
      <vt:lpstr>等线</vt:lpstr>
      <vt:lpstr>黑体</vt:lpstr>
      <vt:lpstr>黑体</vt:lpstr>
      <vt:lpstr>华文新魏</vt:lpstr>
      <vt:lpstr>楷体_GB2312</vt:lpstr>
      <vt:lpstr>SimSun</vt:lpstr>
      <vt:lpstr>SimSun</vt:lpstr>
      <vt:lpstr>微软雅黑</vt:lpstr>
      <vt:lpstr>微软雅黑</vt:lpstr>
      <vt:lpstr>Arial</vt:lpstr>
      <vt:lpstr>Calibri</vt:lpstr>
      <vt:lpstr>Times New Roman</vt:lpstr>
      <vt:lpstr>Wingdings</vt:lpstr>
      <vt:lpstr>1_Office 主题</vt:lpstr>
      <vt:lpstr>PowerPoint 演示文稿</vt:lpstr>
      <vt:lpstr>实验及作业安排</vt:lpstr>
      <vt:lpstr>作业2</vt:lpstr>
      <vt:lpstr>PowerPoint 演示文稿</vt:lpstr>
      <vt:lpstr>PowerPoint 演示文稿</vt:lpstr>
      <vt:lpstr>图基础</vt:lpstr>
      <vt:lpstr>示例yago</vt:lpstr>
      <vt:lpstr>示例yago</vt:lpstr>
      <vt:lpstr>建模</vt:lpstr>
      <vt:lpstr>数据导入</vt:lpstr>
      <vt:lpstr>数据查询</vt:lpstr>
      <vt:lpstr>数据查询</vt:lpstr>
      <vt:lpstr>Cypher语句增删改查示例——基础查询</vt:lpstr>
      <vt:lpstr>Cypher语句增删改查示例——创建与删除</vt:lpstr>
      <vt:lpstr>Cypher语句增删改查示例——复杂查询</vt:lpstr>
      <vt:lpstr>Cypher语句增删改查示例——复杂查询</vt:lpstr>
      <vt:lpstr>PowerPoint 演示文稿</vt:lpstr>
      <vt:lpstr>路径查找</vt:lpstr>
      <vt:lpstr>路径查找</vt:lpstr>
      <vt:lpstr>图遍历</vt:lpstr>
      <vt:lpstr>图的中心性</vt:lpstr>
      <vt:lpstr>社区检测</vt:lpstr>
      <vt:lpstr>相似度</vt:lpstr>
      <vt:lpstr>节点嵌入</vt:lpstr>
      <vt:lpstr>链接预测</vt:lpstr>
      <vt:lpstr>PowerPoint 演示文稿</vt:lpstr>
    </vt:vector>
  </TitlesOfParts>
  <Company>xd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xd</dc:creator>
  <cp:lastModifiedBy>Admin</cp:lastModifiedBy>
  <cp:revision>2738</cp:revision>
  <cp:lastPrinted>2018-09-03T00:44:24Z</cp:lastPrinted>
  <dcterms:created xsi:type="dcterms:W3CDTF">2014-07-09T14:27:45Z</dcterms:created>
  <dcterms:modified xsi:type="dcterms:W3CDTF">2026-05-08T03:00:09Z</dcterms:modified>
</cp:coreProperties>
</file>